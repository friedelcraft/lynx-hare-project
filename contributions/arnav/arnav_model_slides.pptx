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bb5fd5ca56f457c" /><Relationship Type="http://schemas.openxmlformats.org/officeDocument/2006/relationships/extended-properties" Target="/docProps/app.xml" Id="Rfeba3359108048a0" /><Relationship Type="http://schemas.openxmlformats.org/officeDocument/2006/relationships/officeDocument" Target="/ppt/presentation.xml" Id="R68809d1a0afd4ee8" /></Relationships>
</file>

<file path=ppt/presentation.xml><?xml version="1.0" encoding="utf-8"?>
<p:presentation xmlns:p="http://schemas.openxmlformats.org/presentationml/2006/main">
  <p:sldMasterIdLst>
    <p:sldMasterId xmlns:r="http://schemas.openxmlformats.org/officeDocument/2006/relationships" id="2147483648" r:id="Rd85fb784760f4b4f"/>
  </p:sldMasterIdLst>
  <p:notesMasterIdLst>
    <p:notesMasterId xmlns:r="http://schemas.openxmlformats.org/officeDocument/2006/relationships" r:id="Rcf59de877f334721"/>
  </p:notesMasterIdLst>
  <p:sldIdLst>
    <p:sldId xmlns:r="http://schemas.openxmlformats.org/officeDocument/2006/relationships" id="256" r:id="Rcb3e0fe67e244638"/>
    <p:sldId xmlns:r="http://schemas.openxmlformats.org/officeDocument/2006/relationships" id="257" r:id="Rbce6808c7e23428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41db199422476c" /><Relationship Type="http://schemas.openxmlformats.org/officeDocument/2006/relationships/slideMaster" Target="/ppt/slideMasters/slideMaster1.xml" Id="Rd85fb784760f4b4f" /><Relationship Type="http://schemas.openxmlformats.org/officeDocument/2006/relationships/notesMaster" Target="/ppt/notesMasters/notesMaster1.xml" Id="Rcf59de877f334721" /><Relationship Type="http://schemas.openxmlformats.org/officeDocument/2006/relationships/presProps" Target="/ppt/presProps.xml" Id="Rf44b1422f68e4067" /><Relationship Type="http://schemas.openxmlformats.org/officeDocument/2006/relationships/tableStyles" Target="/ppt/tableStyles.xml" Id="R14138114f51b470e" /><Relationship Type="http://schemas.openxmlformats.org/officeDocument/2006/relationships/slide" Target="/ppt/slides/slide1.xml" Id="Rcb3e0fe67e244638" /><Relationship Type="http://schemas.openxmlformats.org/officeDocument/2006/relationships/slide" Target="/ppt/slides/slide2.xml" Id="Rbce6808c7e23428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4cdf95fe17f4f6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d9d2c21df7d4838" /><Relationship Type="http://schemas.openxmlformats.org/officeDocument/2006/relationships/notesMaster" Target="/ppt/notesMasters/notesMaster1.xml" Id="Rf235fd21b88740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af085669eae4408f" /><Relationship Type="http://schemas.openxmlformats.org/officeDocument/2006/relationships/notesMaster" Target="/ppt/notesMasters/notesMaster1.xml" Id="R4685f17e1f35418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question is whether a predator-prey model can explain the fluctuations and support useful forecasts. The observations are traded pelts, so H and P represent indices in thousands of pelts, rather than measured animal populations. O1 assumes constant proportionality between those indices and animal abundance. We absorb the unknown constants into the effective coefficients and fit no extra observation-scale factors. Annual totals are approximated as point samples with observation error.</a:t>
            </a:r>
          </a:p>
          <a:p xmlns:a="http://schemas.openxmlformats.org/drawingml/2006/main">
            <a:r>
              <a:t/>
            </a:r>
          </a:p>
          <a:p xmlns:a="http://schemas.openxmlformats.org/drawingml/2006/main">
            <a:r>
              <a:t>Lotka-Volterra gives neutral cycles and unlimited predator-free prey growth. We add logistic resource limitation and saturating predation. In aH/(b+H), a is the maximum effective consumption coefficient and b is the hare index at half saturation. Multiplying by P gives prey loss; e converts that loss into predator gain, while mP describes mortality.</a:t>
            </a:r>
          </a:p>
          <a:p xmlns:a="http://schemas.openxmlformats.org/drawingml/2006/main">
            <a:r>
              <a:t/>
            </a:r>
          </a:p>
          <a:p xmlns:a="http://schemas.openxmlformats.org/drawingml/2006/main">
            <a:r>
              <a:t>Sources: https://doi.org/10.4039/Ent91385-7 ; https://doi.org/10.1086/282272 ; https://mc-stan.org/learn-stan/case-studies/lotka-volterra-predator-prey.html ; https://github.com/FriedelCraft/lynx-hare-project/blob/28dbe1e2a611719f3d65e5922db528ae423724f2/docs/advay_observation_convention.md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Scaling time by one over r, hares by K, and lynxes by rK over a gives these dimensionless equations. The notation matches Joel’s analysis. The three groups compare half saturation with carrying capacity, maximum predator growth with prey growth, and mortality with prey growth.</a:t>
            </a:r>
          </a:p>
          <a:p xmlns:a="http://schemas.openxmlformats.org/drawingml/2006/main">
            <a:r>
              <a:t/>
            </a:r>
          </a:p>
          <a:p xmlns:a="http://schemas.openxmlformats.org/drawingml/2006/main">
            <a:r>
              <a:t>K, b, a and e depend on the index units. Constant observation scaling leaves r, m and these groups unchanged, but does not prove that fitted parameters are biologically accurate or well determined. In the completed historical iteration all six coefficients are fitted. The PINN retains fixed training-data normalization, which the report maps to these theory coordinates.</a:t>
            </a:r>
          </a:p>
          <a:p xmlns:a="http://schemas.openxmlformats.org/drawingml/2006/main">
            <a:r>
              <a:t/>
            </a:r>
          </a:p>
          <a:p xmlns:a="http://schemas.openxmlformats.org/drawingml/2006/main">
            <a:r>
              <a:t>Fitting uses 1900 to 1915. Forecasts integrate frozen parameters from 1900, without restarting from a test observation. Separate hare and lynx errors assess the five held-out years. Stability classifications describe the fitted model; they do not establish a stable cycle in the real ecosystem.</a:t>
            </a:r>
          </a:p>
          <a:p xmlns:a="http://schemas.openxmlformats.org/drawingml/2006/main">
            <a:r>
              <a:t/>
            </a:r>
          </a:p>
          <a:p xmlns:a="http://schemas.openxmlformats.org/drawingml/2006/main">
            <a:r>
              <a:t>Sources: contributions/arnav/sections/arnav_model.tex and equations_and_units.md; https://github.com/FriedelCraft/lynx-hare-project/blob/28dbe1e2a611719f3d65e5922db528ae423724f2/report/joel_stability_section.tex ; https://github.com/FriedelCraft/lynx-hare-project/blob/28dbe1e2a611719f3d65e5922db528ae423724f2/configs/historical.json ; https://github.com/FriedelCraft/lynx-hare-project/blob/28dbe1e2a611719f3d65e5922db528ae423724f2/docs/yash_historical_handoff.md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3824e41e0a046a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335c983d35d44d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09bc40b82ac419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a4705a6b8e9d40f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8413624ef314cd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ea8c91a2d5c45b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C26AE2-5A11-4885-9953-2655CD6F333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41F948B-D68C-4F63-8299-6280E109772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5F1CA3B-9EEE-4AA4-A044-3E9B67903C1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9555DA-FA52-48B3-AE9D-65E1A90E03E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B74D5E9-8C33-4E5D-A01E-9B0BBA71F96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32CB73A-F40E-43F3-8E85-4B95D4FE80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782F99-EFC7-4F2D-AC41-94CD4E3A0FB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50ED97B-CDFC-493D-9AD8-BD9EF7C6406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A81E89E-586B-40C4-AEDB-5B67D690143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04B037B-06D6-4DE1-B6DB-0DB0FAFAA6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d970e102da44cec" /><Relationship Type="http://schemas.openxmlformats.org/officeDocument/2006/relationships/slideLayout" Target="/ppt/slideLayouts/slideLayout1.xml" Id="Rb0c687d0ada74831" /><Relationship Type="http://schemas.openxmlformats.org/officeDocument/2006/relationships/slideLayout" Target="/ppt/slideLayouts/slideLayout2.xml" Id="R9899ed036bde4530" /><Relationship Type="http://schemas.openxmlformats.org/officeDocument/2006/relationships/slideLayout" Target="/ppt/slideLayouts/slideLayout3.xml" Id="Rbd205704db5a4b21" /><Relationship Type="http://schemas.openxmlformats.org/officeDocument/2006/relationships/slideLayout" Target="/ppt/slideLayouts/slideLayout4.xml" Id="R9417d368dbf547c6" /><Relationship Type="http://schemas.openxmlformats.org/officeDocument/2006/relationships/slideLayout" Target="/ppt/slideLayouts/slideLayout5.xml" Id="Raf060a2eed7d4e9a" /><Relationship Type="http://schemas.openxmlformats.org/officeDocument/2006/relationships/slideLayout" Target="/ppt/slideLayouts/slideLayout6.xml" Id="Rcb0b8e5c6b4d473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0c687d0ada74831"/>
    <p:sldLayoutId xmlns:r="http://schemas.openxmlformats.org/officeDocument/2006/relationships" id="2147483650" r:id="R9899ed036bde4530"/>
    <p:sldLayoutId xmlns:r="http://schemas.openxmlformats.org/officeDocument/2006/relationships" id="2147483651" r:id="Rbd205704db5a4b21"/>
    <p:sldLayoutId xmlns:r="http://schemas.openxmlformats.org/officeDocument/2006/relationships" id="2147483652" r:id="R9417d368dbf547c6"/>
    <p:sldLayoutId xmlns:r="http://schemas.openxmlformats.org/officeDocument/2006/relationships" id="2147483653" r:id="Raf060a2eed7d4e9a"/>
    <p:sldLayoutId xmlns:r="http://schemas.openxmlformats.org/officeDocument/2006/relationships" id="2147483654" r:id="Rcb0b8e5c6b4d473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a40632b18754cad" /><Relationship Type="http://schemas.openxmlformats.org/officeDocument/2006/relationships/notesSlide" Target="/ppt/notesSlides/notesSlide1.xml" Id="R122f786344e34b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3f54c6a8fbf4630" /><Relationship Type="http://schemas.openxmlformats.org/officeDocument/2006/relationships/notesSlide" Target="/ppt/notesSlides/notesSlide2.xml" Id="R6b031f8921f249b1" /></Relationships>
</file>

<file path=ppt/slides/slide1.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B0E3502F-B091-475F-B5BD-091C0E93DE0C}"/>
              </a:ext>
            </a:extLst>
          </p:cNvPr>
          <p:cNvSpPr>
            <a:spLocks xmlns:a="http://schemas.openxmlformats.org/drawingml/2006/main" noGrp="1"/>
          </p:cNvSpPr>
          <p:nvPr/>
        </p:nvSpPr>
        <p:spPr>
          <a:xfrm xmlns:a="http://schemas.openxmlformats.org/drawingml/2006/main">
            <a:off x="647700" y="49530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42"/>
                </a:solidFill>
              </a:defRPr>
            </a:defPPr>
            <a:lvl1pPr>
              <a:defRPr sz="3300" b="1">
                <a:solidFill>
                  <a:srgbClr val="123E42"/>
                </a:solidFill>
              </a:defRPr>
            </a:lvl1pPr>
            <a:lvl2pPr>
              <a:defRPr sz="3300" b="1">
                <a:solidFill>
                  <a:srgbClr val="123E42"/>
                </a:solidFill>
              </a:defRPr>
            </a:lvl2pPr>
            <a:lvl3pPr>
              <a:defRPr sz="3300" b="1">
                <a:solidFill>
                  <a:srgbClr val="123E42"/>
                </a:solidFill>
              </a:defRPr>
            </a:lvl3pPr>
            <a:lvl4pPr>
              <a:defRPr sz="3300" b="1">
                <a:solidFill>
                  <a:srgbClr val="123E42"/>
                </a:solidFill>
              </a:defRPr>
            </a:lvl4pPr>
            <a:lvl5pPr>
              <a:defRPr sz="3300" b="1">
                <a:solidFill>
                  <a:srgbClr val="123E42"/>
                </a:solidFill>
              </a:defRPr>
            </a:lvl5pPr>
            <a:lvl6pPr>
              <a:defRPr sz="3300" b="1">
                <a:solidFill>
                  <a:srgbClr val="123E42"/>
                </a:solidFill>
              </a:defRPr>
            </a:lvl6pPr>
            <a:lvl7pPr>
              <a:defRPr sz="3300" b="1">
                <a:solidFill>
                  <a:srgbClr val="123E42"/>
                </a:solidFill>
              </a:defRPr>
            </a:lvl7pPr>
            <a:lvl8pPr>
              <a:defRPr sz="3300" b="1">
                <a:solidFill>
                  <a:srgbClr val="123E42"/>
                </a:solidFill>
              </a:defRPr>
            </a:lvl8pPr>
            <a:lvl9pPr>
              <a:defRPr sz="3300" b="1">
                <a:solidFill>
                  <a:srgbClr val="123E42"/>
                </a:solidFill>
              </a:defRPr>
            </a:lvl9pPr>
          </a:lstStyle>
          <a:p xmlns:a="http://schemas.openxmlformats.org/drawingml/2006/main">
            <a:pPr>
              <a:defRPr sz="3300" b="1">
                <a:solidFill>
                  <a:srgbClr val="123E42"/>
                </a:solidFill>
              </a:defRPr>
            </a:pPr>
            <a:r>
              <a:rPr sz="3300" b="1">
                <a:solidFill>
                  <a:srgbClr val="123E42"/>
                </a:solidFill>
              </a:rPr>
              <a:t>Model and pelt observations</a:t>
            </a:r>
          </a:p>
        </p:txBody>
      </p:sp>
      <p:sp>
        <p:nvSpPr>
          <p:cNvPr id="3" name="hare-equation">
            <a:extLst xmlns:a="http://schemas.openxmlformats.org/drawingml/2006/main">
              <a:ext uri="{FF2B5EF4-FFF2-40B4-BE49-F238E27FC236}">
                <a16:creationId xmlns:a16="http://schemas.microsoft.com/office/drawing/2014/main" id="{EA3BB01B-C223-40C1-84AD-29CCC51EC064}"/>
              </a:ext>
            </a:extLst>
          </p:cNvPr>
          <p:cNvSpPr>
            <a:spLocks xmlns:a="http://schemas.openxmlformats.org/drawingml/2006/main" noGrp="1"/>
          </p:cNvSpPr>
          <p:nvPr/>
        </p:nvSpPr>
        <p:spPr>
          <a:xfrm xmlns:a="http://schemas.openxmlformats.org/drawingml/2006/main">
            <a:off x="647700" y="13811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2A35"/>
                </a:solidFill>
              </a:defRPr>
            </a:defPPr>
            <a:lvl1pPr>
              <a:defRPr sz="2700" b="0">
                <a:solidFill>
                  <a:srgbClr val="172A35"/>
                </a:solidFill>
              </a:defRPr>
            </a:lvl1pPr>
            <a:lvl2pPr>
              <a:defRPr sz="2700" b="0">
                <a:solidFill>
                  <a:srgbClr val="172A35"/>
                </a:solidFill>
              </a:defRPr>
            </a:lvl2pPr>
            <a:lvl3pPr>
              <a:defRPr sz="2700" b="0">
                <a:solidFill>
                  <a:srgbClr val="172A35"/>
                </a:solidFill>
              </a:defRPr>
            </a:lvl3pPr>
            <a:lvl4pPr>
              <a:defRPr sz="2700" b="0">
                <a:solidFill>
                  <a:srgbClr val="172A35"/>
                </a:solidFill>
              </a:defRPr>
            </a:lvl4pPr>
            <a:lvl5pPr>
              <a:defRPr sz="2700" b="0">
                <a:solidFill>
                  <a:srgbClr val="172A35"/>
                </a:solidFill>
              </a:defRPr>
            </a:lvl5pPr>
            <a:lvl6pPr>
              <a:defRPr sz="2700" b="0">
                <a:solidFill>
                  <a:srgbClr val="172A35"/>
                </a:solidFill>
              </a:defRPr>
            </a:lvl6pPr>
            <a:lvl7pPr>
              <a:defRPr sz="2700" b="0">
                <a:solidFill>
                  <a:srgbClr val="172A35"/>
                </a:solidFill>
              </a:defRPr>
            </a:lvl7pPr>
            <a:lvl8pPr>
              <a:defRPr sz="2700" b="0">
                <a:solidFill>
                  <a:srgbClr val="172A35"/>
                </a:solidFill>
              </a:defRPr>
            </a:lvl8pPr>
            <a:lvl9pPr>
              <a:defRPr sz="2700" b="0">
                <a:solidFill>
                  <a:srgbClr val="172A35"/>
                </a:solidFill>
              </a:defRPr>
            </a:lvl9pPr>
          </a:lstStyle>
          <a:p xmlns:a="http://schemas.openxmlformats.org/drawingml/2006/main">
            <a:pPr>
              <a:defRPr sz="2700" b="0">
                <a:solidFill>
                  <a:srgbClr val="172A35"/>
                </a:solidFill>
              </a:defRPr>
            </a:pPr>
            <a:r>
              <a:rPr sz="2700" b="0">
                <a:solidFill>
                  <a:srgbClr val="172A35"/>
                </a:solidFill>
              </a:rPr>
              <a:t>dH/dt = rH(1 − H/K) − aHP/(b + H)</a:t>
            </a:r>
          </a:p>
        </p:txBody>
      </p:sp>
      <p:sp>
        <p:nvSpPr>
          <p:cNvPr id="4" name="lynx-equation">
            <a:extLst xmlns:a="http://schemas.openxmlformats.org/drawingml/2006/main">
              <a:ext uri="{FF2B5EF4-FFF2-40B4-BE49-F238E27FC236}">
                <a16:creationId xmlns:a16="http://schemas.microsoft.com/office/drawing/2014/main" id="{270C5A44-9336-4DF1-84D9-72CF0ECA4674}"/>
              </a:ext>
            </a:extLst>
          </p:cNvPr>
          <p:cNvSpPr>
            <a:spLocks xmlns:a="http://schemas.openxmlformats.org/drawingml/2006/main" noGrp="1"/>
          </p:cNvSpPr>
          <p:nvPr/>
        </p:nvSpPr>
        <p:spPr>
          <a:xfrm xmlns:a="http://schemas.openxmlformats.org/drawingml/2006/main">
            <a:off x="647700" y="2028825"/>
            <a:ext cx="108966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2A35"/>
                </a:solidFill>
              </a:defRPr>
            </a:defPPr>
            <a:lvl1pPr>
              <a:defRPr sz="2700" b="0">
                <a:solidFill>
                  <a:srgbClr val="172A35"/>
                </a:solidFill>
              </a:defRPr>
            </a:lvl1pPr>
            <a:lvl2pPr>
              <a:defRPr sz="2700" b="0">
                <a:solidFill>
                  <a:srgbClr val="172A35"/>
                </a:solidFill>
              </a:defRPr>
            </a:lvl2pPr>
            <a:lvl3pPr>
              <a:defRPr sz="2700" b="0">
                <a:solidFill>
                  <a:srgbClr val="172A35"/>
                </a:solidFill>
              </a:defRPr>
            </a:lvl3pPr>
            <a:lvl4pPr>
              <a:defRPr sz="2700" b="0">
                <a:solidFill>
                  <a:srgbClr val="172A35"/>
                </a:solidFill>
              </a:defRPr>
            </a:lvl4pPr>
            <a:lvl5pPr>
              <a:defRPr sz="2700" b="0">
                <a:solidFill>
                  <a:srgbClr val="172A35"/>
                </a:solidFill>
              </a:defRPr>
            </a:lvl5pPr>
            <a:lvl6pPr>
              <a:defRPr sz="2700" b="0">
                <a:solidFill>
                  <a:srgbClr val="172A35"/>
                </a:solidFill>
              </a:defRPr>
            </a:lvl6pPr>
            <a:lvl7pPr>
              <a:defRPr sz="2700" b="0">
                <a:solidFill>
                  <a:srgbClr val="172A35"/>
                </a:solidFill>
              </a:defRPr>
            </a:lvl7pPr>
            <a:lvl8pPr>
              <a:defRPr sz="2700" b="0">
                <a:solidFill>
                  <a:srgbClr val="172A35"/>
                </a:solidFill>
              </a:defRPr>
            </a:lvl8pPr>
            <a:lvl9pPr>
              <a:defRPr sz="2700" b="0">
                <a:solidFill>
                  <a:srgbClr val="172A35"/>
                </a:solidFill>
              </a:defRPr>
            </a:lvl9pPr>
          </a:lstStyle>
          <a:p xmlns:a="http://schemas.openxmlformats.org/drawingml/2006/main">
            <a:pPr>
              <a:defRPr sz="2700" b="0">
                <a:solidFill>
                  <a:srgbClr val="172A35"/>
                </a:solidFill>
              </a:defRPr>
            </a:pPr>
            <a:r>
              <a:rPr sz="2700" b="0">
                <a:solidFill>
                  <a:srgbClr val="172A35"/>
                </a:solidFill>
              </a:rPr>
              <a:t>dP/dt = eaHP/(b + H) − mP</a:t>
            </a:r>
          </a:p>
        </p:txBody>
      </p:sp>
      <p:sp>
        <p:nvSpPr>
          <p:cNvPr id="5" name="mechanisms">
            <a:extLst xmlns:a="http://schemas.openxmlformats.org/drawingml/2006/main">
              <a:ext uri="{FF2B5EF4-FFF2-40B4-BE49-F238E27FC236}">
                <a16:creationId xmlns:a16="http://schemas.microsoft.com/office/drawing/2014/main" id="{7C83D0E4-A65A-4B03-8B58-98225DA82E7D}"/>
              </a:ext>
            </a:extLst>
          </p:cNvPr>
          <p:cNvSpPr>
            <a:spLocks xmlns:a="http://schemas.openxmlformats.org/drawingml/2006/main" noGrp="1"/>
          </p:cNvSpPr>
          <p:nvPr/>
        </p:nvSpPr>
        <p:spPr>
          <a:xfrm xmlns:a="http://schemas.openxmlformats.org/drawingml/2006/main">
            <a:off x="647700" y="27432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3B"/>
                </a:solidFill>
              </a:defRPr>
            </a:defPPr>
            <a:lvl1pPr>
              <a:defRPr sz="1950" b="0">
                <a:solidFill>
                  <a:srgbClr val="19343B"/>
                </a:solidFill>
              </a:defRPr>
            </a:lvl1pPr>
            <a:lvl2pPr>
              <a:defRPr sz="1950" b="0">
                <a:solidFill>
                  <a:srgbClr val="19343B"/>
                </a:solidFill>
              </a:defRPr>
            </a:lvl2pPr>
            <a:lvl3pPr>
              <a:defRPr sz="1950" b="0">
                <a:solidFill>
                  <a:srgbClr val="19343B"/>
                </a:solidFill>
              </a:defRPr>
            </a:lvl3pPr>
            <a:lvl4pPr>
              <a:defRPr sz="1950" b="0">
                <a:solidFill>
                  <a:srgbClr val="19343B"/>
                </a:solidFill>
              </a:defRPr>
            </a:lvl4pPr>
            <a:lvl5pPr>
              <a:defRPr sz="1950" b="0">
                <a:solidFill>
                  <a:srgbClr val="19343B"/>
                </a:solidFill>
              </a:defRPr>
            </a:lvl5pPr>
            <a:lvl6pPr>
              <a:defRPr sz="1950" b="0">
                <a:solidFill>
                  <a:srgbClr val="19343B"/>
                </a:solidFill>
              </a:defRPr>
            </a:lvl6pPr>
            <a:lvl7pPr>
              <a:defRPr sz="1950" b="0">
                <a:solidFill>
                  <a:srgbClr val="19343B"/>
                </a:solidFill>
              </a:defRPr>
            </a:lvl7pPr>
            <a:lvl8pPr>
              <a:defRPr sz="1950" b="0">
                <a:solidFill>
                  <a:srgbClr val="19343B"/>
                </a:solidFill>
              </a:defRPr>
            </a:lvl8pPr>
            <a:lvl9pPr>
              <a:defRPr sz="1950" b="0">
                <a:solidFill>
                  <a:srgbClr val="19343B"/>
                </a:solidFill>
              </a:defRPr>
            </a:lvl9pPr>
          </a:lstStyle>
          <a:p xmlns:a="http://schemas.openxmlformats.org/drawingml/2006/main">
            <a:pPr>
              <a:defRPr sz="1950" b="0">
                <a:solidFill>
                  <a:srgbClr val="19343B"/>
                </a:solidFill>
              </a:defRPr>
            </a:pPr>
            <a:r>
              <a:rPr sz="1950" b="0">
                <a:solidFill>
                  <a:srgbClr val="19343B"/>
                </a:solidFill>
              </a:rPr>
              <a:t>Logistic prey growth; predation saturates as H increases.</a:t>
            </a:r>
          </a:p>
        </p:txBody>
      </p:sp>
      <p:sp>
        <p:nvSpPr>
          <p:cNvPr id="6" name="observations">
            <a:extLst xmlns:a="http://schemas.openxmlformats.org/drawingml/2006/main">
              <a:ext uri="{FF2B5EF4-FFF2-40B4-BE49-F238E27FC236}">
                <a16:creationId xmlns:a16="http://schemas.microsoft.com/office/drawing/2014/main" id="{B88999D0-38EA-4E1A-99EB-5E1DFA8DE09E}"/>
              </a:ext>
            </a:extLst>
          </p:cNvPr>
          <p:cNvSpPr>
            <a:spLocks xmlns:a="http://schemas.openxmlformats.org/drawingml/2006/main" noGrp="1"/>
          </p:cNvSpPr>
          <p:nvPr/>
        </p:nvSpPr>
        <p:spPr>
          <a:xfrm xmlns:a="http://schemas.openxmlformats.org/drawingml/2006/main">
            <a:off x="647700" y="352425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23E42"/>
                </a:solidFill>
              </a:defRPr>
            </a:defPPr>
            <a:lvl1pPr>
              <a:defRPr sz="2100" b="0">
                <a:solidFill>
                  <a:srgbClr val="123E42"/>
                </a:solidFill>
              </a:defRPr>
            </a:lvl1pPr>
            <a:lvl2pPr>
              <a:defRPr sz="2100" b="0">
                <a:solidFill>
                  <a:srgbClr val="123E42"/>
                </a:solidFill>
              </a:defRPr>
            </a:lvl2pPr>
            <a:lvl3pPr>
              <a:defRPr sz="2100" b="0">
                <a:solidFill>
                  <a:srgbClr val="123E42"/>
                </a:solidFill>
              </a:defRPr>
            </a:lvl3pPr>
            <a:lvl4pPr>
              <a:defRPr sz="2100" b="0">
                <a:solidFill>
                  <a:srgbClr val="123E42"/>
                </a:solidFill>
              </a:defRPr>
            </a:lvl4pPr>
            <a:lvl5pPr>
              <a:defRPr sz="2100" b="0">
                <a:solidFill>
                  <a:srgbClr val="123E42"/>
                </a:solidFill>
              </a:defRPr>
            </a:lvl5pPr>
            <a:lvl6pPr>
              <a:defRPr sz="2100" b="0">
                <a:solidFill>
                  <a:srgbClr val="123E42"/>
                </a:solidFill>
              </a:defRPr>
            </a:lvl6pPr>
            <a:lvl7pPr>
              <a:defRPr sz="2100" b="0">
                <a:solidFill>
                  <a:srgbClr val="123E42"/>
                </a:solidFill>
              </a:defRPr>
            </a:lvl7pPr>
            <a:lvl8pPr>
              <a:defRPr sz="2100" b="0">
                <a:solidFill>
                  <a:srgbClr val="123E42"/>
                </a:solidFill>
              </a:defRPr>
            </a:lvl8pPr>
            <a:lvl9pPr>
              <a:defRPr sz="2100" b="0">
                <a:solidFill>
                  <a:srgbClr val="123E42"/>
                </a:solidFill>
              </a:defRPr>
            </a:lvl9pPr>
          </a:lstStyle>
          <a:p xmlns:a="http://schemas.openxmlformats.org/drawingml/2006/main">
            <a:pPr>
              <a:defRPr sz="2100" b="0">
                <a:solidFill>
                  <a:srgbClr val="123E42"/>
                </a:solidFill>
              </a:defRPr>
            </a:pPr>
            <a:r>
              <a:rPr sz="2100" b="0">
                <a:solidFill>
                  <a:srgbClr val="123E42"/>
                </a:solidFill>
              </a:rPr>
              <a:t>Observed hare = H(t) + error     Observed lynx = P(t) + error</a:t>
            </a:r>
          </a:p>
        </p:txBody>
      </p:sp>
      <p:sp>
        <p:nvSpPr>
          <p:cNvPr id="7" name="units">
            <a:extLst xmlns:a="http://schemas.openxmlformats.org/drawingml/2006/main">
              <a:ext uri="{FF2B5EF4-FFF2-40B4-BE49-F238E27FC236}">
                <a16:creationId xmlns:a16="http://schemas.microsoft.com/office/drawing/2014/main" id="{2ABB00EA-B302-43F1-B277-EEFEBCD9EE0E}"/>
              </a:ext>
            </a:extLst>
          </p:cNvPr>
          <p:cNvSpPr>
            <a:spLocks xmlns:a="http://schemas.openxmlformats.org/drawingml/2006/main" noGrp="1"/>
          </p:cNvSpPr>
          <p:nvPr/>
        </p:nvSpPr>
        <p:spPr>
          <a:xfrm xmlns:a="http://schemas.openxmlformats.org/drawingml/2006/main">
            <a:off x="647700" y="426720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00" b="0">
                <a:solidFill>
                  <a:srgbClr val="19343B"/>
                </a:solidFill>
              </a:defRPr>
            </a:defPPr>
            <a:lvl1pPr>
              <a:defRPr sz="2100" b="0">
                <a:solidFill>
                  <a:srgbClr val="19343B"/>
                </a:solidFill>
              </a:defRPr>
            </a:lvl1pPr>
            <a:lvl2pPr>
              <a:defRPr sz="2100" b="0">
                <a:solidFill>
                  <a:srgbClr val="19343B"/>
                </a:solidFill>
              </a:defRPr>
            </a:lvl2pPr>
            <a:lvl3pPr>
              <a:defRPr sz="2100" b="0">
                <a:solidFill>
                  <a:srgbClr val="19343B"/>
                </a:solidFill>
              </a:defRPr>
            </a:lvl3pPr>
            <a:lvl4pPr>
              <a:defRPr sz="2100" b="0">
                <a:solidFill>
                  <a:srgbClr val="19343B"/>
                </a:solidFill>
              </a:defRPr>
            </a:lvl4pPr>
            <a:lvl5pPr>
              <a:defRPr sz="2100" b="0">
                <a:solidFill>
                  <a:srgbClr val="19343B"/>
                </a:solidFill>
              </a:defRPr>
            </a:lvl5pPr>
            <a:lvl6pPr>
              <a:defRPr sz="2100" b="0">
                <a:solidFill>
                  <a:srgbClr val="19343B"/>
                </a:solidFill>
              </a:defRPr>
            </a:lvl6pPr>
            <a:lvl7pPr>
              <a:defRPr sz="2100" b="0">
                <a:solidFill>
                  <a:srgbClr val="19343B"/>
                </a:solidFill>
              </a:defRPr>
            </a:lvl7pPr>
            <a:lvl8pPr>
              <a:defRPr sz="2100" b="0">
                <a:solidFill>
                  <a:srgbClr val="19343B"/>
                </a:solidFill>
              </a:defRPr>
            </a:lvl8pPr>
            <a:lvl9pPr>
              <a:defRPr sz="2100" b="0">
                <a:solidFill>
                  <a:srgbClr val="19343B"/>
                </a:solidFill>
              </a:defRPr>
            </a:lvl9pPr>
          </a:lstStyle>
          <a:p xmlns:a="http://schemas.openxmlformats.org/drawingml/2006/main">
            <a:pPr>
              <a:defRPr sz="2100" b="0">
                <a:solidFill>
                  <a:srgbClr val="19343B"/>
                </a:solidFill>
              </a:defRPr>
            </a:pPr>
            <a:r>
              <a:rPr sz="2100" b="0">
                <a:solidFill>
                  <a:srgbClr val="19343B"/>
                </a:solidFill>
              </a:rPr>
              <a:t>H and P: thousands of pelts. Time: years since 1900.</a:t>
            </a:r>
          </a:p>
        </p:txBody>
      </p:sp>
      <p:sp>
        <p:nvSpPr>
          <p:cNvPr id="8" name="assumption">
            <a:extLst xmlns:a="http://schemas.openxmlformats.org/drawingml/2006/main">
              <a:ext uri="{FF2B5EF4-FFF2-40B4-BE49-F238E27FC236}">
                <a16:creationId xmlns:a16="http://schemas.microsoft.com/office/drawing/2014/main" id="{FC6AF6FA-B91B-4A42-BE33-BDEF84A4B88B}"/>
              </a:ext>
            </a:extLst>
          </p:cNvPr>
          <p:cNvSpPr>
            <a:spLocks xmlns:a="http://schemas.openxmlformats.org/drawingml/2006/main" noGrp="1"/>
          </p:cNvSpPr>
          <p:nvPr/>
        </p:nvSpPr>
        <p:spPr>
          <a:xfrm xmlns:a="http://schemas.openxmlformats.org/drawingml/2006/main">
            <a:off x="647700" y="4857750"/>
            <a:ext cx="108966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3B"/>
                </a:solidFill>
              </a:defRPr>
            </a:defPPr>
            <a:lvl1pPr>
              <a:defRPr sz="1950" b="0">
                <a:solidFill>
                  <a:srgbClr val="19343B"/>
                </a:solidFill>
              </a:defRPr>
            </a:lvl1pPr>
            <a:lvl2pPr>
              <a:defRPr sz="1950" b="0">
                <a:solidFill>
                  <a:srgbClr val="19343B"/>
                </a:solidFill>
              </a:defRPr>
            </a:lvl2pPr>
            <a:lvl3pPr>
              <a:defRPr sz="1950" b="0">
                <a:solidFill>
                  <a:srgbClr val="19343B"/>
                </a:solidFill>
              </a:defRPr>
            </a:lvl3pPr>
            <a:lvl4pPr>
              <a:defRPr sz="1950" b="0">
                <a:solidFill>
                  <a:srgbClr val="19343B"/>
                </a:solidFill>
              </a:defRPr>
            </a:lvl4pPr>
            <a:lvl5pPr>
              <a:defRPr sz="1950" b="0">
                <a:solidFill>
                  <a:srgbClr val="19343B"/>
                </a:solidFill>
              </a:defRPr>
            </a:lvl5pPr>
            <a:lvl6pPr>
              <a:defRPr sz="1950" b="0">
                <a:solidFill>
                  <a:srgbClr val="19343B"/>
                </a:solidFill>
              </a:defRPr>
            </a:lvl6pPr>
            <a:lvl7pPr>
              <a:defRPr sz="1950" b="0">
                <a:solidFill>
                  <a:srgbClr val="19343B"/>
                </a:solidFill>
              </a:defRPr>
            </a:lvl7pPr>
            <a:lvl8pPr>
              <a:defRPr sz="1950" b="0">
                <a:solidFill>
                  <a:srgbClr val="19343B"/>
                </a:solidFill>
              </a:defRPr>
            </a:lvl8pPr>
            <a:lvl9pPr>
              <a:defRPr sz="1950" b="0">
                <a:solidFill>
                  <a:srgbClr val="19343B"/>
                </a:solidFill>
              </a:defRPr>
            </a:lvl9pPr>
          </a:lstStyle>
          <a:p xmlns:a="http://schemas.openxmlformats.org/drawingml/2006/main">
            <a:pPr>
              <a:defRPr sz="1950" b="0">
                <a:solidFill>
                  <a:srgbClr val="19343B"/>
                </a:solidFill>
              </a:defRPr>
            </a:pPr>
            <a:r>
              <a:rPr sz="1950" b="0">
                <a:solidFill>
                  <a:srgbClr val="19343B"/>
                </a:solidFill>
              </a:rPr>
              <a:t>O1 assumes constant proportionality to abundance.</a:t>
            </a:r>
          </a:p>
          <a:p xmlns:a="http://schemas.openxmlformats.org/drawingml/2006/main">
            <a:pPr>
              <a:defRPr sz="1950" b="0">
                <a:solidFill>
                  <a:srgbClr val="19343B"/>
                </a:solidFill>
              </a:defRPr>
            </a:pPr>
            <a:r>
              <a:rPr sz="1950" b="0">
                <a:solidFill>
                  <a:srgbClr val="19343B"/>
                </a:solidFill>
              </a:rPr>
              <a:t>We fit no observation-scale factors; annual totals act as point samples.</a:t>
            </a:r>
          </a:p>
        </p:txBody>
      </p:sp>
      <p:sp>
        <p:nvSpPr>
          <p:cNvPr id="9" name="source">
            <a:extLst xmlns:a="http://schemas.openxmlformats.org/drawingml/2006/main">
              <a:ext uri="{FF2B5EF4-FFF2-40B4-BE49-F238E27FC236}">
                <a16:creationId xmlns:a16="http://schemas.microsoft.com/office/drawing/2014/main" id="{55C254E4-D172-4669-9718-AC2DA50D0669}"/>
              </a:ext>
            </a:extLst>
          </p:cNvPr>
          <p:cNvSpPr>
            <a:spLocks xmlns:a="http://schemas.openxmlformats.org/drawingml/2006/main" noGrp="1"/>
          </p:cNvSpPr>
          <p:nvPr/>
        </p:nvSpPr>
        <p:spPr>
          <a:xfrm xmlns:a="http://schemas.openxmlformats.org/drawingml/2006/main">
            <a:off x="647700" y="622935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64"/>
                </a:solidFill>
              </a:defRPr>
            </a:defPPr>
            <a:lvl1pPr>
              <a:defRPr sz="1200" b="0">
                <a:solidFill>
                  <a:srgbClr val="526264"/>
                </a:solidFill>
              </a:defRPr>
            </a:lvl1pPr>
            <a:lvl2pPr>
              <a:defRPr sz="1200" b="0">
                <a:solidFill>
                  <a:srgbClr val="526264"/>
                </a:solidFill>
              </a:defRPr>
            </a:lvl2pPr>
            <a:lvl3pPr>
              <a:defRPr sz="1200" b="0">
                <a:solidFill>
                  <a:srgbClr val="526264"/>
                </a:solidFill>
              </a:defRPr>
            </a:lvl3pPr>
            <a:lvl4pPr>
              <a:defRPr sz="1200" b="0">
                <a:solidFill>
                  <a:srgbClr val="526264"/>
                </a:solidFill>
              </a:defRPr>
            </a:lvl4pPr>
            <a:lvl5pPr>
              <a:defRPr sz="1200" b="0">
                <a:solidFill>
                  <a:srgbClr val="526264"/>
                </a:solidFill>
              </a:defRPr>
            </a:lvl5pPr>
            <a:lvl6pPr>
              <a:defRPr sz="1200" b="0">
                <a:solidFill>
                  <a:srgbClr val="526264"/>
                </a:solidFill>
              </a:defRPr>
            </a:lvl6pPr>
            <a:lvl7pPr>
              <a:defRPr sz="1200" b="0">
                <a:solidFill>
                  <a:srgbClr val="526264"/>
                </a:solidFill>
              </a:defRPr>
            </a:lvl7pPr>
            <a:lvl8pPr>
              <a:defRPr sz="1200" b="0">
                <a:solidFill>
                  <a:srgbClr val="526264"/>
                </a:solidFill>
              </a:defRPr>
            </a:lvl8pPr>
            <a:lvl9pPr>
              <a:defRPr sz="1200" b="0">
                <a:solidFill>
                  <a:srgbClr val="526264"/>
                </a:solidFill>
              </a:defRPr>
            </a:lvl9pPr>
          </a:lstStyle>
          <a:p xmlns:a="http://schemas.openxmlformats.org/drawingml/2006/main">
            <a:pPr>
              <a:defRPr sz="1200" b="0">
                <a:solidFill>
                  <a:srgbClr val="526264"/>
                </a:solidFill>
              </a:defRPr>
            </a:pPr>
            <a:r>
              <a:rPr sz="1200" b="0">
                <a:solidFill>
                  <a:srgbClr val="526264"/>
                </a:solidFill>
              </a:rPr>
              <a:t>Sources: Holling (1959); Rosenzweig &amp; MacArthur (1963); Carpenter (2018); team observation convention.</a:t>
            </a:r>
          </a:p>
        </p:txBody>
      </p:sp>
    </p:spTree>
    <p:extLst>
      <p:ext uri="{BB962C8B-B14F-4D97-AF65-F5344CB8AC3E}">
        <p14:creationId xmlns:p14="http://schemas.microsoft.com/office/powerpoint/2010/main" val="429207000"/>
      </p:ext>
    </p:extLst>
  </p:cSld>
</p:sld>
</file>

<file path=ppt/slides/slide2.xml><?xml version="1.0" encoding="utf-8"?>
<p:sld xmlns:p="http://schemas.openxmlformats.org/presentationml/2006/main">
  <p:cSld>
    <p:bg>
      <p:bgPr>
        <a:solidFill xmlns:a="http://schemas.openxmlformats.org/drawingml/2006/main">
          <a:srgbClr val="F8F8F3"/>
        </a:solidFill>
      </p:bgPr>
    </p:bg>
    <p:spTree>
      <p:nvGrpSpPr>
        <p:cNvPr id="1" name=""/>
        <p:cNvGrpSpPr/>
        <p:nvPr/>
      </p:nvGrpSpPr>
      <p:grpSpPr>
        <a:xfrm xmlns:a="http://schemas.openxmlformats.org/drawingml/2006/main"/>
      </p:grpSpPr>
      <p:sp>
        <p:nvSpPr>
          <p:cNvPr id="2" name="title">
            <a:extLst xmlns:a="http://schemas.openxmlformats.org/drawingml/2006/main">
              <a:ext uri="{FF2B5EF4-FFF2-40B4-BE49-F238E27FC236}">
                <a16:creationId xmlns:a16="http://schemas.microsoft.com/office/drawing/2014/main" id="{9A2622E9-356B-4013-AEB6-54AFD5CA2453}"/>
              </a:ext>
            </a:extLst>
          </p:cNvPr>
          <p:cNvSpPr>
            <a:spLocks xmlns:a="http://schemas.openxmlformats.org/drawingml/2006/main" noGrp="1"/>
          </p:cNvSpPr>
          <p:nvPr/>
        </p:nvSpPr>
        <p:spPr>
          <a:xfrm xmlns:a="http://schemas.openxmlformats.org/drawingml/2006/main">
            <a:off x="647700" y="495300"/>
            <a:ext cx="108966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300" b="1">
                <a:solidFill>
                  <a:srgbClr val="123E42"/>
                </a:solidFill>
              </a:defRPr>
            </a:defPPr>
            <a:lvl1pPr>
              <a:defRPr sz="3300" b="1">
                <a:solidFill>
                  <a:srgbClr val="123E42"/>
                </a:solidFill>
              </a:defRPr>
            </a:lvl1pPr>
            <a:lvl2pPr>
              <a:defRPr sz="3300" b="1">
                <a:solidFill>
                  <a:srgbClr val="123E42"/>
                </a:solidFill>
              </a:defRPr>
            </a:lvl2pPr>
            <a:lvl3pPr>
              <a:defRPr sz="3300" b="1">
                <a:solidFill>
                  <a:srgbClr val="123E42"/>
                </a:solidFill>
              </a:defRPr>
            </a:lvl3pPr>
            <a:lvl4pPr>
              <a:defRPr sz="3300" b="1">
                <a:solidFill>
                  <a:srgbClr val="123E42"/>
                </a:solidFill>
              </a:defRPr>
            </a:lvl4pPr>
            <a:lvl5pPr>
              <a:defRPr sz="3300" b="1">
                <a:solidFill>
                  <a:srgbClr val="123E42"/>
                </a:solidFill>
              </a:defRPr>
            </a:lvl5pPr>
            <a:lvl6pPr>
              <a:defRPr sz="3300" b="1">
                <a:solidFill>
                  <a:srgbClr val="123E42"/>
                </a:solidFill>
              </a:defRPr>
            </a:lvl6pPr>
            <a:lvl7pPr>
              <a:defRPr sz="3300" b="1">
                <a:solidFill>
                  <a:srgbClr val="123E42"/>
                </a:solidFill>
              </a:defRPr>
            </a:lvl7pPr>
            <a:lvl8pPr>
              <a:defRPr sz="3300" b="1">
                <a:solidFill>
                  <a:srgbClr val="123E42"/>
                </a:solidFill>
              </a:defRPr>
            </a:lvl8pPr>
            <a:lvl9pPr>
              <a:defRPr sz="3300" b="1">
                <a:solidFill>
                  <a:srgbClr val="123E42"/>
                </a:solidFill>
              </a:defRPr>
            </a:lvl9pPr>
          </a:lstStyle>
          <a:p xmlns:a="http://schemas.openxmlformats.org/drawingml/2006/main">
            <a:pPr>
              <a:defRPr sz="3300" b="1">
                <a:solidFill>
                  <a:srgbClr val="123E42"/>
                </a:solidFill>
              </a:defRPr>
            </a:pPr>
            <a:r>
              <a:rPr sz="3300" b="1">
                <a:solidFill>
                  <a:srgbClr val="123E42"/>
                </a:solidFill>
              </a:rPr>
              <a:t>Scaling and interpretation</a:t>
            </a:r>
          </a:p>
        </p:txBody>
      </p:sp>
      <p:sp>
        <p:nvSpPr>
          <p:cNvPr id="3" name="scales">
            <a:extLst xmlns:a="http://schemas.openxmlformats.org/drawingml/2006/main">
              <a:ext uri="{FF2B5EF4-FFF2-40B4-BE49-F238E27FC236}">
                <a16:creationId xmlns:a16="http://schemas.microsoft.com/office/drawing/2014/main" id="{5C40AB74-1EC6-49E5-B5B2-74032048ED88}"/>
              </a:ext>
            </a:extLst>
          </p:cNvPr>
          <p:cNvSpPr>
            <a:spLocks xmlns:a="http://schemas.openxmlformats.org/drawingml/2006/main" noGrp="1"/>
          </p:cNvSpPr>
          <p:nvPr/>
        </p:nvSpPr>
        <p:spPr>
          <a:xfrm xmlns:a="http://schemas.openxmlformats.org/drawingml/2006/main">
            <a:off x="647700" y="1362075"/>
            <a:ext cx="1089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172A35"/>
                </a:solidFill>
              </a:defRPr>
            </a:defPPr>
            <a:lvl1pPr>
              <a:defRPr sz="2700" b="0">
                <a:solidFill>
                  <a:srgbClr val="172A35"/>
                </a:solidFill>
              </a:defRPr>
            </a:lvl1pPr>
            <a:lvl2pPr>
              <a:defRPr sz="2700" b="0">
                <a:solidFill>
                  <a:srgbClr val="172A35"/>
                </a:solidFill>
              </a:defRPr>
            </a:lvl2pPr>
            <a:lvl3pPr>
              <a:defRPr sz="2700" b="0">
                <a:solidFill>
                  <a:srgbClr val="172A35"/>
                </a:solidFill>
              </a:defRPr>
            </a:lvl3pPr>
            <a:lvl4pPr>
              <a:defRPr sz="2700" b="0">
                <a:solidFill>
                  <a:srgbClr val="172A35"/>
                </a:solidFill>
              </a:defRPr>
            </a:lvl4pPr>
            <a:lvl5pPr>
              <a:defRPr sz="2700" b="0">
                <a:solidFill>
                  <a:srgbClr val="172A35"/>
                </a:solidFill>
              </a:defRPr>
            </a:lvl5pPr>
            <a:lvl6pPr>
              <a:defRPr sz="2700" b="0">
                <a:solidFill>
                  <a:srgbClr val="172A35"/>
                </a:solidFill>
              </a:defRPr>
            </a:lvl6pPr>
            <a:lvl7pPr>
              <a:defRPr sz="2700" b="0">
                <a:solidFill>
                  <a:srgbClr val="172A35"/>
                </a:solidFill>
              </a:defRPr>
            </a:lvl7pPr>
            <a:lvl8pPr>
              <a:defRPr sz="2700" b="0">
                <a:solidFill>
                  <a:srgbClr val="172A35"/>
                </a:solidFill>
              </a:defRPr>
            </a:lvl8pPr>
            <a:lvl9pPr>
              <a:defRPr sz="2700" b="0">
                <a:solidFill>
                  <a:srgbClr val="172A35"/>
                </a:solidFill>
              </a:defRPr>
            </a:lvl9pPr>
          </a:lstStyle>
          <a:p xmlns:a="http://schemas.openxmlformats.org/drawingml/2006/main">
            <a:pPr>
              <a:defRPr sz="2700" b="0">
                <a:solidFill>
                  <a:srgbClr val="172A35"/>
                </a:solidFill>
              </a:defRPr>
            </a:pPr>
            <a:r>
              <a:rPr sz="2700" b="0">
                <a:solidFill>
                  <a:srgbClr val="172A35"/>
                </a:solidFill>
              </a:rPr>
              <a:t>s = rt          x = H/K          y = aP/(rK)</a:t>
            </a:r>
          </a:p>
        </p:txBody>
      </p:sp>
      <p:sp>
        <p:nvSpPr>
          <p:cNvPr id="4" name="groups">
            <a:extLst xmlns:a="http://schemas.openxmlformats.org/drawingml/2006/main">
              <a:ext uri="{FF2B5EF4-FFF2-40B4-BE49-F238E27FC236}">
                <a16:creationId xmlns:a16="http://schemas.microsoft.com/office/drawing/2014/main" id="{22CFC6F3-C8C0-4F24-8825-67DA81FA0AE0}"/>
              </a:ext>
            </a:extLst>
          </p:cNvPr>
          <p:cNvSpPr>
            <a:spLocks xmlns:a="http://schemas.openxmlformats.org/drawingml/2006/main" noGrp="1"/>
          </p:cNvSpPr>
          <p:nvPr/>
        </p:nvSpPr>
        <p:spPr>
          <a:xfrm xmlns:a="http://schemas.openxmlformats.org/drawingml/2006/main">
            <a:off x="647700" y="1990725"/>
            <a:ext cx="10896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23E42"/>
                </a:solidFill>
              </a:defRPr>
            </a:defPPr>
            <a:lvl1pPr>
              <a:defRPr sz="2550" b="0">
                <a:solidFill>
                  <a:srgbClr val="123E42"/>
                </a:solidFill>
              </a:defRPr>
            </a:lvl1pPr>
            <a:lvl2pPr>
              <a:defRPr sz="2550" b="0">
                <a:solidFill>
                  <a:srgbClr val="123E42"/>
                </a:solidFill>
              </a:defRPr>
            </a:lvl2pPr>
            <a:lvl3pPr>
              <a:defRPr sz="2550" b="0">
                <a:solidFill>
                  <a:srgbClr val="123E42"/>
                </a:solidFill>
              </a:defRPr>
            </a:lvl3pPr>
            <a:lvl4pPr>
              <a:defRPr sz="2550" b="0">
                <a:solidFill>
                  <a:srgbClr val="123E42"/>
                </a:solidFill>
              </a:defRPr>
            </a:lvl4pPr>
            <a:lvl5pPr>
              <a:defRPr sz="2550" b="0">
                <a:solidFill>
                  <a:srgbClr val="123E42"/>
                </a:solidFill>
              </a:defRPr>
            </a:lvl5pPr>
            <a:lvl6pPr>
              <a:defRPr sz="2550" b="0">
                <a:solidFill>
                  <a:srgbClr val="123E42"/>
                </a:solidFill>
              </a:defRPr>
            </a:lvl6pPr>
            <a:lvl7pPr>
              <a:defRPr sz="2550" b="0">
                <a:solidFill>
                  <a:srgbClr val="123E42"/>
                </a:solidFill>
              </a:defRPr>
            </a:lvl7pPr>
            <a:lvl8pPr>
              <a:defRPr sz="2550" b="0">
                <a:solidFill>
                  <a:srgbClr val="123E42"/>
                </a:solidFill>
              </a:defRPr>
            </a:lvl8pPr>
            <a:lvl9pPr>
              <a:defRPr sz="2550" b="0">
                <a:solidFill>
                  <a:srgbClr val="123E42"/>
                </a:solidFill>
              </a:defRPr>
            </a:lvl9pPr>
          </a:lstStyle>
          <a:p xmlns:a="http://schemas.openxmlformats.org/drawingml/2006/main">
            <a:pPr>
              <a:defRPr sz="2550" b="0">
                <a:solidFill>
                  <a:srgbClr val="123E42"/>
                </a:solidFill>
              </a:defRPr>
            </a:pPr>
            <a:r>
              <a:rPr sz="2550" b="0">
                <a:solidFill>
                  <a:srgbClr val="123E42"/>
                </a:solidFill>
              </a:rPr>
              <a:t>β = b/K          α = ea/r          δ = m/r</a:t>
            </a:r>
          </a:p>
        </p:txBody>
      </p:sp>
      <p:sp>
        <p:nvSpPr>
          <p:cNvPr id="5" name="prey-scaled">
            <a:extLst xmlns:a="http://schemas.openxmlformats.org/drawingml/2006/main">
              <a:ext uri="{FF2B5EF4-FFF2-40B4-BE49-F238E27FC236}">
                <a16:creationId xmlns:a16="http://schemas.microsoft.com/office/drawing/2014/main" id="{9C843752-059C-450D-8077-55B7BAF8A37E}"/>
              </a:ext>
            </a:extLst>
          </p:cNvPr>
          <p:cNvSpPr>
            <a:spLocks xmlns:a="http://schemas.openxmlformats.org/drawingml/2006/main" noGrp="1"/>
          </p:cNvSpPr>
          <p:nvPr/>
        </p:nvSpPr>
        <p:spPr>
          <a:xfrm xmlns:a="http://schemas.openxmlformats.org/drawingml/2006/main">
            <a:off x="647700" y="27527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9343B"/>
                </a:solidFill>
              </a:defRPr>
            </a:defPPr>
            <a:lvl1pPr>
              <a:defRPr sz="2400" b="0">
                <a:solidFill>
                  <a:srgbClr val="19343B"/>
                </a:solidFill>
              </a:defRPr>
            </a:lvl1pPr>
            <a:lvl2pPr>
              <a:defRPr sz="2400" b="0">
                <a:solidFill>
                  <a:srgbClr val="19343B"/>
                </a:solidFill>
              </a:defRPr>
            </a:lvl2pPr>
            <a:lvl3pPr>
              <a:defRPr sz="2400" b="0">
                <a:solidFill>
                  <a:srgbClr val="19343B"/>
                </a:solidFill>
              </a:defRPr>
            </a:lvl3pPr>
            <a:lvl4pPr>
              <a:defRPr sz="2400" b="0">
                <a:solidFill>
                  <a:srgbClr val="19343B"/>
                </a:solidFill>
              </a:defRPr>
            </a:lvl4pPr>
            <a:lvl5pPr>
              <a:defRPr sz="2400" b="0">
                <a:solidFill>
                  <a:srgbClr val="19343B"/>
                </a:solidFill>
              </a:defRPr>
            </a:lvl5pPr>
            <a:lvl6pPr>
              <a:defRPr sz="2400" b="0">
                <a:solidFill>
                  <a:srgbClr val="19343B"/>
                </a:solidFill>
              </a:defRPr>
            </a:lvl6pPr>
            <a:lvl7pPr>
              <a:defRPr sz="2400" b="0">
                <a:solidFill>
                  <a:srgbClr val="19343B"/>
                </a:solidFill>
              </a:defRPr>
            </a:lvl7pPr>
            <a:lvl8pPr>
              <a:defRPr sz="2400" b="0">
                <a:solidFill>
                  <a:srgbClr val="19343B"/>
                </a:solidFill>
              </a:defRPr>
            </a:lvl8pPr>
            <a:lvl9pPr>
              <a:defRPr sz="2400" b="0">
                <a:solidFill>
                  <a:srgbClr val="19343B"/>
                </a:solidFill>
              </a:defRPr>
            </a:lvl9pPr>
          </a:lstStyle>
          <a:p xmlns:a="http://schemas.openxmlformats.org/drawingml/2006/main">
            <a:pPr>
              <a:defRPr sz="2400" b="0">
                <a:solidFill>
                  <a:srgbClr val="19343B"/>
                </a:solidFill>
              </a:defRPr>
            </a:pPr>
            <a:r>
              <a:rPr sz="2400" b="0">
                <a:solidFill>
                  <a:srgbClr val="19343B"/>
                </a:solidFill>
              </a:rPr>
              <a:t>dx/ds = x(1 − x) − xy/(β + x)</a:t>
            </a:r>
          </a:p>
        </p:txBody>
      </p:sp>
      <p:sp>
        <p:nvSpPr>
          <p:cNvPr id="6" name="predator-scaled">
            <a:extLst xmlns:a="http://schemas.openxmlformats.org/drawingml/2006/main">
              <a:ext uri="{FF2B5EF4-FFF2-40B4-BE49-F238E27FC236}">
                <a16:creationId xmlns:a16="http://schemas.microsoft.com/office/drawing/2014/main" id="{0B5B4D19-2291-4A59-A673-60AA72C7D62D}"/>
              </a:ext>
            </a:extLst>
          </p:cNvPr>
          <p:cNvSpPr>
            <a:spLocks xmlns:a="http://schemas.openxmlformats.org/drawingml/2006/main" noGrp="1"/>
          </p:cNvSpPr>
          <p:nvPr/>
        </p:nvSpPr>
        <p:spPr>
          <a:xfrm xmlns:a="http://schemas.openxmlformats.org/drawingml/2006/main">
            <a:off x="647700" y="32861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9343B"/>
                </a:solidFill>
              </a:defRPr>
            </a:defPPr>
            <a:lvl1pPr>
              <a:defRPr sz="2400" b="0">
                <a:solidFill>
                  <a:srgbClr val="19343B"/>
                </a:solidFill>
              </a:defRPr>
            </a:lvl1pPr>
            <a:lvl2pPr>
              <a:defRPr sz="2400" b="0">
                <a:solidFill>
                  <a:srgbClr val="19343B"/>
                </a:solidFill>
              </a:defRPr>
            </a:lvl2pPr>
            <a:lvl3pPr>
              <a:defRPr sz="2400" b="0">
                <a:solidFill>
                  <a:srgbClr val="19343B"/>
                </a:solidFill>
              </a:defRPr>
            </a:lvl3pPr>
            <a:lvl4pPr>
              <a:defRPr sz="2400" b="0">
                <a:solidFill>
                  <a:srgbClr val="19343B"/>
                </a:solidFill>
              </a:defRPr>
            </a:lvl4pPr>
            <a:lvl5pPr>
              <a:defRPr sz="2400" b="0">
                <a:solidFill>
                  <a:srgbClr val="19343B"/>
                </a:solidFill>
              </a:defRPr>
            </a:lvl5pPr>
            <a:lvl6pPr>
              <a:defRPr sz="2400" b="0">
                <a:solidFill>
                  <a:srgbClr val="19343B"/>
                </a:solidFill>
              </a:defRPr>
            </a:lvl6pPr>
            <a:lvl7pPr>
              <a:defRPr sz="2400" b="0">
                <a:solidFill>
                  <a:srgbClr val="19343B"/>
                </a:solidFill>
              </a:defRPr>
            </a:lvl7pPr>
            <a:lvl8pPr>
              <a:defRPr sz="2400" b="0">
                <a:solidFill>
                  <a:srgbClr val="19343B"/>
                </a:solidFill>
              </a:defRPr>
            </a:lvl8pPr>
            <a:lvl9pPr>
              <a:defRPr sz="2400" b="0">
                <a:solidFill>
                  <a:srgbClr val="19343B"/>
                </a:solidFill>
              </a:defRPr>
            </a:lvl9pPr>
          </a:lstStyle>
          <a:p xmlns:a="http://schemas.openxmlformats.org/drawingml/2006/main">
            <a:pPr>
              <a:defRPr sz="2400" b="0">
                <a:solidFill>
                  <a:srgbClr val="19343B"/>
                </a:solidFill>
              </a:defRPr>
            </a:pPr>
            <a:r>
              <a:rPr sz="2400" b="0">
                <a:solidFill>
                  <a:srgbClr val="19343B"/>
                </a:solidFill>
              </a:rPr>
              <a:t>dy/ds = αxy/(β + x) − δy</a:t>
            </a:r>
          </a:p>
        </p:txBody>
      </p:sp>
      <p:sp>
        <p:nvSpPr>
          <p:cNvPr id="7" name="effective">
            <a:extLst xmlns:a="http://schemas.openxmlformats.org/drawingml/2006/main">
              <a:ext uri="{FF2B5EF4-FFF2-40B4-BE49-F238E27FC236}">
                <a16:creationId xmlns:a16="http://schemas.microsoft.com/office/drawing/2014/main" id="{BD0B141A-8937-40DF-BFE1-7029F0EC6EEA}"/>
              </a:ext>
            </a:extLst>
          </p:cNvPr>
          <p:cNvSpPr>
            <a:spLocks xmlns:a="http://schemas.openxmlformats.org/drawingml/2006/main" noGrp="1"/>
          </p:cNvSpPr>
          <p:nvPr/>
        </p:nvSpPr>
        <p:spPr>
          <a:xfrm xmlns:a="http://schemas.openxmlformats.org/drawingml/2006/main">
            <a:off x="647700" y="4057650"/>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19343B"/>
                </a:solidFill>
              </a:defRPr>
            </a:defPPr>
            <a:lvl1pPr>
              <a:defRPr sz="2025" b="0">
                <a:solidFill>
                  <a:srgbClr val="19343B"/>
                </a:solidFill>
              </a:defRPr>
            </a:lvl1pPr>
            <a:lvl2pPr>
              <a:defRPr sz="2025" b="0">
                <a:solidFill>
                  <a:srgbClr val="19343B"/>
                </a:solidFill>
              </a:defRPr>
            </a:lvl2pPr>
            <a:lvl3pPr>
              <a:defRPr sz="2025" b="0">
                <a:solidFill>
                  <a:srgbClr val="19343B"/>
                </a:solidFill>
              </a:defRPr>
            </a:lvl3pPr>
            <a:lvl4pPr>
              <a:defRPr sz="2025" b="0">
                <a:solidFill>
                  <a:srgbClr val="19343B"/>
                </a:solidFill>
              </a:defRPr>
            </a:lvl4pPr>
            <a:lvl5pPr>
              <a:defRPr sz="2025" b="0">
                <a:solidFill>
                  <a:srgbClr val="19343B"/>
                </a:solidFill>
              </a:defRPr>
            </a:lvl5pPr>
            <a:lvl6pPr>
              <a:defRPr sz="2025" b="0">
                <a:solidFill>
                  <a:srgbClr val="19343B"/>
                </a:solidFill>
              </a:defRPr>
            </a:lvl6pPr>
            <a:lvl7pPr>
              <a:defRPr sz="2025" b="0">
                <a:solidFill>
                  <a:srgbClr val="19343B"/>
                </a:solidFill>
              </a:defRPr>
            </a:lvl7pPr>
            <a:lvl8pPr>
              <a:defRPr sz="2025" b="0">
                <a:solidFill>
                  <a:srgbClr val="19343B"/>
                </a:solidFill>
              </a:defRPr>
            </a:lvl8pPr>
            <a:lvl9pPr>
              <a:defRPr sz="2025" b="0">
                <a:solidFill>
                  <a:srgbClr val="19343B"/>
                </a:solidFill>
              </a:defRPr>
            </a:lvl9pPr>
          </a:lstStyle>
          <a:p xmlns:a="http://schemas.openxmlformats.org/drawingml/2006/main">
            <a:pPr>
              <a:defRPr sz="2025" b="0">
                <a:solidFill>
                  <a:srgbClr val="19343B"/>
                </a:solidFill>
              </a:defRPr>
            </a:pPr>
            <a:r>
              <a:rPr sz="2025" b="0">
                <a:solidFill>
                  <a:srgbClr val="19343B"/>
                </a:solidFill>
              </a:rPr>
              <a:t>K, b, a and e: effective coefficients in pelt units.</a:t>
            </a:r>
          </a:p>
        </p:txBody>
      </p:sp>
      <p:sp>
        <p:nvSpPr>
          <p:cNvPr id="8" name="interpretation">
            <a:extLst xmlns:a="http://schemas.openxmlformats.org/drawingml/2006/main">
              <a:ext uri="{FF2B5EF4-FFF2-40B4-BE49-F238E27FC236}">
                <a16:creationId xmlns:a16="http://schemas.microsoft.com/office/drawing/2014/main" id="{07D97300-5263-47D8-8DC4-CF1A6F0A00DB}"/>
              </a:ext>
            </a:extLst>
          </p:cNvPr>
          <p:cNvSpPr>
            <a:spLocks xmlns:a="http://schemas.openxmlformats.org/drawingml/2006/main" noGrp="1"/>
          </p:cNvSpPr>
          <p:nvPr/>
        </p:nvSpPr>
        <p:spPr>
          <a:xfrm xmlns:a="http://schemas.openxmlformats.org/drawingml/2006/main">
            <a:off x="647700" y="4543425"/>
            <a:ext cx="108966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950" b="0">
                <a:solidFill>
                  <a:srgbClr val="19343B"/>
                </a:solidFill>
              </a:defRPr>
            </a:defPPr>
            <a:lvl1pPr>
              <a:defRPr sz="1950" b="0">
                <a:solidFill>
                  <a:srgbClr val="19343B"/>
                </a:solidFill>
              </a:defRPr>
            </a:lvl1pPr>
            <a:lvl2pPr>
              <a:defRPr sz="1950" b="0">
                <a:solidFill>
                  <a:srgbClr val="19343B"/>
                </a:solidFill>
              </a:defRPr>
            </a:lvl2pPr>
            <a:lvl3pPr>
              <a:defRPr sz="1950" b="0">
                <a:solidFill>
                  <a:srgbClr val="19343B"/>
                </a:solidFill>
              </a:defRPr>
            </a:lvl3pPr>
            <a:lvl4pPr>
              <a:defRPr sz="1950" b="0">
                <a:solidFill>
                  <a:srgbClr val="19343B"/>
                </a:solidFill>
              </a:defRPr>
            </a:lvl4pPr>
            <a:lvl5pPr>
              <a:defRPr sz="1950" b="0">
                <a:solidFill>
                  <a:srgbClr val="19343B"/>
                </a:solidFill>
              </a:defRPr>
            </a:lvl5pPr>
            <a:lvl6pPr>
              <a:defRPr sz="1950" b="0">
                <a:solidFill>
                  <a:srgbClr val="19343B"/>
                </a:solidFill>
              </a:defRPr>
            </a:lvl6pPr>
            <a:lvl7pPr>
              <a:defRPr sz="1950" b="0">
                <a:solidFill>
                  <a:srgbClr val="19343B"/>
                </a:solidFill>
              </a:defRPr>
            </a:lvl7pPr>
            <a:lvl8pPr>
              <a:defRPr sz="1950" b="0">
                <a:solidFill>
                  <a:srgbClr val="19343B"/>
                </a:solidFill>
              </a:defRPr>
            </a:lvl8pPr>
            <a:lvl9pPr>
              <a:defRPr sz="1950" b="0">
                <a:solidFill>
                  <a:srgbClr val="19343B"/>
                </a:solidFill>
              </a:defRPr>
            </a:lvl9pPr>
          </a:lstStyle>
          <a:p xmlns:a="http://schemas.openxmlformats.org/drawingml/2006/main">
            <a:pPr>
              <a:defRPr sz="1950" b="0">
                <a:solidFill>
                  <a:srgbClr val="19343B"/>
                </a:solidFill>
              </a:defRPr>
            </a:pPr>
            <a:r>
              <a:rPr sz="1950" b="0">
                <a:solidFill>
                  <a:srgbClr val="19343B"/>
                </a:solidFill>
              </a:rPr>
              <a:t>r, m and the groups are scale invariant.</a:t>
            </a:r>
          </a:p>
          <a:p xmlns:a="http://schemas.openxmlformats.org/drawingml/2006/main">
            <a:pPr>
              <a:defRPr sz="1950" b="0">
                <a:solidFill>
                  <a:srgbClr val="19343B"/>
                </a:solidFill>
              </a:defRPr>
            </a:pPr>
            <a:r>
              <a:rPr sz="1950" b="0">
                <a:solidFill>
                  <a:srgbClr val="19343B"/>
                </a:solidFill>
              </a:rPr>
              <a:t>Biological interpretation still depends on O1 and model adequacy.</a:t>
            </a:r>
          </a:p>
        </p:txBody>
      </p:sp>
      <p:sp>
        <p:nvSpPr>
          <p:cNvPr id="9" name="validation">
            <a:extLst xmlns:a="http://schemas.openxmlformats.org/drawingml/2006/main">
              <a:ext uri="{FF2B5EF4-FFF2-40B4-BE49-F238E27FC236}">
                <a16:creationId xmlns:a16="http://schemas.microsoft.com/office/drawing/2014/main" id="{63D91773-EC12-4E53-843A-290F33B73A74}"/>
              </a:ext>
            </a:extLst>
          </p:cNvPr>
          <p:cNvSpPr>
            <a:spLocks xmlns:a="http://schemas.openxmlformats.org/drawingml/2006/main" noGrp="1"/>
          </p:cNvSpPr>
          <p:nvPr/>
        </p:nvSpPr>
        <p:spPr>
          <a:xfrm xmlns:a="http://schemas.openxmlformats.org/drawingml/2006/main">
            <a:off x="647700" y="5534025"/>
            <a:ext cx="108966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123E42"/>
                </a:solidFill>
              </a:defRPr>
            </a:defPPr>
            <a:lvl1pPr>
              <a:defRPr sz="1875" b="0">
                <a:solidFill>
                  <a:srgbClr val="123E42"/>
                </a:solidFill>
              </a:defRPr>
            </a:lvl1pPr>
            <a:lvl2pPr>
              <a:defRPr sz="1875" b="0">
                <a:solidFill>
                  <a:srgbClr val="123E42"/>
                </a:solidFill>
              </a:defRPr>
            </a:lvl2pPr>
            <a:lvl3pPr>
              <a:defRPr sz="1875" b="0">
                <a:solidFill>
                  <a:srgbClr val="123E42"/>
                </a:solidFill>
              </a:defRPr>
            </a:lvl3pPr>
            <a:lvl4pPr>
              <a:defRPr sz="1875" b="0">
                <a:solidFill>
                  <a:srgbClr val="123E42"/>
                </a:solidFill>
              </a:defRPr>
            </a:lvl4pPr>
            <a:lvl5pPr>
              <a:defRPr sz="1875" b="0">
                <a:solidFill>
                  <a:srgbClr val="123E42"/>
                </a:solidFill>
              </a:defRPr>
            </a:lvl5pPr>
            <a:lvl6pPr>
              <a:defRPr sz="1875" b="0">
                <a:solidFill>
                  <a:srgbClr val="123E42"/>
                </a:solidFill>
              </a:defRPr>
            </a:lvl6pPr>
            <a:lvl7pPr>
              <a:defRPr sz="1875" b="0">
                <a:solidFill>
                  <a:srgbClr val="123E42"/>
                </a:solidFill>
              </a:defRPr>
            </a:lvl7pPr>
            <a:lvl8pPr>
              <a:defRPr sz="1875" b="0">
                <a:solidFill>
                  <a:srgbClr val="123E42"/>
                </a:solidFill>
              </a:defRPr>
            </a:lvl8pPr>
            <a:lvl9pPr>
              <a:defRPr sz="1875" b="0">
                <a:solidFill>
                  <a:srgbClr val="123E42"/>
                </a:solidFill>
              </a:defRPr>
            </a:lvl9pPr>
          </a:lstStyle>
          <a:p xmlns:a="http://schemas.openxmlformats.org/drawingml/2006/main">
            <a:pPr>
              <a:defRPr sz="1875" b="0">
                <a:solidFill>
                  <a:srgbClr val="123E42"/>
                </a:solidFill>
              </a:defRPr>
            </a:pPr>
            <a:r>
              <a:rPr sz="1875" b="0">
                <a:solidFill>
                  <a:srgbClr val="123E42"/>
                </a:solidFill>
              </a:rPr>
              <a:t>Fit 1900–1915; score 1916–1920. Forecast from 1900 with no restart.</a:t>
            </a:r>
          </a:p>
        </p:txBody>
      </p:sp>
      <p:sp>
        <p:nvSpPr>
          <p:cNvPr id="10" name="source">
            <a:extLst xmlns:a="http://schemas.openxmlformats.org/drawingml/2006/main">
              <a:ext uri="{FF2B5EF4-FFF2-40B4-BE49-F238E27FC236}">
                <a16:creationId xmlns:a16="http://schemas.microsoft.com/office/drawing/2014/main" id="{FB180F74-E20A-4A33-89DD-43DD06D0069B}"/>
              </a:ext>
            </a:extLst>
          </p:cNvPr>
          <p:cNvSpPr>
            <a:spLocks xmlns:a="http://schemas.openxmlformats.org/drawingml/2006/main" noGrp="1"/>
          </p:cNvSpPr>
          <p:nvPr/>
        </p:nvSpPr>
        <p:spPr>
          <a:xfrm xmlns:a="http://schemas.openxmlformats.org/drawingml/2006/main">
            <a:off x="647700" y="6229350"/>
            <a:ext cx="10896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26264"/>
                </a:solidFill>
              </a:defRPr>
            </a:defPPr>
            <a:lvl1pPr>
              <a:defRPr sz="1200" b="0">
                <a:solidFill>
                  <a:srgbClr val="526264"/>
                </a:solidFill>
              </a:defRPr>
            </a:lvl1pPr>
            <a:lvl2pPr>
              <a:defRPr sz="1200" b="0">
                <a:solidFill>
                  <a:srgbClr val="526264"/>
                </a:solidFill>
              </a:defRPr>
            </a:lvl2pPr>
            <a:lvl3pPr>
              <a:defRPr sz="1200" b="0">
                <a:solidFill>
                  <a:srgbClr val="526264"/>
                </a:solidFill>
              </a:defRPr>
            </a:lvl3pPr>
            <a:lvl4pPr>
              <a:defRPr sz="1200" b="0">
                <a:solidFill>
                  <a:srgbClr val="526264"/>
                </a:solidFill>
              </a:defRPr>
            </a:lvl4pPr>
            <a:lvl5pPr>
              <a:defRPr sz="1200" b="0">
                <a:solidFill>
                  <a:srgbClr val="526264"/>
                </a:solidFill>
              </a:defRPr>
            </a:lvl5pPr>
            <a:lvl6pPr>
              <a:defRPr sz="1200" b="0">
                <a:solidFill>
                  <a:srgbClr val="526264"/>
                </a:solidFill>
              </a:defRPr>
            </a:lvl6pPr>
            <a:lvl7pPr>
              <a:defRPr sz="1200" b="0">
                <a:solidFill>
                  <a:srgbClr val="526264"/>
                </a:solidFill>
              </a:defRPr>
            </a:lvl7pPr>
            <a:lvl8pPr>
              <a:defRPr sz="1200" b="0">
                <a:solidFill>
                  <a:srgbClr val="526264"/>
                </a:solidFill>
              </a:defRPr>
            </a:lvl8pPr>
            <a:lvl9pPr>
              <a:defRPr sz="1200" b="0">
                <a:solidFill>
                  <a:srgbClr val="526264"/>
                </a:solidFill>
              </a:defRPr>
            </a:lvl9pPr>
          </a:lstStyle>
          <a:p xmlns:a="http://schemas.openxmlformats.org/drawingml/2006/main">
            <a:pPr>
              <a:defRPr sz="1200" b="0">
                <a:solidFill>
                  <a:srgbClr val="526264"/>
                </a:solidFill>
              </a:defRPr>
            </a:pPr>
            <a:r>
              <a:rPr sz="1200" b="0">
                <a:solidFill>
                  <a:srgbClr val="526264"/>
                </a:solidFill>
              </a:rPr>
              <a:t>Sources: Arnav’s derivation; Joel’s notation; configs/historical.json and Yash’s historical handoff (28dbe1e).</a:t>
            </a:r>
          </a:p>
        </p:txBody>
      </p:sp>
    </p:spTree>
    <p:extLst>
      <p:ext uri="{BB962C8B-B14F-4D97-AF65-F5344CB8AC3E}">
        <p14:creationId xmlns:p14="http://schemas.microsoft.com/office/powerpoint/2010/main" val="179627449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2026-10-28T15:40:44.9200000Z</dcterms:created>
  <dcterms:modified xsi:type="dcterms:W3CDTF">2026-10-28T15:40:44.9200000Z</dcterms:modified>
</coreProperties>
</file>