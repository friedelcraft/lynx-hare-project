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96a9e24c1c6441e" /><Relationship Type="http://schemas.openxmlformats.org/officeDocument/2006/relationships/extended-properties" Target="/docProps/app.xml" Id="R96dea9ee1ff34c7f" /><Relationship Type="http://schemas.openxmlformats.org/officeDocument/2006/relationships/officeDocument" Target="/ppt/presentation.xml" Id="R9ccb4bbc855a4230" /></Relationships>
</file>

<file path=ppt/presentation.xml><?xml version="1.0" encoding="utf-8"?>
<p:presentation xmlns:p="http://schemas.openxmlformats.org/presentationml/2006/main">
  <p:sldMasterIdLst>
    <p:sldMasterId xmlns:r="http://schemas.openxmlformats.org/officeDocument/2006/relationships" id="2147483648" r:id="Rc802b13cd52145af"/>
  </p:sldMasterIdLst>
  <p:notesMasterIdLst>
    <p:notesMasterId xmlns:r="http://schemas.openxmlformats.org/officeDocument/2006/relationships" r:id="R954e7f1be160467f"/>
  </p:notesMasterIdLst>
  <p:sldIdLst>
    <p:sldId xmlns:r="http://schemas.openxmlformats.org/officeDocument/2006/relationships" id="256" r:id="R7870e397803942dd"/>
    <p:sldId xmlns:r="http://schemas.openxmlformats.org/officeDocument/2006/relationships" id="257" r:id="R67e612cda39c4a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3edf4779664d2a" /><Relationship Type="http://schemas.openxmlformats.org/officeDocument/2006/relationships/slideMaster" Target="/ppt/slideMasters/slideMaster1.xml" Id="Rc802b13cd52145af" /><Relationship Type="http://schemas.openxmlformats.org/officeDocument/2006/relationships/notesMaster" Target="/ppt/notesMasters/notesMaster1.xml" Id="R954e7f1be160467f" /><Relationship Type="http://schemas.openxmlformats.org/officeDocument/2006/relationships/presProps" Target="/ppt/presProps.xml" Id="R4512fcfb3f3b4daa" /><Relationship Type="http://schemas.openxmlformats.org/officeDocument/2006/relationships/tableStyles" Target="/ppt/tableStyles.xml" Id="R459992d0527d4e08" /><Relationship Type="http://schemas.openxmlformats.org/officeDocument/2006/relationships/slide" Target="/ppt/slides/slide1.xml" Id="R7870e397803942dd" /><Relationship Type="http://schemas.openxmlformats.org/officeDocument/2006/relationships/slide" Target="/ppt/slides/slide2.xml" Id="R67e612cda39c4a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f0e744ab5644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994c6e49d04bb6" /><Relationship Type="http://schemas.openxmlformats.org/officeDocument/2006/relationships/notesMaster" Target="/ppt/notesMasters/notesMaster1.xml" Id="Rf59600bed2c343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68dc08aa144496" /><Relationship Type="http://schemas.openxmlformats.org/officeDocument/2006/relationships/notesMaster" Target="/ppt/notesMasters/notesMaster1.xml" Id="Rfbb8ffa7d9dd4a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The model predicts two pelt indices. Autograd supplies the time derivatives for the physics residual. Data scales use training maxima only. Adam is followed by L-BFGS. We estimate all six positive coefficients, unlike the earlier controlled synthetic test that fixed three coefficients. We select the seed using training loss and forecast by ODE integration, without restarting from a test state. The IC penalty is soft and its discrepancy is reported.</a:t>
            </a:r>
          </a:p>
          <a:p xmlns:a="http://schemas.openxmlformats.org/drawingml/2006/main">
            <a:r>
              <a:t>Source: src/lynx_hare/historical_pinn.py; configs/historical.json; Raissi et al. (2019), https://doi.org/10.1016/j.jcp.2018.10.045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Across all retained checks, the primary PINN has hare RMSE about 2.85 and lynx RMSE about 4.32. Least squares gives about 3.07 and 3.04. Hare MAE is essentially tied, so we do not claim a clear hare advantage. Several parameters follow the chosen bounds, and the re-integrated ODE has a training cost 1.86 times the least-squares minimum in the main variant. A soft-physics network optimum is not the same objective as least squares on the ODE trajectory. We retained worse sensitivity outcomes and made no post-test retuning. Synthetic recovery separately checks implementation, not historical biological accuracy.</a:t>
            </a:r>
          </a:p>
          <a:p xmlns:a="http://schemas.openxmlformats.org/drawingml/2006/main">
            <a:r>
              <a:t>Source: results/historical/advay_evaluation_v1/comparison.json; results/historical/advay_evaluation_v1/pinn_training_fit.json; results/historical/yash_pinn_wider_v1/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b3f4af43bc40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1a14b13dbc49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5c447cd0ab4c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5613ba7d5944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61aafbb81b43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0589b7605442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1A3FA0-629B-482A-AAE6-3B09ABFEFBC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1DC6685-A25C-4945-9071-A34BAF4DF1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DFB933-01C0-416D-9FF2-6119FCAC4DE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C086AC-DBCE-4705-8CAC-819E6193E0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4AC385D-6D26-42F5-9179-F09AD30CD3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30FCBE-738F-4382-BE60-72FD20FC68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010A1D-9069-4D01-8AE9-46D2D9726D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6A3051D-4BBA-46DD-A681-73279A7FC33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046536-1D68-46F0-9FF8-64EF4E22FA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6A5491-BF9C-48C5-9C2B-379577FBBC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ac4ff18ff245e1" /><Relationship Type="http://schemas.openxmlformats.org/officeDocument/2006/relationships/slideLayout" Target="/ppt/slideLayouts/slideLayout1.xml" Id="Rfcc80c5332ad45c6" /><Relationship Type="http://schemas.openxmlformats.org/officeDocument/2006/relationships/slideLayout" Target="/ppt/slideLayouts/slideLayout2.xml" Id="R5febeb721241464d" /><Relationship Type="http://schemas.openxmlformats.org/officeDocument/2006/relationships/slideLayout" Target="/ppt/slideLayouts/slideLayout3.xml" Id="R4e1450bd2e824137" /><Relationship Type="http://schemas.openxmlformats.org/officeDocument/2006/relationships/slideLayout" Target="/ppt/slideLayouts/slideLayout4.xml" Id="R83aeacfbcf1c4753" /><Relationship Type="http://schemas.openxmlformats.org/officeDocument/2006/relationships/slideLayout" Target="/ppt/slideLayouts/slideLayout5.xml" Id="Re306347b39d6441c" /><Relationship Type="http://schemas.openxmlformats.org/officeDocument/2006/relationships/slideLayout" Target="/ppt/slideLayouts/slideLayout6.xml" Id="R91e11270e7464d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c80c5332ad45c6"/>
    <p:sldLayoutId xmlns:r="http://schemas.openxmlformats.org/officeDocument/2006/relationships" id="2147483650" r:id="R5febeb721241464d"/>
    <p:sldLayoutId xmlns:r="http://schemas.openxmlformats.org/officeDocument/2006/relationships" id="2147483651" r:id="R4e1450bd2e824137"/>
    <p:sldLayoutId xmlns:r="http://schemas.openxmlformats.org/officeDocument/2006/relationships" id="2147483652" r:id="R83aeacfbcf1c4753"/>
    <p:sldLayoutId xmlns:r="http://schemas.openxmlformats.org/officeDocument/2006/relationships" id="2147483653" r:id="Re306347b39d6441c"/>
    <p:sldLayoutId xmlns:r="http://schemas.openxmlformats.org/officeDocument/2006/relationships" id="2147483654" r:id="R91e11270e7464d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dd4f31adcf344d0" /><Relationship Type="http://schemas.openxmlformats.org/officeDocument/2006/relationships/notesSlide" Target="/ppt/notesSlides/notesSlide1.xml" Id="R6494a302674c47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dcf297fdf149ea" /><Relationship Type="http://schemas.openxmlformats.org/officeDocument/2006/relationships/chart" Target="/ppt/slides/charts/chart1.xml" Id="R0023e7ec32e740f2" /><Relationship Type="http://schemas.openxmlformats.org/officeDocument/2006/relationships/notesSlide" Target="/ppt/notesSlides/notesSlide2.xml" Id="R99234e6522aa4c6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latin typeface="Arial"/>
                <a:ea typeface="Arial"/>
                <a:cs typeface="Arial"/>
              </a:rPr>
              <a:t>Held-out RMSE, thousands of pelts</a:t>
            </a:r>
          </a:p>
        </c:rich>
      </c:tx>
      <c:overlay val="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title>
    <c:plotArea>
      <c:barChart>
        <c:barDir val="col"/>
        <c:grouping val="clustered"/>
        <c:varyColors val="0"/>
        <c:ser>
          <c:idx val="0"/>
          <c:order val="0"/>
          <c:tx>
            <c:v>PINN-derived ODE</c:v>
          </c:tx>
          <c:spPr>
            <a:solidFill xmlns:a="http://schemas.openxmlformats.org/drawingml/2006/main">
              <a:srgbClr val="197278"/>
            </a:solidFill>
          </c:spPr>
          <c:invertIfNegative val="0"/>
          <c:cat>
            <c:strRef>
              <c:f>'Chart Data'!$A$2:$A$3</c:f>
              <c:strCache>
                <c:ptCount val="2"/>
                <c:pt idx="0">
                  <c:v>Hare</c:v>
                </c:pt>
                <c:pt idx="1">
                  <c:v>Lynx</c:v>
                </c:pt>
              </c:strCache>
            </c:strRef>
          </c:cat>
          <c:val>
            <c:numRef>
              <c:f>'Chart Data'!$B$2:$B$3</c:f>
              <c:numCache>
                <c:formatCode>0.0</c:formatCode>
                <c:ptCount val="2"/>
                <c:pt idx="0">
                  <c:v>2.846551</c:v>
                </c:pt>
                <c:pt idx="1">
                  <c:v>4.317003</c:v>
                </c:pt>
              </c:numCache>
            </c:numRef>
          </c:val>
        </c:ser>
        <c:ser>
          <c:idx val="1"/>
          <c:order val="1"/>
          <c:tx>
            <c:v>Least squares</c:v>
          </c:tx>
          <c:spPr>
            <a:solidFill xmlns:a="http://schemas.openxmlformats.org/drawingml/2006/main">
              <a:srgbClr val="C4532E"/>
            </a:solidFill>
          </c:spPr>
          <c:invertIfNegative val="0"/>
          <c:cat>
            <c:strRef>
              <c:f>'Chart Data'!$C$2:$C$3</c:f>
              <c:strCache>
                <c:ptCount val="2"/>
                <c:pt idx="0">
                  <c:v>Hare</c:v>
                </c:pt>
                <c:pt idx="1">
                  <c:v>Lynx</c:v>
                </c:pt>
              </c:strCache>
            </c:strRef>
          </c:cat>
          <c:val>
            <c:numRef>
              <c:f>'Chart Data'!$D$2:$D$3</c:f>
              <c:numCache>
                <c:formatCode>0.0</c:formatCode>
                <c:ptCount val="2"/>
                <c:pt idx="0">
                  <c:v>3.071909</c:v>
                </c:pt>
                <c:pt idx="1">
                  <c:v>3.042967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9FBD06F-7C31-441B-B150-B2213ACBE295}"/>
              </a:ext>
            </a:extLst>
          </p:cNvPr>
          <p:cNvSpPr>
            <a:spLocks xmlns:a="http://schemas.openxmlformats.org/drawingml/2006/main" noGrp="1"/>
          </p:cNvSpPr>
          <p:nvPr/>
        </p:nvSpPr>
        <p:spPr>
          <a:xfrm xmlns:a="http://schemas.openxmlformats.org/drawingml/2006/main">
            <a:off x="609600" y="4000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83A"/>
                </a:solidFill>
                <a:latin typeface="Arial"/>
                <a:ea typeface="Arial"/>
                <a:cs typeface="Arial"/>
              </a:defRPr>
            </a:defPPr>
            <a:lvl1pPr>
              <a:defRPr sz="3225" b="1">
                <a:solidFill>
                  <a:srgbClr val="15383A"/>
                </a:solidFill>
                <a:latin typeface="Arial"/>
                <a:ea typeface="Arial"/>
                <a:cs typeface="Arial"/>
              </a:defRPr>
            </a:lvl1pPr>
            <a:lvl2pPr>
              <a:defRPr sz="3225" b="1">
                <a:solidFill>
                  <a:srgbClr val="15383A"/>
                </a:solidFill>
                <a:latin typeface="Arial"/>
                <a:ea typeface="Arial"/>
                <a:cs typeface="Arial"/>
              </a:defRPr>
            </a:lvl2pPr>
            <a:lvl3pPr>
              <a:defRPr sz="3225" b="1">
                <a:solidFill>
                  <a:srgbClr val="15383A"/>
                </a:solidFill>
                <a:latin typeface="Arial"/>
                <a:ea typeface="Arial"/>
                <a:cs typeface="Arial"/>
              </a:defRPr>
            </a:lvl3pPr>
            <a:lvl4pPr>
              <a:defRPr sz="3225" b="1">
                <a:solidFill>
                  <a:srgbClr val="15383A"/>
                </a:solidFill>
                <a:latin typeface="Arial"/>
                <a:ea typeface="Arial"/>
                <a:cs typeface="Arial"/>
              </a:defRPr>
            </a:lvl4pPr>
            <a:lvl5pPr>
              <a:defRPr sz="3225" b="1">
                <a:solidFill>
                  <a:srgbClr val="15383A"/>
                </a:solidFill>
                <a:latin typeface="Arial"/>
                <a:ea typeface="Arial"/>
                <a:cs typeface="Arial"/>
              </a:defRPr>
            </a:lvl5pPr>
            <a:lvl6pPr>
              <a:defRPr sz="3225" b="1">
                <a:solidFill>
                  <a:srgbClr val="15383A"/>
                </a:solidFill>
                <a:latin typeface="Arial"/>
                <a:ea typeface="Arial"/>
                <a:cs typeface="Arial"/>
              </a:defRPr>
            </a:lvl6pPr>
            <a:lvl7pPr>
              <a:defRPr sz="3225" b="1">
                <a:solidFill>
                  <a:srgbClr val="15383A"/>
                </a:solidFill>
                <a:latin typeface="Arial"/>
                <a:ea typeface="Arial"/>
                <a:cs typeface="Arial"/>
              </a:defRPr>
            </a:lvl7pPr>
            <a:lvl8pPr>
              <a:defRPr sz="3225" b="1">
                <a:solidFill>
                  <a:srgbClr val="15383A"/>
                </a:solidFill>
                <a:latin typeface="Arial"/>
                <a:ea typeface="Arial"/>
                <a:cs typeface="Arial"/>
              </a:defRPr>
            </a:lvl8pPr>
            <a:lvl9pPr>
              <a:defRPr sz="3225" b="1">
                <a:solidFill>
                  <a:srgbClr val="15383A"/>
                </a:solidFill>
                <a:latin typeface="Arial"/>
                <a:ea typeface="Arial"/>
                <a:cs typeface="Arial"/>
              </a:defRPr>
            </a:lvl9pPr>
          </a:lstStyle>
          <a:p xmlns:a="http://schemas.openxmlformats.org/drawingml/2006/main">
            <a:pPr>
              <a:defRPr sz="3225" b="1">
                <a:solidFill>
                  <a:srgbClr val="15383A"/>
                </a:solidFill>
                <a:latin typeface="Arial"/>
                <a:ea typeface="Arial"/>
                <a:cs typeface="Arial"/>
              </a:defRPr>
            </a:pPr>
            <a:r>
              <a:rPr sz="3225" b="1">
                <a:solidFill>
                  <a:srgbClr val="15383A"/>
                </a:solidFill>
                <a:latin typeface="Arial"/>
                <a:ea typeface="Arial"/>
                <a:cs typeface="Arial"/>
              </a:rPr>
              <a:t>Inverse PINN on historical pelt data</a:t>
            </a:r>
          </a:p>
        </p:txBody>
      </p:sp>
      <p:sp>
        <p:nvSpPr>
          <p:cNvPr id="2" name="footer">
            <a:extLst xmlns:a="http://schemas.openxmlformats.org/drawingml/2006/main">
              <a:ext uri="{FF2B5EF4-FFF2-40B4-BE49-F238E27FC236}">
                <a16:creationId xmlns:a16="http://schemas.microsoft.com/office/drawing/2014/main" id="{7182B8DA-E581-4600-B6A7-C58C36398BF2}"/>
              </a:ext>
            </a:extLst>
          </p:cNvPr>
          <p:cNvSpPr>
            <a:spLocks xmlns:a="http://schemas.openxmlformats.org/drawingml/2006/main" noGrp="1"/>
          </p:cNvSpPr>
          <p:nvPr/>
        </p:nvSpPr>
        <p:spPr>
          <a:xfrm xmlns:a="http://schemas.openxmlformats.org/drawingml/2006/main">
            <a:off x="609600" y="6353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D6263"/>
                </a:solidFill>
                <a:latin typeface="Arial"/>
                <a:ea typeface="Arial"/>
                <a:cs typeface="Arial"/>
              </a:defRPr>
            </a:defPPr>
            <a:lvl1pPr>
              <a:defRPr sz="1350" b="0">
                <a:solidFill>
                  <a:srgbClr val="4D6263"/>
                </a:solidFill>
                <a:latin typeface="Arial"/>
                <a:ea typeface="Arial"/>
                <a:cs typeface="Arial"/>
              </a:defRPr>
            </a:lvl1pPr>
            <a:lvl2pPr>
              <a:defRPr sz="1350" b="0">
                <a:solidFill>
                  <a:srgbClr val="4D6263"/>
                </a:solidFill>
                <a:latin typeface="Arial"/>
                <a:ea typeface="Arial"/>
                <a:cs typeface="Arial"/>
              </a:defRPr>
            </a:lvl2pPr>
            <a:lvl3pPr>
              <a:defRPr sz="1350" b="0">
                <a:solidFill>
                  <a:srgbClr val="4D6263"/>
                </a:solidFill>
                <a:latin typeface="Arial"/>
                <a:ea typeface="Arial"/>
                <a:cs typeface="Arial"/>
              </a:defRPr>
            </a:lvl3pPr>
            <a:lvl4pPr>
              <a:defRPr sz="1350" b="0">
                <a:solidFill>
                  <a:srgbClr val="4D6263"/>
                </a:solidFill>
                <a:latin typeface="Arial"/>
                <a:ea typeface="Arial"/>
                <a:cs typeface="Arial"/>
              </a:defRPr>
            </a:lvl4pPr>
            <a:lvl5pPr>
              <a:defRPr sz="1350" b="0">
                <a:solidFill>
                  <a:srgbClr val="4D6263"/>
                </a:solidFill>
                <a:latin typeface="Arial"/>
                <a:ea typeface="Arial"/>
                <a:cs typeface="Arial"/>
              </a:defRPr>
            </a:lvl5pPr>
            <a:lvl6pPr>
              <a:defRPr sz="1350" b="0">
                <a:solidFill>
                  <a:srgbClr val="4D6263"/>
                </a:solidFill>
                <a:latin typeface="Arial"/>
                <a:ea typeface="Arial"/>
                <a:cs typeface="Arial"/>
              </a:defRPr>
            </a:lvl6pPr>
            <a:lvl7pPr>
              <a:defRPr sz="1350" b="0">
                <a:solidFill>
                  <a:srgbClr val="4D6263"/>
                </a:solidFill>
                <a:latin typeface="Arial"/>
                <a:ea typeface="Arial"/>
                <a:cs typeface="Arial"/>
              </a:defRPr>
            </a:lvl7pPr>
            <a:lvl8pPr>
              <a:defRPr sz="1350" b="0">
                <a:solidFill>
                  <a:srgbClr val="4D6263"/>
                </a:solidFill>
                <a:latin typeface="Arial"/>
                <a:ea typeface="Arial"/>
                <a:cs typeface="Arial"/>
              </a:defRPr>
            </a:lvl8pPr>
            <a:lvl9pPr>
              <a:defRPr sz="1350" b="0">
                <a:solidFill>
                  <a:srgbClr val="4D6263"/>
                </a:solidFill>
                <a:latin typeface="Arial"/>
                <a:ea typeface="Arial"/>
                <a:cs typeface="Arial"/>
              </a:defRPr>
            </a:lvl9pPr>
          </a:lstStyle>
          <a:p xmlns:a="http://schemas.openxmlformats.org/drawingml/2006/main">
            <a:pPr>
              <a:defRPr sz="1350" b="0">
                <a:solidFill>
                  <a:srgbClr val="4D6263"/>
                </a:solidFill>
                <a:latin typeface="Arial"/>
                <a:ea typeface="Arial"/>
                <a:cs typeface="Arial"/>
              </a:defRPr>
            </a:pPr>
            <a:r>
              <a:rPr sz="1350" b="0">
                <a:solidFill>
                  <a:srgbClr val="4D6263"/>
                </a:solidFill>
                <a:latin typeface="Arial"/>
                <a:ea typeface="Arial"/>
                <a:cs typeface="Arial"/>
              </a:rPr>
              <a:t>Yash, MAC F314     1</a:t>
            </a:r>
          </a:p>
        </p:txBody>
      </p:sp>
      <p:sp>
        <p:nvSpPr>
          <p:cNvPr id="3" name="equations">
            <a:extLst xmlns:a="http://schemas.openxmlformats.org/drawingml/2006/main">
              <a:ext uri="{FF2B5EF4-FFF2-40B4-BE49-F238E27FC236}">
                <a16:creationId xmlns:a16="http://schemas.microsoft.com/office/drawing/2014/main" id="{6B79BEFC-BB68-489B-B1AE-366DD2D83580}"/>
              </a:ext>
            </a:extLst>
          </p:cNvPr>
          <p:cNvSpPr>
            <a:spLocks xmlns:a="http://schemas.openxmlformats.org/drawingml/2006/main" noGrp="1"/>
          </p:cNvSpPr>
          <p:nvPr/>
        </p:nvSpPr>
        <p:spPr>
          <a:xfrm xmlns:a="http://schemas.openxmlformats.org/drawingml/2006/main">
            <a:off x="609600" y="1381125"/>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5383A"/>
                </a:solidFill>
                <a:latin typeface="Arial"/>
                <a:ea typeface="Arial"/>
                <a:cs typeface="Arial"/>
              </a:defRPr>
            </a:defPPr>
            <a:lvl1pPr>
              <a:defRPr sz="2625" b="0">
                <a:solidFill>
                  <a:srgbClr val="15383A"/>
                </a:solidFill>
                <a:latin typeface="Arial"/>
                <a:ea typeface="Arial"/>
                <a:cs typeface="Arial"/>
              </a:defRPr>
            </a:lvl1pPr>
            <a:lvl2pPr>
              <a:defRPr sz="2625" b="0">
                <a:solidFill>
                  <a:srgbClr val="15383A"/>
                </a:solidFill>
                <a:latin typeface="Arial"/>
                <a:ea typeface="Arial"/>
                <a:cs typeface="Arial"/>
              </a:defRPr>
            </a:lvl2pPr>
            <a:lvl3pPr>
              <a:defRPr sz="2625" b="0">
                <a:solidFill>
                  <a:srgbClr val="15383A"/>
                </a:solidFill>
                <a:latin typeface="Arial"/>
                <a:ea typeface="Arial"/>
                <a:cs typeface="Arial"/>
              </a:defRPr>
            </a:lvl3pPr>
            <a:lvl4pPr>
              <a:defRPr sz="2625" b="0">
                <a:solidFill>
                  <a:srgbClr val="15383A"/>
                </a:solidFill>
                <a:latin typeface="Arial"/>
                <a:ea typeface="Arial"/>
                <a:cs typeface="Arial"/>
              </a:defRPr>
            </a:lvl4pPr>
            <a:lvl5pPr>
              <a:defRPr sz="2625" b="0">
                <a:solidFill>
                  <a:srgbClr val="15383A"/>
                </a:solidFill>
                <a:latin typeface="Arial"/>
                <a:ea typeface="Arial"/>
                <a:cs typeface="Arial"/>
              </a:defRPr>
            </a:lvl5pPr>
            <a:lvl6pPr>
              <a:defRPr sz="2625" b="0">
                <a:solidFill>
                  <a:srgbClr val="15383A"/>
                </a:solidFill>
                <a:latin typeface="Arial"/>
                <a:ea typeface="Arial"/>
                <a:cs typeface="Arial"/>
              </a:defRPr>
            </a:lvl6pPr>
            <a:lvl7pPr>
              <a:defRPr sz="2625" b="0">
                <a:solidFill>
                  <a:srgbClr val="15383A"/>
                </a:solidFill>
                <a:latin typeface="Arial"/>
                <a:ea typeface="Arial"/>
                <a:cs typeface="Arial"/>
              </a:defRPr>
            </a:lvl7pPr>
            <a:lvl8pPr>
              <a:defRPr sz="2625" b="0">
                <a:solidFill>
                  <a:srgbClr val="15383A"/>
                </a:solidFill>
                <a:latin typeface="Arial"/>
                <a:ea typeface="Arial"/>
                <a:cs typeface="Arial"/>
              </a:defRPr>
            </a:lvl8pPr>
            <a:lvl9pPr>
              <a:defRPr sz="2625" b="0">
                <a:solidFill>
                  <a:srgbClr val="15383A"/>
                </a:solidFill>
                <a:latin typeface="Arial"/>
                <a:ea typeface="Arial"/>
                <a:cs typeface="Arial"/>
              </a:defRPr>
            </a:lvl9pPr>
          </a:lstStyle>
          <a:p xmlns:a="http://schemas.openxmlformats.org/drawingml/2006/main">
            <a:pPr>
              <a:defRPr sz="2625" b="0">
                <a:solidFill>
                  <a:srgbClr val="15383A"/>
                </a:solidFill>
                <a:latin typeface="Arial"/>
                <a:ea typeface="Arial"/>
                <a:cs typeface="Arial"/>
              </a:defRPr>
            </a:pPr>
            <a:r>
              <a:rPr sz="2625" b="0">
                <a:solidFill>
                  <a:srgbClr val="15383A"/>
                </a:solidFill>
                <a:latin typeface="Arial"/>
                <a:ea typeface="Arial"/>
                <a:cs typeface="Arial"/>
              </a:rPr>
              <a:t>dH/dt = rH(1 − H/K) − aHP/(b + H)</a:t>
            </a:r>
          </a:p>
          <a:p xmlns:a="http://schemas.openxmlformats.org/drawingml/2006/main">
            <a:pPr>
              <a:defRPr sz="2625" b="0">
                <a:solidFill>
                  <a:srgbClr val="15383A"/>
                </a:solidFill>
                <a:latin typeface="Arial"/>
                <a:ea typeface="Arial"/>
                <a:cs typeface="Arial"/>
              </a:defRPr>
            </a:pPr>
            <a:r>
              <a:rPr sz="2625" b="0">
                <a:solidFill>
                  <a:srgbClr val="15383A"/>
                </a:solidFill>
                <a:latin typeface="Arial"/>
                <a:ea typeface="Arial"/>
                <a:cs typeface="Arial"/>
              </a:rPr>
              <a:t>dP/dt = eaHP/(b + H) − mP</a:t>
            </a:r>
          </a:p>
        </p:txBody>
      </p:sp>
      <p:sp>
        <p:nvSpPr>
          <p:cNvPr id="4" name="loss">
            <a:extLst xmlns:a="http://schemas.openxmlformats.org/drawingml/2006/main">
              <a:ext uri="{FF2B5EF4-FFF2-40B4-BE49-F238E27FC236}">
                <a16:creationId xmlns:a16="http://schemas.microsoft.com/office/drawing/2014/main" id="{5A1102A6-B34A-44E4-A258-A0C983B28AD2}"/>
              </a:ext>
            </a:extLst>
          </p:cNvPr>
          <p:cNvSpPr>
            <a:spLocks xmlns:a="http://schemas.openxmlformats.org/drawingml/2006/main" noGrp="1"/>
          </p:cNvSpPr>
          <p:nvPr/>
        </p:nvSpPr>
        <p:spPr>
          <a:xfrm xmlns:a="http://schemas.openxmlformats.org/drawingml/2006/main">
            <a:off x="609600" y="2762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97278"/>
                </a:solidFill>
                <a:latin typeface="Arial"/>
                <a:ea typeface="Arial"/>
                <a:cs typeface="Arial"/>
              </a:defRPr>
            </a:defPPr>
            <a:lvl1pPr>
              <a:defRPr sz="2325" b="1">
                <a:solidFill>
                  <a:srgbClr val="197278"/>
                </a:solidFill>
                <a:latin typeface="Arial"/>
                <a:ea typeface="Arial"/>
                <a:cs typeface="Arial"/>
              </a:defRPr>
            </a:lvl1pPr>
            <a:lvl2pPr>
              <a:defRPr sz="2325" b="1">
                <a:solidFill>
                  <a:srgbClr val="197278"/>
                </a:solidFill>
                <a:latin typeface="Arial"/>
                <a:ea typeface="Arial"/>
                <a:cs typeface="Arial"/>
              </a:defRPr>
            </a:lvl2pPr>
            <a:lvl3pPr>
              <a:defRPr sz="2325" b="1">
                <a:solidFill>
                  <a:srgbClr val="197278"/>
                </a:solidFill>
                <a:latin typeface="Arial"/>
                <a:ea typeface="Arial"/>
                <a:cs typeface="Arial"/>
              </a:defRPr>
            </a:lvl3pPr>
            <a:lvl4pPr>
              <a:defRPr sz="2325" b="1">
                <a:solidFill>
                  <a:srgbClr val="197278"/>
                </a:solidFill>
                <a:latin typeface="Arial"/>
                <a:ea typeface="Arial"/>
                <a:cs typeface="Arial"/>
              </a:defRPr>
            </a:lvl4pPr>
            <a:lvl5pPr>
              <a:defRPr sz="2325" b="1">
                <a:solidFill>
                  <a:srgbClr val="197278"/>
                </a:solidFill>
                <a:latin typeface="Arial"/>
                <a:ea typeface="Arial"/>
                <a:cs typeface="Arial"/>
              </a:defRPr>
            </a:lvl5pPr>
            <a:lvl6pPr>
              <a:defRPr sz="2325" b="1">
                <a:solidFill>
                  <a:srgbClr val="197278"/>
                </a:solidFill>
                <a:latin typeface="Arial"/>
                <a:ea typeface="Arial"/>
                <a:cs typeface="Arial"/>
              </a:defRPr>
            </a:lvl6pPr>
            <a:lvl7pPr>
              <a:defRPr sz="2325" b="1">
                <a:solidFill>
                  <a:srgbClr val="197278"/>
                </a:solidFill>
                <a:latin typeface="Arial"/>
                <a:ea typeface="Arial"/>
                <a:cs typeface="Arial"/>
              </a:defRPr>
            </a:lvl7pPr>
            <a:lvl8pPr>
              <a:defRPr sz="2325" b="1">
                <a:solidFill>
                  <a:srgbClr val="197278"/>
                </a:solidFill>
                <a:latin typeface="Arial"/>
                <a:ea typeface="Arial"/>
                <a:cs typeface="Arial"/>
              </a:defRPr>
            </a:lvl8pPr>
            <a:lvl9pPr>
              <a:defRPr sz="2325" b="1">
                <a:solidFill>
                  <a:srgbClr val="197278"/>
                </a:solidFill>
                <a:latin typeface="Arial"/>
                <a:ea typeface="Arial"/>
                <a:cs typeface="Arial"/>
              </a:defRPr>
            </a:lvl9pPr>
          </a:lstStyle>
          <a:p xmlns:a="http://schemas.openxmlformats.org/drawingml/2006/main">
            <a:pPr>
              <a:defRPr sz="2325" b="1">
                <a:solidFill>
                  <a:srgbClr val="197278"/>
                </a:solidFill>
                <a:latin typeface="Arial"/>
                <a:ea typeface="Arial"/>
                <a:cs typeface="Arial"/>
              </a:defRPr>
            </a:pPr>
            <a:r>
              <a:rPr sz="2325" b="1">
                <a:solidFill>
                  <a:srgbClr val="197278"/>
                </a:solidFill>
                <a:latin typeface="Arial"/>
                <a:ea typeface="Arial"/>
                <a:cs typeface="Arial"/>
              </a:rPr>
              <a:t>Loss = data error + 10 × ODE error + 10 × initial error</a:t>
            </a:r>
          </a:p>
        </p:txBody>
      </p:sp>
      <p:sp>
        <p:nvSpPr>
          <p:cNvPr id="5" name="network">
            <a:extLst xmlns:a="http://schemas.openxmlformats.org/drawingml/2006/main">
              <a:ext uri="{FF2B5EF4-FFF2-40B4-BE49-F238E27FC236}">
                <a16:creationId xmlns:a16="http://schemas.microsoft.com/office/drawing/2014/main" id="{D1F7D722-EB79-4119-AE31-E9D9A5DB1D2F}"/>
              </a:ext>
            </a:extLst>
          </p:cNvPr>
          <p:cNvSpPr>
            <a:spLocks xmlns:a="http://schemas.openxmlformats.org/drawingml/2006/main" noGrp="1"/>
          </p:cNvSpPr>
          <p:nvPr/>
        </p:nvSpPr>
        <p:spPr>
          <a:xfrm xmlns:a="http://schemas.openxmlformats.org/drawingml/2006/main">
            <a:off x="609600" y="3714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A"/>
                </a:solidFill>
                <a:latin typeface="Arial"/>
                <a:ea typeface="Arial"/>
                <a:cs typeface="Arial"/>
              </a:defRPr>
            </a:defPPr>
            <a:lvl1pPr>
              <a:defRPr sz="2025" b="0">
                <a:solidFill>
                  <a:srgbClr val="15383A"/>
                </a:solidFill>
                <a:latin typeface="Arial"/>
                <a:ea typeface="Arial"/>
                <a:cs typeface="Arial"/>
              </a:defRPr>
            </a:lvl1pPr>
            <a:lvl2pPr>
              <a:defRPr sz="2025" b="0">
                <a:solidFill>
                  <a:srgbClr val="15383A"/>
                </a:solidFill>
                <a:latin typeface="Arial"/>
                <a:ea typeface="Arial"/>
                <a:cs typeface="Arial"/>
              </a:defRPr>
            </a:lvl2pPr>
            <a:lvl3pPr>
              <a:defRPr sz="2025" b="0">
                <a:solidFill>
                  <a:srgbClr val="15383A"/>
                </a:solidFill>
                <a:latin typeface="Arial"/>
                <a:ea typeface="Arial"/>
                <a:cs typeface="Arial"/>
              </a:defRPr>
            </a:lvl3pPr>
            <a:lvl4pPr>
              <a:defRPr sz="2025" b="0">
                <a:solidFill>
                  <a:srgbClr val="15383A"/>
                </a:solidFill>
                <a:latin typeface="Arial"/>
                <a:ea typeface="Arial"/>
                <a:cs typeface="Arial"/>
              </a:defRPr>
            </a:lvl4pPr>
            <a:lvl5pPr>
              <a:defRPr sz="2025" b="0">
                <a:solidFill>
                  <a:srgbClr val="15383A"/>
                </a:solidFill>
                <a:latin typeface="Arial"/>
                <a:ea typeface="Arial"/>
                <a:cs typeface="Arial"/>
              </a:defRPr>
            </a:lvl5pPr>
            <a:lvl6pPr>
              <a:defRPr sz="2025" b="0">
                <a:solidFill>
                  <a:srgbClr val="15383A"/>
                </a:solidFill>
                <a:latin typeface="Arial"/>
                <a:ea typeface="Arial"/>
                <a:cs typeface="Arial"/>
              </a:defRPr>
            </a:lvl6pPr>
            <a:lvl7pPr>
              <a:defRPr sz="2025" b="0">
                <a:solidFill>
                  <a:srgbClr val="15383A"/>
                </a:solidFill>
                <a:latin typeface="Arial"/>
                <a:ea typeface="Arial"/>
                <a:cs typeface="Arial"/>
              </a:defRPr>
            </a:lvl7pPr>
            <a:lvl8pPr>
              <a:defRPr sz="2025" b="0">
                <a:solidFill>
                  <a:srgbClr val="15383A"/>
                </a:solidFill>
                <a:latin typeface="Arial"/>
                <a:ea typeface="Arial"/>
                <a:cs typeface="Arial"/>
              </a:defRPr>
            </a:lvl8pPr>
            <a:lvl9pPr>
              <a:defRPr sz="2025" b="0">
                <a:solidFill>
                  <a:srgbClr val="15383A"/>
                </a:solidFill>
                <a:latin typeface="Arial"/>
                <a:ea typeface="Arial"/>
                <a:cs typeface="Arial"/>
              </a:defRPr>
            </a:lvl9pPr>
          </a:lstStyle>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Scaled time input, 3 × 48 tanh units, positive hare and lynx outputs</a:t>
            </a:r>
          </a:p>
        </p:txBody>
      </p:sp>
      <p:sp>
        <p:nvSpPr>
          <p:cNvPr id="6" name="fit">
            <a:extLst xmlns:a="http://schemas.openxmlformats.org/drawingml/2006/main">
              <a:ext uri="{FF2B5EF4-FFF2-40B4-BE49-F238E27FC236}">
                <a16:creationId xmlns:a16="http://schemas.microsoft.com/office/drawing/2014/main" id="{69BC2B37-BC2C-4846-B4B2-C87E7DA3F8F5}"/>
              </a:ext>
            </a:extLst>
          </p:cNvPr>
          <p:cNvSpPr>
            <a:spLocks xmlns:a="http://schemas.openxmlformats.org/drawingml/2006/main" noGrp="1"/>
          </p:cNvSpPr>
          <p:nvPr/>
        </p:nvSpPr>
        <p:spPr>
          <a:xfrm xmlns:a="http://schemas.openxmlformats.org/drawingml/2006/main">
            <a:off x="609600" y="44767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A"/>
                </a:solidFill>
                <a:latin typeface="Arial"/>
                <a:ea typeface="Arial"/>
                <a:cs typeface="Arial"/>
              </a:defRPr>
            </a:defPPr>
            <a:lvl1pPr>
              <a:defRPr sz="2025" b="0">
                <a:solidFill>
                  <a:srgbClr val="15383A"/>
                </a:solidFill>
                <a:latin typeface="Arial"/>
                <a:ea typeface="Arial"/>
                <a:cs typeface="Arial"/>
              </a:defRPr>
            </a:lvl1pPr>
            <a:lvl2pPr>
              <a:defRPr sz="2025" b="0">
                <a:solidFill>
                  <a:srgbClr val="15383A"/>
                </a:solidFill>
                <a:latin typeface="Arial"/>
                <a:ea typeface="Arial"/>
                <a:cs typeface="Arial"/>
              </a:defRPr>
            </a:lvl2pPr>
            <a:lvl3pPr>
              <a:defRPr sz="2025" b="0">
                <a:solidFill>
                  <a:srgbClr val="15383A"/>
                </a:solidFill>
                <a:latin typeface="Arial"/>
                <a:ea typeface="Arial"/>
                <a:cs typeface="Arial"/>
              </a:defRPr>
            </a:lvl3pPr>
            <a:lvl4pPr>
              <a:defRPr sz="2025" b="0">
                <a:solidFill>
                  <a:srgbClr val="15383A"/>
                </a:solidFill>
                <a:latin typeface="Arial"/>
                <a:ea typeface="Arial"/>
                <a:cs typeface="Arial"/>
              </a:defRPr>
            </a:lvl4pPr>
            <a:lvl5pPr>
              <a:defRPr sz="2025" b="0">
                <a:solidFill>
                  <a:srgbClr val="15383A"/>
                </a:solidFill>
                <a:latin typeface="Arial"/>
                <a:ea typeface="Arial"/>
                <a:cs typeface="Arial"/>
              </a:defRPr>
            </a:lvl5pPr>
            <a:lvl6pPr>
              <a:defRPr sz="2025" b="0">
                <a:solidFill>
                  <a:srgbClr val="15383A"/>
                </a:solidFill>
                <a:latin typeface="Arial"/>
                <a:ea typeface="Arial"/>
                <a:cs typeface="Arial"/>
              </a:defRPr>
            </a:lvl6pPr>
            <a:lvl7pPr>
              <a:defRPr sz="2025" b="0">
                <a:solidFill>
                  <a:srgbClr val="15383A"/>
                </a:solidFill>
                <a:latin typeface="Arial"/>
                <a:ea typeface="Arial"/>
                <a:cs typeface="Arial"/>
              </a:defRPr>
            </a:lvl7pPr>
            <a:lvl8pPr>
              <a:defRPr sz="2025" b="0">
                <a:solidFill>
                  <a:srgbClr val="15383A"/>
                </a:solidFill>
                <a:latin typeface="Arial"/>
                <a:ea typeface="Arial"/>
                <a:cs typeface="Arial"/>
              </a:defRPr>
            </a:lvl8pPr>
            <a:lvl9pPr>
              <a:defRPr sz="2025" b="0">
                <a:solidFill>
                  <a:srgbClr val="15383A"/>
                </a:solidFill>
                <a:latin typeface="Arial"/>
                <a:ea typeface="Arial"/>
                <a:cs typeface="Arial"/>
              </a:defRPr>
            </a:lvl9pPr>
          </a:lstStyle>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All six positive coefficients fitted to 1900–1915, across three seeds</a:t>
            </a:r>
          </a:p>
        </p:txBody>
      </p:sp>
      <p:sp>
        <p:nvSpPr>
          <p:cNvPr id="7" name="forecast">
            <a:extLst xmlns:a="http://schemas.openxmlformats.org/drawingml/2006/main">
              <a:ext uri="{FF2B5EF4-FFF2-40B4-BE49-F238E27FC236}">
                <a16:creationId xmlns:a16="http://schemas.microsoft.com/office/drawing/2014/main" id="{DA299D05-647E-495B-8565-8FE97D61BD4C}"/>
              </a:ext>
            </a:extLst>
          </p:cNvPr>
          <p:cNvSpPr>
            <a:spLocks xmlns:a="http://schemas.openxmlformats.org/drawingml/2006/main" noGrp="1"/>
          </p:cNvSpPr>
          <p:nvPr/>
        </p:nvSpPr>
        <p:spPr>
          <a:xfrm xmlns:a="http://schemas.openxmlformats.org/drawingml/2006/main">
            <a:off x="609600" y="5238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A"/>
                </a:solidFill>
                <a:latin typeface="Arial"/>
                <a:ea typeface="Arial"/>
                <a:cs typeface="Arial"/>
              </a:defRPr>
            </a:defPPr>
            <a:lvl1pPr>
              <a:defRPr sz="2025" b="0">
                <a:solidFill>
                  <a:srgbClr val="15383A"/>
                </a:solidFill>
                <a:latin typeface="Arial"/>
                <a:ea typeface="Arial"/>
                <a:cs typeface="Arial"/>
              </a:defRPr>
            </a:lvl1pPr>
            <a:lvl2pPr>
              <a:defRPr sz="2025" b="0">
                <a:solidFill>
                  <a:srgbClr val="15383A"/>
                </a:solidFill>
                <a:latin typeface="Arial"/>
                <a:ea typeface="Arial"/>
                <a:cs typeface="Arial"/>
              </a:defRPr>
            </a:lvl2pPr>
            <a:lvl3pPr>
              <a:defRPr sz="2025" b="0">
                <a:solidFill>
                  <a:srgbClr val="15383A"/>
                </a:solidFill>
                <a:latin typeface="Arial"/>
                <a:ea typeface="Arial"/>
                <a:cs typeface="Arial"/>
              </a:defRPr>
            </a:lvl3pPr>
            <a:lvl4pPr>
              <a:defRPr sz="2025" b="0">
                <a:solidFill>
                  <a:srgbClr val="15383A"/>
                </a:solidFill>
                <a:latin typeface="Arial"/>
                <a:ea typeface="Arial"/>
                <a:cs typeface="Arial"/>
              </a:defRPr>
            </a:lvl4pPr>
            <a:lvl5pPr>
              <a:defRPr sz="2025" b="0">
                <a:solidFill>
                  <a:srgbClr val="15383A"/>
                </a:solidFill>
                <a:latin typeface="Arial"/>
                <a:ea typeface="Arial"/>
                <a:cs typeface="Arial"/>
              </a:defRPr>
            </a:lvl5pPr>
            <a:lvl6pPr>
              <a:defRPr sz="2025" b="0">
                <a:solidFill>
                  <a:srgbClr val="15383A"/>
                </a:solidFill>
                <a:latin typeface="Arial"/>
                <a:ea typeface="Arial"/>
                <a:cs typeface="Arial"/>
              </a:defRPr>
            </a:lvl6pPr>
            <a:lvl7pPr>
              <a:defRPr sz="2025" b="0">
                <a:solidFill>
                  <a:srgbClr val="15383A"/>
                </a:solidFill>
                <a:latin typeface="Arial"/>
                <a:ea typeface="Arial"/>
                <a:cs typeface="Arial"/>
              </a:defRPr>
            </a:lvl7pPr>
            <a:lvl8pPr>
              <a:defRPr sz="2025" b="0">
                <a:solidFill>
                  <a:srgbClr val="15383A"/>
                </a:solidFill>
                <a:latin typeface="Arial"/>
                <a:ea typeface="Arial"/>
                <a:cs typeface="Arial"/>
              </a:defRPr>
            </a:lvl8pPr>
            <a:lvl9pPr>
              <a:defRPr sz="2025" b="0">
                <a:solidFill>
                  <a:srgbClr val="15383A"/>
                </a:solidFill>
                <a:latin typeface="Arial"/>
                <a:ea typeface="Arial"/>
                <a:cs typeface="Arial"/>
              </a:defRPr>
            </a:lvl9pPr>
          </a:lstStyle>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Freeze parameters, then integrate the ODE from 1900 through 1920</a:t>
            </a:r>
          </a:p>
        </p:txBody>
      </p:sp>
    </p:spTree>
    <p:extLst>
      <p:ext uri="{BB962C8B-B14F-4D97-AF65-F5344CB8AC3E}">
        <p14:creationId xmlns:p14="http://schemas.microsoft.com/office/powerpoint/2010/main" val="5944599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DCD142A-EEC1-4968-BFDF-18FB09F7BD9F}"/>
              </a:ext>
            </a:extLst>
          </p:cNvPr>
          <p:cNvSpPr>
            <a:spLocks xmlns:a="http://schemas.openxmlformats.org/drawingml/2006/main" noGrp="1"/>
          </p:cNvSpPr>
          <p:nvPr/>
        </p:nvSpPr>
        <p:spPr>
          <a:xfrm xmlns:a="http://schemas.openxmlformats.org/drawingml/2006/main">
            <a:off x="609600" y="4000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83A"/>
                </a:solidFill>
                <a:latin typeface="Arial"/>
                <a:ea typeface="Arial"/>
                <a:cs typeface="Arial"/>
              </a:defRPr>
            </a:defPPr>
            <a:lvl1pPr>
              <a:defRPr sz="3225" b="1">
                <a:solidFill>
                  <a:srgbClr val="15383A"/>
                </a:solidFill>
                <a:latin typeface="Arial"/>
                <a:ea typeface="Arial"/>
                <a:cs typeface="Arial"/>
              </a:defRPr>
            </a:lvl1pPr>
            <a:lvl2pPr>
              <a:defRPr sz="3225" b="1">
                <a:solidFill>
                  <a:srgbClr val="15383A"/>
                </a:solidFill>
                <a:latin typeface="Arial"/>
                <a:ea typeface="Arial"/>
                <a:cs typeface="Arial"/>
              </a:defRPr>
            </a:lvl2pPr>
            <a:lvl3pPr>
              <a:defRPr sz="3225" b="1">
                <a:solidFill>
                  <a:srgbClr val="15383A"/>
                </a:solidFill>
                <a:latin typeface="Arial"/>
                <a:ea typeface="Arial"/>
                <a:cs typeface="Arial"/>
              </a:defRPr>
            </a:lvl3pPr>
            <a:lvl4pPr>
              <a:defRPr sz="3225" b="1">
                <a:solidFill>
                  <a:srgbClr val="15383A"/>
                </a:solidFill>
                <a:latin typeface="Arial"/>
                <a:ea typeface="Arial"/>
                <a:cs typeface="Arial"/>
              </a:defRPr>
            </a:lvl4pPr>
            <a:lvl5pPr>
              <a:defRPr sz="3225" b="1">
                <a:solidFill>
                  <a:srgbClr val="15383A"/>
                </a:solidFill>
                <a:latin typeface="Arial"/>
                <a:ea typeface="Arial"/>
                <a:cs typeface="Arial"/>
              </a:defRPr>
            </a:lvl5pPr>
            <a:lvl6pPr>
              <a:defRPr sz="3225" b="1">
                <a:solidFill>
                  <a:srgbClr val="15383A"/>
                </a:solidFill>
                <a:latin typeface="Arial"/>
                <a:ea typeface="Arial"/>
                <a:cs typeface="Arial"/>
              </a:defRPr>
            </a:lvl6pPr>
            <a:lvl7pPr>
              <a:defRPr sz="3225" b="1">
                <a:solidFill>
                  <a:srgbClr val="15383A"/>
                </a:solidFill>
                <a:latin typeface="Arial"/>
                <a:ea typeface="Arial"/>
                <a:cs typeface="Arial"/>
              </a:defRPr>
            </a:lvl7pPr>
            <a:lvl8pPr>
              <a:defRPr sz="3225" b="1">
                <a:solidFill>
                  <a:srgbClr val="15383A"/>
                </a:solidFill>
                <a:latin typeface="Arial"/>
                <a:ea typeface="Arial"/>
                <a:cs typeface="Arial"/>
              </a:defRPr>
            </a:lvl8pPr>
            <a:lvl9pPr>
              <a:defRPr sz="3225" b="1">
                <a:solidFill>
                  <a:srgbClr val="15383A"/>
                </a:solidFill>
                <a:latin typeface="Arial"/>
                <a:ea typeface="Arial"/>
                <a:cs typeface="Arial"/>
              </a:defRPr>
            </a:lvl9pPr>
          </a:lstStyle>
          <a:p xmlns:a="http://schemas.openxmlformats.org/drawingml/2006/main">
            <a:pPr>
              <a:defRPr sz="3225" b="1">
                <a:solidFill>
                  <a:srgbClr val="15383A"/>
                </a:solidFill>
                <a:latin typeface="Arial"/>
                <a:ea typeface="Arial"/>
                <a:cs typeface="Arial"/>
              </a:defRPr>
            </a:pPr>
            <a:r>
              <a:rPr sz="3225" b="1">
                <a:solidFill>
                  <a:srgbClr val="15383A"/>
                </a:solidFill>
                <a:latin typeface="Arial"/>
                <a:ea typeface="Arial"/>
                <a:cs typeface="Arial"/>
              </a:rPr>
              <a:t>Forecast comparison and parameter sensitivity</a:t>
            </a:r>
          </a:p>
        </p:txBody>
      </p:sp>
      <p:sp>
        <p:nvSpPr>
          <p:cNvPr id="2" name="footer">
            <a:extLst xmlns:a="http://schemas.openxmlformats.org/drawingml/2006/main">
              <a:ext uri="{FF2B5EF4-FFF2-40B4-BE49-F238E27FC236}">
                <a16:creationId xmlns:a16="http://schemas.microsoft.com/office/drawing/2014/main" id="{64EEC005-E5C8-4D1E-9460-401FDF9C013E}"/>
              </a:ext>
            </a:extLst>
          </p:cNvPr>
          <p:cNvSpPr>
            <a:spLocks xmlns:a="http://schemas.openxmlformats.org/drawingml/2006/main" noGrp="1"/>
          </p:cNvSpPr>
          <p:nvPr/>
        </p:nvSpPr>
        <p:spPr>
          <a:xfrm xmlns:a="http://schemas.openxmlformats.org/drawingml/2006/main">
            <a:off x="609600" y="6353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D6263"/>
                </a:solidFill>
                <a:latin typeface="Arial"/>
                <a:ea typeface="Arial"/>
                <a:cs typeface="Arial"/>
              </a:defRPr>
            </a:defPPr>
            <a:lvl1pPr>
              <a:defRPr sz="1350" b="0">
                <a:solidFill>
                  <a:srgbClr val="4D6263"/>
                </a:solidFill>
                <a:latin typeface="Arial"/>
                <a:ea typeface="Arial"/>
                <a:cs typeface="Arial"/>
              </a:defRPr>
            </a:lvl1pPr>
            <a:lvl2pPr>
              <a:defRPr sz="1350" b="0">
                <a:solidFill>
                  <a:srgbClr val="4D6263"/>
                </a:solidFill>
                <a:latin typeface="Arial"/>
                <a:ea typeface="Arial"/>
                <a:cs typeface="Arial"/>
              </a:defRPr>
            </a:lvl2pPr>
            <a:lvl3pPr>
              <a:defRPr sz="1350" b="0">
                <a:solidFill>
                  <a:srgbClr val="4D6263"/>
                </a:solidFill>
                <a:latin typeface="Arial"/>
                <a:ea typeface="Arial"/>
                <a:cs typeface="Arial"/>
              </a:defRPr>
            </a:lvl3pPr>
            <a:lvl4pPr>
              <a:defRPr sz="1350" b="0">
                <a:solidFill>
                  <a:srgbClr val="4D6263"/>
                </a:solidFill>
                <a:latin typeface="Arial"/>
                <a:ea typeface="Arial"/>
                <a:cs typeface="Arial"/>
              </a:defRPr>
            </a:lvl4pPr>
            <a:lvl5pPr>
              <a:defRPr sz="1350" b="0">
                <a:solidFill>
                  <a:srgbClr val="4D6263"/>
                </a:solidFill>
                <a:latin typeface="Arial"/>
                <a:ea typeface="Arial"/>
                <a:cs typeface="Arial"/>
              </a:defRPr>
            </a:lvl5pPr>
            <a:lvl6pPr>
              <a:defRPr sz="1350" b="0">
                <a:solidFill>
                  <a:srgbClr val="4D6263"/>
                </a:solidFill>
                <a:latin typeface="Arial"/>
                <a:ea typeface="Arial"/>
                <a:cs typeface="Arial"/>
              </a:defRPr>
            </a:lvl6pPr>
            <a:lvl7pPr>
              <a:defRPr sz="1350" b="0">
                <a:solidFill>
                  <a:srgbClr val="4D6263"/>
                </a:solidFill>
                <a:latin typeface="Arial"/>
                <a:ea typeface="Arial"/>
                <a:cs typeface="Arial"/>
              </a:defRPr>
            </a:lvl7pPr>
            <a:lvl8pPr>
              <a:defRPr sz="1350" b="0">
                <a:solidFill>
                  <a:srgbClr val="4D6263"/>
                </a:solidFill>
                <a:latin typeface="Arial"/>
                <a:ea typeface="Arial"/>
                <a:cs typeface="Arial"/>
              </a:defRPr>
            </a:lvl8pPr>
            <a:lvl9pPr>
              <a:defRPr sz="1350" b="0">
                <a:solidFill>
                  <a:srgbClr val="4D6263"/>
                </a:solidFill>
                <a:latin typeface="Arial"/>
                <a:ea typeface="Arial"/>
                <a:cs typeface="Arial"/>
              </a:defRPr>
            </a:lvl9pPr>
          </a:lstStyle>
          <a:p xmlns:a="http://schemas.openxmlformats.org/drawingml/2006/main">
            <a:pPr>
              <a:defRPr sz="1350" b="0">
                <a:solidFill>
                  <a:srgbClr val="4D6263"/>
                </a:solidFill>
                <a:latin typeface="Arial"/>
                <a:ea typeface="Arial"/>
                <a:cs typeface="Arial"/>
              </a:defRPr>
            </a:pPr>
            <a:r>
              <a:rPr sz="1350" b="0">
                <a:solidFill>
                  <a:srgbClr val="4D6263"/>
                </a:solidFill>
                <a:latin typeface="Arial"/>
                <a:ea typeface="Arial"/>
                <a:cs typeface="Arial"/>
              </a:rPr>
              <a:t>Yash, MAC F314     2</a:t>
            </a:r>
          </a:p>
        </p:txBody>
      </p:sp>
      <p:sp>
        <p:nvSpPr>
          <p:cNvPr id="3" name="runs">
            <a:extLst xmlns:a="http://schemas.openxmlformats.org/drawingml/2006/main">
              <a:ext uri="{FF2B5EF4-FFF2-40B4-BE49-F238E27FC236}">
                <a16:creationId xmlns:a16="http://schemas.microsoft.com/office/drawing/2014/main" id="{44FD8073-36C4-469F-B0F6-4B589B45DD57}"/>
              </a:ext>
            </a:extLst>
          </p:cNvPr>
          <p:cNvSpPr>
            <a:spLocks xmlns:a="http://schemas.openxmlformats.org/drawingml/2006/main" noGrp="1"/>
          </p:cNvSpPr>
          <p:nvPr/>
        </p:nvSpPr>
        <p:spPr>
          <a:xfrm xmlns:a="http://schemas.openxmlformats.org/drawingml/2006/main">
            <a:off x="609600" y="1619250"/>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197278"/>
                </a:solidFill>
                <a:latin typeface="Arial"/>
                <a:ea typeface="Arial"/>
                <a:cs typeface="Arial"/>
              </a:defRPr>
            </a:defPPr>
            <a:lvl1pPr>
              <a:defRPr sz="4950" b="1">
                <a:solidFill>
                  <a:srgbClr val="197278"/>
                </a:solidFill>
                <a:latin typeface="Arial"/>
                <a:ea typeface="Arial"/>
                <a:cs typeface="Arial"/>
              </a:defRPr>
            </a:lvl1pPr>
            <a:lvl2pPr>
              <a:defRPr sz="4950" b="1">
                <a:solidFill>
                  <a:srgbClr val="197278"/>
                </a:solidFill>
                <a:latin typeface="Arial"/>
                <a:ea typeface="Arial"/>
                <a:cs typeface="Arial"/>
              </a:defRPr>
            </a:lvl2pPr>
            <a:lvl3pPr>
              <a:defRPr sz="4950" b="1">
                <a:solidFill>
                  <a:srgbClr val="197278"/>
                </a:solidFill>
                <a:latin typeface="Arial"/>
                <a:ea typeface="Arial"/>
                <a:cs typeface="Arial"/>
              </a:defRPr>
            </a:lvl3pPr>
            <a:lvl4pPr>
              <a:defRPr sz="4950" b="1">
                <a:solidFill>
                  <a:srgbClr val="197278"/>
                </a:solidFill>
                <a:latin typeface="Arial"/>
                <a:ea typeface="Arial"/>
                <a:cs typeface="Arial"/>
              </a:defRPr>
            </a:lvl4pPr>
            <a:lvl5pPr>
              <a:defRPr sz="4950" b="1">
                <a:solidFill>
                  <a:srgbClr val="197278"/>
                </a:solidFill>
                <a:latin typeface="Arial"/>
                <a:ea typeface="Arial"/>
                <a:cs typeface="Arial"/>
              </a:defRPr>
            </a:lvl5pPr>
            <a:lvl6pPr>
              <a:defRPr sz="4950" b="1">
                <a:solidFill>
                  <a:srgbClr val="197278"/>
                </a:solidFill>
                <a:latin typeface="Arial"/>
                <a:ea typeface="Arial"/>
                <a:cs typeface="Arial"/>
              </a:defRPr>
            </a:lvl6pPr>
            <a:lvl7pPr>
              <a:defRPr sz="4950" b="1">
                <a:solidFill>
                  <a:srgbClr val="197278"/>
                </a:solidFill>
                <a:latin typeface="Arial"/>
                <a:ea typeface="Arial"/>
                <a:cs typeface="Arial"/>
              </a:defRPr>
            </a:lvl7pPr>
            <a:lvl8pPr>
              <a:defRPr sz="4950" b="1">
                <a:solidFill>
                  <a:srgbClr val="197278"/>
                </a:solidFill>
                <a:latin typeface="Arial"/>
                <a:ea typeface="Arial"/>
                <a:cs typeface="Arial"/>
              </a:defRPr>
            </a:lvl8pPr>
            <a:lvl9pPr>
              <a:defRPr sz="4950" b="1">
                <a:solidFill>
                  <a:srgbClr val="197278"/>
                </a:solidFill>
                <a:latin typeface="Arial"/>
                <a:ea typeface="Arial"/>
                <a:cs typeface="Arial"/>
              </a:defRPr>
            </a:lvl9pPr>
          </a:lstStyle>
          <a:p xmlns:a="http://schemas.openxmlformats.org/drawingml/2006/main">
            <a:pPr>
              <a:defRPr sz="4950" b="1">
                <a:solidFill>
                  <a:srgbClr val="197278"/>
                </a:solidFill>
                <a:latin typeface="Arial"/>
                <a:ea typeface="Arial"/>
                <a:cs typeface="Arial"/>
              </a:defRPr>
            </a:pPr>
            <a:r>
              <a:rPr sz="4950" b="1">
                <a:solidFill>
                  <a:srgbClr val="197278"/>
                </a:solidFill>
                <a:latin typeface="Arial"/>
                <a:ea typeface="Arial"/>
                <a:cs typeface="Arial"/>
              </a:rPr>
              <a:t>13 runs</a:t>
            </a:r>
          </a:p>
        </p:txBody>
      </p:sp>
      <p:sp>
        <p:nvSpPr>
          <p:cNvPr id="4" name="evidence">
            <a:extLst xmlns:a="http://schemas.openxmlformats.org/drawingml/2006/main">
              <a:ext uri="{FF2B5EF4-FFF2-40B4-BE49-F238E27FC236}">
                <a16:creationId xmlns:a16="http://schemas.microsoft.com/office/drawing/2014/main" id="{09866658-BF7B-47C0-B1B9-3256449AED91}"/>
              </a:ext>
            </a:extLst>
          </p:cNvPr>
          <p:cNvSpPr>
            <a:spLocks xmlns:a="http://schemas.openxmlformats.org/drawingml/2006/main" noGrp="1"/>
          </p:cNvSpPr>
          <p:nvPr/>
        </p:nvSpPr>
        <p:spPr>
          <a:xfrm xmlns:a="http://schemas.openxmlformats.org/drawingml/2006/main">
            <a:off x="609600" y="2714625"/>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83A"/>
                </a:solidFill>
                <a:latin typeface="Arial"/>
                <a:ea typeface="Arial"/>
                <a:cs typeface="Arial"/>
              </a:defRPr>
            </a:defPPr>
            <a:lvl1pPr>
              <a:defRPr sz="2100" b="0">
                <a:solidFill>
                  <a:srgbClr val="15383A"/>
                </a:solidFill>
                <a:latin typeface="Arial"/>
                <a:ea typeface="Arial"/>
                <a:cs typeface="Arial"/>
              </a:defRPr>
            </a:lvl1pPr>
            <a:lvl2pPr>
              <a:defRPr sz="2100" b="0">
                <a:solidFill>
                  <a:srgbClr val="15383A"/>
                </a:solidFill>
                <a:latin typeface="Arial"/>
                <a:ea typeface="Arial"/>
                <a:cs typeface="Arial"/>
              </a:defRPr>
            </a:lvl2pPr>
            <a:lvl3pPr>
              <a:defRPr sz="2100" b="0">
                <a:solidFill>
                  <a:srgbClr val="15383A"/>
                </a:solidFill>
                <a:latin typeface="Arial"/>
                <a:ea typeface="Arial"/>
                <a:cs typeface="Arial"/>
              </a:defRPr>
            </a:lvl3pPr>
            <a:lvl4pPr>
              <a:defRPr sz="2100" b="0">
                <a:solidFill>
                  <a:srgbClr val="15383A"/>
                </a:solidFill>
                <a:latin typeface="Arial"/>
                <a:ea typeface="Arial"/>
                <a:cs typeface="Arial"/>
              </a:defRPr>
            </a:lvl4pPr>
            <a:lvl5pPr>
              <a:defRPr sz="2100" b="0">
                <a:solidFill>
                  <a:srgbClr val="15383A"/>
                </a:solidFill>
                <a:latin typeface="Arial"/>
                <a:ea typeface="Arial"/>
                <a:cs typeface="Arial"/>
              </a:defRPr>
            </a:lvl5pPr>
            <a:lvl6pPr>
              <a:defRPr sz="2100" b="0">
                <a:solidFill>
                  <a:srgbClr val="15383A"/>
                </a:solidFill>
                <a:latin typeface="Arial"/>
                <a:ea typeface="Arial"/>
                <a:cs typeface="Arial"/>
              </a:defRPr>
            </a:lvl6pPr>
            <a:lvl7pPr>
              <a:defRPr sz="2100" b="0">
                <a:solidFill>
                  <a:srgbClr val="15383A"/>
                </a:solidFill>
                <a:latin typeface="Arial"/>
                <a:ea typeface="Arial"/>
                <a:cs typeface="Arial"/>
              </a:defRPr>
            </a:lvl7pPr>
            <a:lvl8pPr>
              <a:defRPr sz="2100" b="0">
                <a:solidFill>
                  <a:srgbClr val="15383A"/>
                </a:solidFill>
                <a:latin typeface="Arial"/>
                <a:ea typeface="Arial"/>
                <a:cs typeface="Arial"/>
              </a:defRPr>
            </a:lvl8pPr>
            <a:lvl9pPr>
              <a:defRPr sz="2100" b="0">
                <a:solidFill>
                  <a:srgbClr val="15383A"/>
                </a:solidFill>
                <a:latin typeface="Arial"/>
                <a:ea typeface="Arial"/>
                <a:cs typeface="Arial"/>
              </a:defRPr>
            </a:lvl9pPr>
          </a:lstStyle>
          <a:p xmlns:a="http://schemas.openxmlformats.org/drawingml/2006/main">
            <a:pPr>
              <a:defRPr sz="2100" b="0">
                <a:solidFill>
                  <a:srgbClr val="15383A"/>
                </a:solidFill>
                <a:latin typeface="Arial"/>
                <a:ea typeface="Arial"/>
                <a:cs typeface="Arial"/>
              </a:defRPr>
            </a:pPr>
            <a:r>
              <a:rPr sz="2100" b="0">
                <a:solidFill>
                  <a:srgbClr val="15383A"/>
                </a:solidFill>
                <a:latin typeface="Arial"/>
                <a:ea typeface="Arial"/>
                <a:cs typeface="Arial"/>
              </a:rPr>
              <a:t>Three seeds plus error-model,</a:t>
            </a:r>
          </a:p>
          <a:p xmlns:a="http://schemas.openxmlformats.org/drawingml/2006/main">
            <a:pPr>
              <a:defRPr sz="2100" b="0">
                <a:solidFill>
                  <a:srgbClr val="15383A"/>
                </a:solidFill>
                <a:latin typeface="Arial"/>
                <a:ea typeface="Arial"/>
                <a:cs typeface="Arial"/>
              </a:defRPr>
            </a:pPr>
            <a:r>
              <a:rPr sz="2100" b="0">
                <a:solidFill>
                  <a:srgbClr val="15383A"/>
                </a:solidFill>
                <a:latin typeface="Arial"/>
                <a:ea typeface="Arial"/>
                <a:cs typeface="Arial"/>
              </a:rPr>
              <a:t>initial-state, bound and</a:t>
            </a:r>
          </a:p>
          <a:p xmlns:a="http://schemas.openxmlformats.org/drawingml/2006/main">
            <a:pPr>
              <a:defRPr sz="2100" b="0">
                <a:solidFill>
                  <a:srgbClr val="15383A"/>
                </a:solidFill>
                <a:latin typeface="Arial"/>
                <a:ea typeface="Arial"/>
                <a:cs typeface="Arial"/>
              </a:defRPr>
            </a:pPr>
            <a:r>
              <a:rPr sz="2100" b="0">
                <a:solidFill>
                  <a:srgbClr val="15383A"/>
                </a:solidFill>
                <a:latin typeface="Arial"/>
                <a:ea typeface="Arial"/>
                <a:cs typeface="Arial"/>
              </a:rPr>
              <a:t>physics-weight checks</a:t>
            </a:r>
          </a:p>
        </p:txBody>
      </p:sp>
      <p:sp>
        <p:nvSpPr>
          <p:cNvPr id="5" name="limit">
            <a:extLst xmlns:a="http://schemas.openxmlformats.org/drawingml/2006/main">
              <a:ext uri="{FF2B5EF4-FFF2-40B4-BE49-F238E27FC236}">
                <a16:creationId xmlns:a16="http://schemas.microsoft.com/office/drawing/2014/main" id="{5BA19EDD-DF77-4A08-B91F-9F907F5CD9CF}"/>
              </a:ext>
            </a:extLst>
          </p:cNvPr>
          <p:cNvSpPr>
            <a:spLocks xmlns:a="http://schemas.openxmlformats.org/drawingml/2006/main" noGrp="1"/>
          </p:cNvSpPr>
          <p:nvPr/>
        </p:nvSpPr>
        <p:spPr>
          <a:xfrm xmlns:a="http://schemas.openxmlformats.org/drawingml/2006/main">
            <a:off x="609600" y="4476750"/>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C4532E"/>
                </a:solidFill>
                <a:latin typeface="Arial"/>
                <a:ea typeface="Arial"/>
                <a:cs typeface="Arial"/>
              </a:defRPr>
            </a:defPPr>
            <a:lvl1pPr>
              <a:defRPr sz="2100" b="1">
                <a:solidFill>
                  <a:srgbClr val="C4532E"/>
                </a:solidFill>
                <a:latin typeface="Arial"/>
                <a:ea typeface="Arial"/>
                <a:cs typeface="Arial"/>
              </a:defRPr>
            </a:lvl1pPr>
            <a:lvl2pPr>
              <a:defRPr sz="2100" b="1">
                <a:solidFill>
                  <a:srgbClr val="C4532E"/>
                </a:solidFill>
                <a:latin typeface="Arial"/>
                <a:ea typeface="Arial"/>
                <a:cs typeface="Arial"/>
              </a:defRPr>
            </a:lvl2pPr>
            <a:lvl3pPr>
              <a:defRPr sz="2100" b="1">
                <a:solidFill>
                  <a:srgbClr val="C4532E"/>
                </a:solidFill>
                <a:latin typeface="Arial"/>
                <a:ea typeface="Arial"/>
                <a:cs typeface="Arial"/>
              </a:defRPr>
            </a:lvl3pPr>
            <a:lvl4pPr>
              <a:defRPr sz="2100" b="1">
                <a:solidFill>
                  <a:srgbClr val="C4532E"/>
                </a:solidFill>
                <a:latin typeface="Arial"/>
                <a:ea typeface="Arial"/>
                <a:cs typeface="Arial"/>
              </a:defRPr>
            </a:lvl4pPr>
            <a:lvl5pPr>
              <a:defRPr sz="2100" b="1">
                <a:solidFill>
                  <a:srgbClr val="C4532E"/>
                </a:solidFill>
                <a:latin typeface="Arial"/>
                <a:ea typeface="Arial"/>
                <a:cs typeface="Arial"/>
              </a:defRPr>
            </a:lvl5pPr>
            <a:lvl6pPr>
              <a:defRPr sz="2100" b="1">
                <a:solidFill>
                  <a:srgbClr val="C4532E"/>
                </a:solidFill>
                <a:latin typeface="Arial"/>
                <a:ea typeface="Arial"/>
                <a:cs typeface="Arial"/>
              </a:defRPr>
            </a:lvl6pPr>
            <a:lvl7pPr>
              <a:defRPr sz="2100" b="1">
                <a:solidFill>
                  <a:srgbClr val="C4532E"/>
                </a:solidFill>
                <a:latin typeface="Arial"/>
                <a:ea typeface="Arial"/>
                <a:cs typeface="Arial"/>
              </a:defRPr>
            </a:lvl7pPr>
            <a:lvl8pPr>
              <a:defRPr sz="2100" b="1">
                <a:solidFill>
                  <a:srgbClr val="C4532E"/>
                </a:solidFill>
                <a:latin typeface="Arial"/>
                <a:ea typeface="Arial"/>
                <a:cs typeface="Arial"/>
              </a:defRPr>
            </a:lvl8pPr>
            <a:lvl9pPr>
              <a:defRPr sz="2100" b="1">
                <a:solidFill>
                  <a:srgbClr val="C4532E"/>
                </a:solidFill>
                <a:latin typeface="Arial"/>
                <a:ea typeface="Arial"/>
                <a:cs typeface="Arial"/>
              </a:defRPr>
            </a:lvl9pPr>
          </a:lstStyle>
          <a:p xmlns:a="http://schemas.openxmlformats.org/drawingml/2006/main">
            <a:pPr>
              <a:defRPr sz="2100" b="1">
                <a:solidFill>
                  <a:srgbClr val="C4532E"/>
                </a:solidFill>
                <a:latin typeface="Arial"/>
                <a:ea typeface="Arial"/>
                <a:cs typeface="Arial"/>
              </a:defRPr>
            </a:pPr>
            <a:r>
              <a:rPr sz="2100" b="1">
                <a:solidFill>
                  <a:srgbClr val="C4532E"/>
                </a:solidFill>
                <a:latin typeface="Arial"/>
                <a:ea typeface="Arial"/>
                <a:cs typeface="Arial"/>
              </a:rPr>
              <a:t>K and b move towards</a:t>
            </a:r>
          </a:p>
          <a:p xmlns:a="http://schemas.openxmlformats.org/drawingml/2006/main">
            <a:pPr>
              <a:defRPr sz="2100" b="1">
                <a:solidFill>
                  <a:srgbClr val="C4532E"/>
                </a:solidFill>
                <a:latin typeface="Arial"/>
                <a:ea typeface="Arial"/>
                <a:cs typeface="Arial"/>
              </a:defRPr>
            </a:pPr>
            <a:r>
              <a:rPr sz="2100" b="1">
                <a:solidFill>
                  <a:srgbClr val="C4532E"/>
                </a:solidFill>
                <a:latin typeface="Arial"/>
                <a:ea typeface="Arial"/>
                <a:cs typeface="Arial"/>
              </a:rPr>
              <a:t>expanded upper bounds</a:t>
            </a:r>
          </a:p>
        </p:txBody>
      </p:sp>
      <p:graphicFrame>
        <p:nvGraphicFramePr>
          <p:cNvPr id="6" name="Chart">
            <a:extLst xmlns:a="http://schemas.openxmlformats.org/drawingml/2006/main">
              <a:ext uri="{FF2B5EF4-FFF2-40B4-BE49-F238E27FC236}">
                <a16:creationId xmlns:a16="http://schemas.microsoft.com/office/drawing/2014/main" id="{8A58A4D2-6411-4CF9-91DF-D5C53B98ABDC}"/>
              </a:ext>
            </a:extLst>
          </p:cNvPr>
          <p:cNvGraphicFramePr/>
          <p:nvPr/>
        </p:nvGraphicFramePr>
        <p:xfrm>
          <a:off xmlns:a="http://schemas.openxmlformats.org/drawingml/2006/main" x="4857750" y="1476375"/>
          <a:ext xmlns:a="http://schemas.openxmlformats.org/drawingml/2006/main" cx="6667500" cy="3905250"/>
        </p:xfrm>
        <a:graphic xmlns:a="http://schemas.openxmlformats.org/drawingml/2006/main">
          <a:graphicData uri="http://schemas.openxmlformats.org/drawingml/2006/chart">
            <c:chart xmlns:r="http://schemas.openxmlformats.org/officeDocument/2006/relationships" xmlns:c="http://schemas.openxmlformats.org/drawingml/2006/chart" r:id="R0023e7ec32e740f2"/>
          </a:graphicData>
        </a:graphic>
      </p:graphicFrame>
      <p:sp>
        <p:nvSpPr>
          <p:cNvPr id="7" name="finding">
            <a:extLst xmlns:a="http://schemas.openxmlformats.org/drawingml/2006/main">
              <a:ext uri="{FF2B5EF4-FFF2-40B4-BE49-F238E27FC236}">
                <a16:creationId xmlns:a16="http://schemas.microsoft.com/office/drawing/2014/main" id="{3D6B33D4-24C1-42F0-8D52-F0EF33B82A38}"/>
              </a:ext>
            </a:extLst>
          </p:cNvPr>
          <p:cNvSpPr>
            <a:spLocks xmlns:a="http://schemas.openxmlformats.org/drawingml/2006/main" noGrp="1"/>
          </p:cNvSpPr>
          <p:nvPr/>
        </p:nvSpPr>
        <p:spPr>
          <a:xfrm xmlns:a="http://schemas.openxmlformats.org/drawingml/2006/main">
            <a:off x="609600" y="56197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383A"/>
                </a:solidFill>
                <a:latin typeface="Arial"/>
                <a:ea typeface="Arial"/>
                <a:cs typeface="Arial"/>
              </a:defRPr>
            </a:defPPr>
            <a:lvl1pPr>
              <a:defRPr sz="2100" b="1">
                <a:solidFill>
                  <a:srgbClr val="15383A"/>
                </a:solidFill>
                <a:latin typeface="Arial"/>
                <a:ea typeface="Arial"/>
                <a:cs typeface="Arial"/>
              </a:defRPr>
            </a:lvl1pPr>
            <a:lvl2pPr>
              <a:defRPr sz="2100" b="1">
                <a:solidFill>
                  <a:srgbClr val="15383A"/>
                </a:solidFill>
                <a:latin typeface="Arial"/>
                <a:ea typeface="Arial"/>
                <a:cs typeface="Arial"/>
              </a:defRPr>
            </a:lvl2pPr>
            <a:lvl3pPr>
              <a:defRPr sz="2100" b="1">
                <a:solidFill>
                  <a:srgbClr val="15383A"/>
                </a:solidFill>
                <a:latin typeface="Arial"/>
                <a:ea typeface="Arial"/>
                <a:cs typeface="Arial"/>
              </a:defRPr>
            </a:lvl3pPr>
            <a:lvl4pPr>
              <a:defRPr sz="2100" b="1">
                <a:solidFill>
                  <a:srgbClr val="15383A"/>
                </a:solidFill>
                <a:latin typeface="Arial"/>
                <a:ea typeface="Arial"/>
                <a:cs typeface="Arial"/>
              </a:defRPr>
            </a:lvl4pPr>
            <a:lvl5pPr>
              <a:defRPr sz="2100" b="1">
                <a:solidFill>
                  <a:srgbClr val="15383A"/>
                </a:solidFill>
                <a:latin typeface="Arial"/>
                <a:ea typeface="Arial"/>
                <a:cs typeface="Arial"/>
              </a:defRPr>
            </a:lvl5pPr>
            <a:lvl6pPr>
              <a:defRPr sz="2100" b="1">
                <a:solidFill>
                  <a:srgbClr val="15383A"/>
                </a:solidFill>
                <a:latin typeface="Arial"/>
                <a:ea typeface="Arial"/>
                <a:cs typeface="Arial"/>
              </a:defRPr>
            </a:lvl6pPr>
            <a:lvl7pPr>
              <a:defRPr sz="2100" b="1">
                <a:solidFill>
                  <a:srgbClr val="15383A"/>
                </a:solidFill>
                <a:latin typeface="Arial"/>
                <a:ea typeface="Arial"/>
                <a:cs typeface="Arial"/>
              </a:defRPr>
            </a:lvl7pPr>
            <a:lvl8pPr>
              <a:defRPr sz="2100" b="1">
                <a:solidFill>
                  <a:srgbClr val="15383A"/>
                </a:solidFill>
                <a:latin typeface="Arial"/>
                <a:ea typeface="Arial"/>
                <a:cs typeface="Arial"/>
              </a:defRPr>
            </a:lvl8pPr>
            <a:lvl9pPr>
              <a:defRPr sz="2100" b="1">
                <a:solidFill>
                  <a:srgbClr val="15383A"/>
                </a:solidFill>
                <a:latin typeface="Arial"/>
                <a:ea typeface="Arial"/>
                <a:cs typeface="Arial"/>
              </a:defRPr>
            </a:lvl9pPr>
          </a:lstStyle>
          <a:p xmlns:a="http://schemas.openxmlformats.org/drawingml/2006/main">
            <a:pPr>
              <a:defRPr sz="2100" b="1">
                <a:solidFill>
                  <a:srgbClr val="15383A"/>
                </a:solidFill>
                <a:latin typeface="Arial"/>
                <a:ea typeface="Arial"/>
                <a:cs typeface="Arial"/>
              </a:defRPr>
            </a:pPr>
            <a:r>
              <a:rPr sz="2100" b="1">
                <a:solidFill>
                  <a:srgbClr val="15383A"/>
                </a:solidFill>
                <a:latin typeface="Arial"/>
                <a:ea typeface="Arial"/>
                <a:cs typeface="Arial"/>
              </a:rPr>
              <a:t>Hare RMSE is similar. Least squares predicts lynx more accurately.</a:t>
            </a:r>
          </a:p>
        </p:txBody>
      </p:sp>
    </p:spTree>
    <p:extLst>
      <p:ext uri="{BB962C8B-B14F-4D97-AF65-F5344CB8AC3E}">
        <p14:creationId xmlns:p14="http://schemas.microsoft.com/office/powerpoint/2010/main" val="6627233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2026-10-28T17:47:54.3210000Z</dcterms:created>
  <dcterms:modified xsi:type="dcterms:W3CDTF">2026-10-28T17:47:54.3210000Z</dcterms:modified>
</coreProperties>
</file>