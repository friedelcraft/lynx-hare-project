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291b0a2be74702" /><Relationship Type="http://schemas.openxmlformats.org/officeDocument/2006/relationships/extended-properties" Target="/docProps/app.xml" Id="R4620999f516f423e" /><Relationship Type="http://schemas.openxmlformats.org/officeDocument/2006/relationships/officeDocument" Target="/ppt/presentation.xml" Id="R6d6db8da09d349b0" /></Relationships>
</file>

<file path=ppt/presentation.xml><?xml version="1.0" encoding="utf-8"?>
<p:presentation xmlns:p="http://schemas.openxmlformats.org/presentationml/2006/main">
  <p:sldMasterIdLst>
    <p:sldMasterId xmlns:r="http://schemas.openxmlformats.org/officeDocument/2006/relationships" id="2147483648" r:id="R23b9b207332c4431"/>
  </p:sldMasterIdLst>
  <p:notesMasterIdLst>
    <p:notesMasterId xmlns:r="http://schemas.openxmlformats.org/officeDocument/2006/relationships" r:id="R55125a03c64441af"/>
  </p:notesMasterIdLst>
  <p:sldIdLst>
    <p:sldId xmlns:r="http://schemas.openxmlformats.org/officeDocument/2006/relationships" id="256" r:id="R22194b8ba30e4b19"/>
    <p:sldId xmlns:r="http://schemas.openxmlformats.org/officeDocument/2006/relationships" id="257" r:id="R9b1c54bb6c4f46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0ac9c8aaba4431" /><Relationship Type="http://schemas.openxmlformats.org/officeDocument/2006/relationships/slideMaster" Target="/ppt/slideMasters/slideMaster1.xml" Id="R23b9b207332c4431" /><Relationship Type="http://schemas.openxmlformats.org/officeDocument/2006/relationships/notesMaster" Target="/ppt/notesMasters/notesMaster1.xml" Id="R55125a03c64441af" /><Relationship Type="http://schemas.openxmlformats.org/officeDocument/2006/relationships/presProps" Target="/ppt/presProps.xml" Id="Rc59e04008a854132" /><Relationship Type="http://schemas.openxmlformats.org/officeDocument/2006/relationships/tableStyles" Target="/ppt/tableStyles.xml" Id="R07222218ec864087" /><Relationship Type="http://schemas.openxmlformats.org/officeDocument/2006/relationships/slide" Target="/ppt/slides/slide1.xml" Id="R22194b8ba30e4b19" /><Relationship Type="http://schemas.openxmlformats.org/officeDocument/2006/relationships/slide" Target="/ppt/slides/slide2.xml" Id="R9b1c54bb6c4f46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0bd64286b74e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b11b7297e34f48" /><Relationship Type="http://schemas.openxmlformats.org/officeDocument/2006/relationships/notesMaster" Target="/ppt/notesMasters/notesMaster1.xml" Id="Rbb93a74a875342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b581b4d03b4fbb" /><Relationship Type="http://schemas.openxmlformats.org/officeDocument/2006/relationships/notesMaster" Target="/ppt/notesMasters/notesMaster1.xml" Id="R2e88c573ed6b48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part tests whether a physics-informed neural network can recover model parameters while fitting observations. I used synthetic data while our shared historical-data interfaces are pending. The network takes scaled time and predicts positive hare and lynx indices. Automatic differentiation computes time derivatives. The loss combines normalized data, ODE residual and initial-condition errors. I estimate r, a and m in positive bounds while fixing K, b and e. Adam training is followed by L-BFGS, with three optimizer seeds. Correct fixed constants and an exact initial state are favorable synthetic assumptions. Sources: Rosenzweig and MacArthur (1963), https://doi.org/10.1086/282272; Raissi et al. (2019), https://doi.org/10.1016/j.jcp.2018.10.045; src/lynx_hare/pinn.py; configs/synthetic.json.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three seeds, maximum parameter error was about 0.006 percent for clean quarterly data and 0.36 percent for noisy annual data. These optimizer replicates use one noise realization, so they are not confidence intervals. For forecasting I freeze learned parameters, then integrate the ODE from 1900 through 1920. I do not extrapolate the network or restart from test observations. The chart scores five noisy held-out observations per species. Least squares has lower hare RMSE and the selected PINN has lower lynx RMSE, so the comparison is mixed. I also check loss-weight and initial-guess sensitivity, independent residuals and local parameter sensitivities. This validates the implementation on a controlled example. Historical predictive accuracy remains untested. Source: results/synthetic/heldout_metrics.csv, parameter_recovery.csv, selected_run.json. The selected seed minimizes training loss. The same fixed parameters, bounds, scale, initial condition and RK45 solver apply to both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ef1ae537e446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aa117beed341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482e3f77b94e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eb427ef58d42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b729aef72646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4b484a733343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CA1F71-55EF-4D42-9796-E8F93A2116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051928-73EE-4227-B1DC-FDE32F6C42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2A95F6-A1D0-4ECE-9DCF-E3289ECD1C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D962B6-BD2A-47AC-B434-12558E9B4B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1D7F84C-1E37-4CE2-9226-8DCC105A39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D88E38-6F67-42D4-B655-76A2329F79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8D5E97-FEC2-4CAC-B0EE-EA6E821E51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72FC20-350A-4AD7-987D-D9339334C9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6319C7-141F-4617-8160-35A42C76CA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3B2A65-12CB-4488-9E2E-C510167A82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fbcf2e625d4b50" /><Relationship Type="http://schemas.openxmlformats.org/officeDocument/2006/relationships/slideLayout" Target="/ppt/slideLayouts/slideLayout1.xml" Id="R4029e5bf23b54506" /><Relationship Type="http://schemas.openxmlformats.org/officeDocument/2006/relationships/slideLayout" Target="/ppt/slideLayouts/slideLayout2.xml" Id="R0823e4a571fc46f4" /><Relationship Type="http://schemas.openxmlformats.org/officeDocument/2006/relationships/slideLayout" Target="/ppt/slideLayouts/slideLayout3.xml" Id="R6cf9edbf60fd4873" /><Relationship Type="http://schemas.openxmlformats.org/officeDocument/2006/relationships/slideLayout" Target="/ppt/slideLayouts/slideLayout4.xml" Id="Raa4a20aecaf94c7a" /><Relationship Type="http://schemas.openxmlformats.org/officeDocument/2006/relationships/slideLayout" Target="/ppt/slideLayouts/slideLayout5.xml" Id="Re2e07b0b3d634f05" /><Relationship Type="http://schemas.openxmlformats.org/officeDocument/2006/relationships/slideLayout" Target="/ppt/slideLayouts/slideLayout6.xml" Id="Rc01af824ef5e45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29e5bf23b54506"/>
    <p:sldLayoutId xmlns:r="http://schemas.openxmlformats.org/officeDocument/2006/relationships" id="2147483650" r:id="R0823e4a571fc46f4"/>
    <p:sldLayoutId xmlns:r="http://schemas.openxmlformats.org/officeDocument/2006/relationships" id="2147483651" r:id="R6cf9edbf60fd4873"/>
    <p:sldLayoutId xmlns:r="http://schemas.openxmlformats.org/officeDocument/2006/relationships" id="2147483652" r:id="Raa4a20aecaf94c7a"/>
    <p:sldLayoutId xmlns:r="http://schemas.openxmlformats.org/officeDocument/2006/relationships" id="2147483653" r:id="Re2e07b0b3d634f05"/>
    <p:sldLayoutId xmlns:r="http://schemas.openxmlformats.org/officeDocument/2006/relationships" id="2147483654" r:id="Rc01af824ef5e45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b39a0088ab43f1" /><Relationship Type="http://schemas.openxmlformats.org/officeDocument/2006/relationships/notesSlide" Target="/ppt/notesSlides/notesSlide1.xml" Id="R905d8907e7724d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0fe34fdc6fd479a" /><Relationship Type="http://schemas.openxmlformats.org/officeDocument/2006/relationships/chart" Target="/ppt/slides/charts/chart1.xml" Id="R78b1318b53a04b82" /><Relationship Type="http://schemas.openxmlformats.org/officeDocument/2006/relationships/notesSlide" Target="/ppt/notesSlides/notesSlide2.xml" Id="R7ca4738eba6f48f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latin typeface="Arial"/>
                <a:ea typeface="Arial"/>
                <a:cs typeface="Arial"/>
              </a:rPr>
              <a:t>Held-out RMSE in synthetic index units</a:t>
            </a:r>
          </a:p>
        </c:rich>
      </c:tx>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title>
    <c:plotArea>
      <c:barChart>
        <c:barDir val="col"/>
        <c:grouping val="clustered"/>
        <c:varyColors val="0"/>
        <c:ser>
          <c:idx val="0"/>
          <c:order val="0"/>
          <c:tx>
            <c:v>PINN-derived ODE</c:v>
          </c:tx>
          <c:spPr>
            <a:solidFill xmlns:a="http://schemas.openxmlformats.org/drawingml/2006/main">
              <a:srgbClr val="197278"/>
            </a:solidFill>
          </c:spPr>
          <c:invertIfNegative val="0"/>
          <c:cat>
            <c:strRef>
              <c:f>'Chart Data'!$A$2:$A$3</c:f>
              <c:strCache>
                <c:ptCount val="2"/>
                <c:pt idx="0">
                  <c:v>Hare</c:v>
                </c:pt>
                <c:pt idx="1">
                  <c:v>Lynx</c:v>
                </c:pt>
              </c:strCache>
            </c:strRef>
          </c:cat>
          <c:val>
            <c:numRef>
              <c:f>'Chart Data'!$B$2:$B$3</c:f>
              <c:numCache>
                <c:formatCode>0.0</c:formatCode>
                <c:ptCount val="2"/>
                <c:pt idx="0">
                  <c:v>0.331892</c:v>
                </c:pt>
                <c:pt idx="1">
                  <c:v>0.386242</c:v>
                </c:pt>
              </c:numCache>
            </c:numRef>
          </c:val>
        </c:ser>
        <c:ser>
          <c:idx val="1"/>
          <c:order val="1"/>
          <c:tx>
            <c:v>Least squares</c:v>
          </c:tx>
          <c:spPr>
            <a:solidFill xmlns:a="http://schemas.openxmlformats.org/drawingml/2006/main">
              <a:srgbClr val="C4532E"/>
            </a:solidFill>
          </c:spPr>
          <c:invertIfNegative val="0"/>
          <c:cat>
            <c:strRef>
              <c:f>'Chart Data'!$C$2:$C$3</c:f>
              <c:strCache>
                <c:ptCount val="2"/>
                <c:pt idx="0">
                  <c:v>Hare</c:v>
                </c:pt>
                <c:pt idx="1">
                  <c:v>Lynx</c:v>
                </c:pt>
              </c:strCache>
            </c:strRef>
          </c:cat>
          <c:val>
            <c:numRef>
              <c:f>'Chart Data'!$D$2:$D$3</c:f>
              <c:numCache>
                <c:formatCode>0.0</c:formatCode>
                <c:ptCount val="2"/>
                <c:pt idx="0">
                  <c:v>0.296172</c:v>
                </c:pt>
                <c:pt idx="1">
                  <c:v>0.441202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33B9987-A1D4-4E5C-8D4D-4CB1C51ED90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5383A"/>
                </a:solidFill>
                <a:latin typeface="Arial"/>
                <a:ea typeface="Arial"/>
                <a:cs typeface="Arial"/>
              </a:defRPr>
            </a:defPPr>
            <a:lvl1pPr>
              <a:defRPr sz="3450" b="1">
                <a:solidFill>
                  <a:srgbClr val="15383A"/>
                </a:solidFill>
                <a:latin typeface="Arial"/>
                <a:ea typeface="Arial"/>
                <a:cs typeface="Arial"/>
              </a:defRPr>
            </a:lvl1pPr>
            <a:lvl2pPr>
              <a:defRPr sz="3450" b="1">
                <a:solidFill>
                  <a:srgbClr val="15383A"/>
                </a:solidFill>
                <a:latin typeface="Arial"/>
                <a:ea typeface="Arial"/>
                <a:cs typeface="Arial"/>
              </a:defRPr>
            </a:lvl2pPr>
            <a:lvl3pPr>
              <a:defRPr sz="3450" b="1">
                <a:solidFill>
                  <a:srgbClr val="15383A"/>
                </a:solidFill>
                <a:latin typeface="Arial"/>
                <a:ea typeface="Arial"/>
                <a:cs typeface="Arial"/>
              </a:defRPr>
            </a:lvl3pPr>
            <a:lvl4pPr>
              <a:defRPr sz="3450" b="1">
                <a:solidFill>
                  <a:srgbClr val="15383A"/>
                </a:solidFill>
                <a:latin typeface="Arial"/>
                <a:ea typeface="Arial"/>
                <a:cs typeface="Arial"/>
              </a:defRPr>
            </a:lvl4pPr>
            <a:lvl5pPr>
              <a:defRPr sz="3450" b="1">
                <a:solidFill>
                  <a:srgbClr val="15383A"/>
                </a:solidFill>
                <a:latin typeface="Arial"/>
                <a:ea typeface="Arial"/>
                <a:cs typeface="Arial"/>
              </a:defRPr>
            </a:lvl5pPr>
            <a:lvl6pPr>
              <a:defRPr sz="3450" b="1">
                <a:solidFill>
                  <a:srgbClr val="15383A"/>
                </a:solidFill>
                <a:latin typeface="Arial"/>
                <a:ea typeface="Arial"/>
                <a:cs typeface="Arial"/>
              </a:defRPr>
            </a:lvl6pPr>
            <a:lvl7pPr>
              <a:defRPr sz="3450" b="1">
                <a:solidFill>
                  <a:srgbClr val="15383A"/>
                </a:solidFill>
                <a:latin typeface="Arial"/>
                <a:ea typeface="Arial"/>
                <a:cs typeface="Arial"/>
              </a:defRPr>
            </a:lvl7pPr>
            <a:lvl8pPr>
              <a:defRPr sz="3450" b="1">
                <a:solidFill>
                  <a:srgbClr val="15383A"/>
                </a:solidFill>
                <a:latin typeface="Arial"/>
                <a:ea typeface="Arial"/>
                <a:cs typeface="Arial"/>
              </a:defRPr>
            </a:lvl8pPr>
            <a:lvl9pPr>
              <a:defRPr sz="3450" b="1">
                <a:solidFill>
                  <a:srgbClr val="15383A"/>
                </a:solidFill>
                <a:latin typeface="Arial"/>
                <a:ea typeface="Arial"/>
                <a:cs typeface="Arial"/>
              </a:defRPr>
            </a:lvl9pPr>
          </a:lstStyle>
          <a:p xmlns:a="http://schemas.openxmlformats.org/drawingml/2006/main">
            <a:pPr>
              <a:defRPr sz="3450" b="1">
                <a:solidFill>
                  <a:srgbClr val="15383A"/>
                </a:solidFill>
                <a:latin typeface="Arial"/>
                <a:ea typeface="Arial"/>
                <a:cs typeface="Arial"/>
              </a:defRPr>
            </a:pPr>
            <a:r>
              <a:rPr sz="3450" b="1">
                <a:solidFill>
                  <a:srgbClr val="15383A"/>
                </a:solidFill>
                <a:latin typeface="Arial"/>
                <a:ea typeface="Arial"/>
                <a:cs typeface="Arial"/>
              </a:rPr>
              <a:t>Inverse PINN parameter inference</a:t>
            </a:r>
          </a:p>
        </p:txBody>
      </p:sp>
      <p:sp>
        <p:nvSpPr>
          <p:cNvPr id="3" name="equations">
            <a:extLst xmlns:a="http://schemas.openxmlformats.org/drawingml/2006/main">
              <a:ext uri="{FF2B5EF4-FFF2-40B4-BE49-F238E27FC236}">
                <a16:creationId xmlns:a16="http://schemas.microsoft.com/office/drawing/2014/main" id="{EFB472F4-1B8E-47FB-A001-131F51544C45}"/>
              </a:ext>
            </a:extLst>
          </p:cNvPr>
          <p:cNvSpPr>
            <a:spLocks xmlns:a="http://schemas.openxmlformats.org/drawingml/2006/main" noGrp="1"/>
          </p:cNvSpPr>
          <p:nvPr/>
        </p:nvSpPr>
        <p:spPr>
          <a:xfrm xmlns:a="http://schemas.openxmlformats.org/drawingml/2006/main">
            <a:off x="609600" y="13811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5383A"/>
                </a:solidFill>
                <a:latin typeface="Arial"/>
                <a:ea typeface="Arial"/>
                <a:cs typeface="Arial"/>
              </a:defRPr>
            </a:defPPr>
            <a:lvl1pPr>
              <a:defRPr sz="2625" b="0">
                <a:solidFill>
                  <a:srgbClr val="15383A"/>
                </a:solidFill>
                <a:latin typeface="Arial"/>
                <a:ea typeface="Arial"/>
                <a:cs typeface="Arial"/>
              </a:defRPr>
            </a:lvl1pPr>
            <a:lvl2pPr>
              <a:defRPr sz="2625" b="0">
                <a:solidFill>
                  <a:srgbClr val="15383A"/>
                </a:solidFill>
                <a:latin typeface="Arial"/>
                <a:ea typeface="Arial"/>
                <a:cs typeface="Arial"/>
              </a:defRPr>
            </a:lvl2pPr>
            <a:lvl3pPr>
              <a:defRPr sz="2625" b="0">
                <a:solidFill>
                  <a:srgbClr val="15383A"/>
                </a:solidFill>
                <a:latin typeface="Arial"/>
                <a:ea typeface="Arial"/>
                <a:cs typeface="Arial"/>
              </a:defRPr>
            </a:lvl3pPr>
            <a:lvl4pPr>
              <a:defRPr sz="2625" b="0">
                <a:solidFill>
                  <a:srgbClr val="15383A"/>
                </a:solidFill>
                <a:latin typeface="Arial"/>
                <a:ea typeface="Arial"/>
                <a:cs typeface="Arial"/>
              </a:defRPr>
            </a:lvl4pPr>
            <a:lvl5pPr>
              <a:defRPr sz="2625" b="0">
                <a:solidFill>
                  <a:srgbClr val="15383A"/>
                </a:solidFill>
                <a:latin typeface="Arial"/>
                <a:ea typeface="Arial"/>
                <a:cs typeface="Arial"/>
              </a:defRPr>
            </a:lvl5pPr>
            <a:lvl6pPr>
              <a:defRPr sz="2625" b="0">
                <a:solidFill>
                  <a:srgbClr val="15383A"/>
                </a:solidFill>
                <a:latin typeface="Arial"/>
                <a:ea typeface="Arial"/>
                <a:cs typeface="Arial"/>
              </a:defRPr>
            </a:lvl6pPr>
            <a:lvl7pPr>
              <a:defRPr sz="2625" b="0">
                <a:solidFill>
                  <a:srgbClr val="15383A"/>
                </a:solidFill>
                <a:latin typeface="Arial"/>
                <a:ea typeface="Arial"/>
                <a:cs typeface="Arial"/>
              </a:defRPr>
            </a:lvl7pPr>
            <a:lvl8pPr>
              <a:defRPr sz="2625" b="0">
                <a:solidFill>
                  <a:srgbClr val="15383A"/>
                </a:solidFill>
                <a:latin typeface="Arial"/>
                <a:ea typeface="Arial"/>
                <a:cs typeface="Arial"/>
              </a:defRPr>
            </a:lvl8pPr>
            <a:lvl9pPr>
              <a:defRPr sz="2625" b="0">
                <a:solidFill>
                  <a:srgbClr val="15383A"/>
                </a:solidFill>
                <a:latin typeface="Arial"/>
                <a:ea typeface="Arial"/>
                <a:cs typeface="Arial"/>
              </a:defRPr>
            </a:lvl9pPr>
          </a:lstStyle>
          <a:p xmlns:a="http://schemas.openxmlformats.org/drawingml/2006/main">
            <a:pPr>
              <a:defRPr sz="2625" b="0">
                <a:solidFill>
                  <a:srgbClr val="15383A"/>
                </a:solidFill>
                <a:latin typeface="Arial"/>
                <a:ea typeface="Arial"/>
                <a:cs typeface="Arial"/>
              </a:defRPr>
            </a:pPr>
            <a:r>
              <a:rPr sz="2625" b="0">
                <a:solidFill>
                  <a:srgbClr val="15383A"/>
                </a:solidFill>
                <a:latin typeface="Arial"/>
                <a:ea typeface="Arial"/>
                <a:cs typeface="Arial"/>
              </a:rPr>
              <a:t>dH/dt = rH(1 − H/K) − aHP/(b + H)</a:t>
            </a:r>
          </a:p>
          <a:p xmlns:a="http://schemas.openxmlformats.org/drawingml/2006/main">
            <a:pPr>
              <a:defRPr sz="2625" b="0">
                <a:solidFill>
                  <a:srgbClr val="15383A"/>
                </a:solidFill>
                <a:latin typeface="Arial"/>
                <a:ea typeface="Arial"/>
                <a:cs typeface="Arial"/>
              </a:defRPr>
            </a:pPr>
            <a:r>
              <a:rPr sz="2625" b="0">
                <a:solidFill>
                  <a:srgbClr val="15383A"/>
                </a:solidFill>
                <a:latin typeface="Arial"/>
                <a:ea typeface="Arial"/>
                <a:cs typeface="Arial"/>
              </a:rPr>
              <a:t>dP/dt = eaHP/(b + H) − mP</a:t>
            </a:r>
          </a:p>
        </p:txBody>
      </p:sp>
      <p:sp>
        <p:nvSpPr>
          <p:cNvPr id="4" name="loss">
            <a:extLst xmlns:a="http://schemas.openxmlformats.org/drawingml/2006/main">
              <a:ext uri="{FF2B5EF4-FFF2-40B4-BE49-F238E27FC236}">
                <a16:creationId xmlns:a16="http://schemas.microsoft.com/office/drawing/2014/main" id="{854C8C29-35BE-42CB-88AB-AAEC4E29F3AA}"/>
              </a:ext>
            </a:extLst>
          </p:cNvPr>
          <p:cNvSpPr>
            <a:spLocks xmlns:a="http://schemas.openxmlformats.org/drawingml/2006/main" noGrp="1"/>
          </p:cNvSpPr>
          <p:nvPr/>
        </p:nvSpPr>
        <p:spPr>
          <a:xfrm xmlns:a="http://schemas.openxmlformats.org/drawingml/2006/main">
            <a:off x="609600" y="2809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97278"/>
                </a:solidFill>
                <a:latin typeface="Arial"/>
                <a:ea typeface="Arial"/>
                <a:cs typeface="Arial"/>
              </a:defRPr>
            </a:defPPr>
            <a:lvl1pPr>
              <a:defRPr sz="2325" b="1">
                <a:solidFill>
                  <a:srgbClr val="197278"/>
                </a:solidFill>
                <a:latin typeface="Arial"/>
                <a:ea typeface="Arial"/>
                <a:cs typeface="Arial"/>
              </a:defRPr>
            </a:lvl1pPr>
            <a:lvl2pPr>
              <a:defRPr sz="2325" b="1">
                <a:solidFill>
                  <a:srgbClr val="197278"/>
                </a:solidFill>
                <a:latin typeface="Arial"/>
                <a:ea typeface="Arial"/>
                <a:cs typeface="Arial"/>
              </a:defRPr>
            </a:lvl2pPr>
            <a:lvl3pPr>
              <a:defRPr sz="2325" b="1">
                <a:solidFill>
                  <a:srgbClr val="197278"/>
                </a:solidFill>
                <a:latin typeface="Arial"/>
                <a:ea typeface="Arial"/>
                <a:cs typeface="Arial"/>
              </a:defRPr>
            </a:lvl3pPr>
            <a:lvl4pPr>
              <a:defRPr sz="2325" b="1">
                <a:solidFill>
                  <a:srgbClr val="197278"/>
                </a:solidFill>
                <a:latin typeface="Arial"/>
                <a:ea typeface="Arial"/>
                <a:cs typeface="Arial"/>
              </a:defRPr>
            </a:lvl4pPr>
            <a:lvl5pPr>
              <a:defRPr sz="2325" b="1">
                <a:solidFill>
                  <a:srgbClr val="197278"/>
                </a:solidFill>
                <a:latin typeface="Arial"/>
                <a:ea typeface="Arial"/>
                <a:cs typeface="Arial"/>
              </a:defRPr>
            </a:lvl5pPr>
            <a:lvl6pPr>
              <a:defRPr sz="2325" b="1">
                <a:solidFill>
                  <a:srgbClr val="197278"/>
                </a:solidFill>
                <a:latin typeface="Arial"/>
                <a:ea typeface="Arial"/>
                <a:cs typeface="Arial"/>
              </a:defRPr>
            </a:lvl6pPr>
            <a:lvl7pPr>
              <a:defRPr sz="2325" b="1">
                <a:solidFill>
                  <a:srgbClr val="197278"/>
                </a:solidFill>
                <a:latin typeface="Arial"/>
                <a:ea typeface="Arial"/>
                <a:cs typeface="Arial"/>
              </a:defRPr>
            </a:lvl7pPr>
            <a:lvl8pPr>
              <a:defRPr sz="2325" b="1">
                <a:solidFill>
                  <a:srgbClr val="197278"/>
                </a:solidFill>
                <a:latin typeface="Arial"/>
                <a:ea typeface="Arial"/>
                <a:cs typeface="Arial"/>
              </a:defRPr>
            </a:lvl8pPr>
            <a:lvl9pPr>
              <a:defRPr sz="2325" b="1">
                <a:solidFill>
                  <a:srgbClr val="197278"/>
                </a:solidFill>
                <a:latin typeface="Arial"/>
                <a:ea typeface="Arial"/>
                <a:cs typeface="Arial"/>
              </a:defRPr>
            </a:lvl9pPr>
          </a:lstStyle>
          <a:p xmlns:a="http://schemas.openxmlformats.org/drawingml/2006/main">
            <a:pPr>
              <a:defRPr sz="2325" b="1">
                <a:solidFill>
                  <a:srgbClr val="197278"/>
                </a:solidFill>
                <a:latin typeface="Arial"/>
                <a:ea typeface="Arial"/>
                <a:cs typeface="Arial"/>
              </a:defRPr>
            </a:pPr>
            <a:r>
              <a:rPr sz="2325" b="1">
                <a:solidFill>
                  <a:srgbClr val="197278"/>
                </a:solidFill>
                <a:latin typeface="Arial"/>
                <a:ea typeface="Arial"/>
                <a:cs typeface="Arial"/>
              </a:rPr>
              <a:t>Loss = data error + 10 × ODE error + 10 × initial error</a:t>
            </a:r>
          </a:p>
        </p:txBody>
      </p:sp>
      <p:sp>
        <p:nvSpPr>
          <p:cNvPr id="5" name="architecture">
            <a:extLst xmlns:a="http://schemas.openxmlformats.org/drawingml/2006/main">
              <a:ext uri="{FF2B5EF4-FFF2-40B4-BE49-F238E27FC236}">
                <a16:creationId xmlns:a16="http://schemas.microsoft.com/office/drawing/2014/main" id="{FE8D9E8E-3F5A-4228-BB11-2DEC22E74E69}"/>
              </a:ext>
            </a:extLst>
          </p:cNvPr>
          <p:cNvSpPr>
            <a:spLocks xmlns:a="http://schemas.openxmlformats.org/drawingml/2006/main" noGrp="1"/>
          </p:cNvSpPr>
          <p:nvPr/>
        </p:nvSpPr>
        <p:spPr>
          <a:xfrm xmlns:a="http://schemas.openxmlformats.org/drawingml/2006/main">
            <a:off x="609600" y="37147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Network: scaled time input, three hidden layers, positive state outputs</a:t>
            </a:r>
          </a:p>
        </p:txBody>
      </p:sp>
      <p:sp>
        <p:nvSpPr>
          <p:cNvPr id="6" name="parameters">
            <a:extLst xmlns:a="http://schemas.openxmlformats.org/drawingml/2006/main">
              <a:ext uri="{FF2B5EF4-FFF2-40B4-BE49-F238E27FC236}">
                <a16:creationId xmlns:a16="http://schemas.microsoft.com/office/drawing/2014/main" id="{14768C3F-59C8-409C-ADD8-DD37C150EB90}"/>
              </a:ext>
            </a:extLst>
          </p:cNvPr>
          <p:cNvSpPr>
            <a:spLocks xmlns:a="http://schemas.openxmlformats.org/drawingml/2006/main" noGrp="1"/>
          </p:cNvSpPr>
          <p:nvPr/>
        </p:nvSpPr>
        <p:spPr>
          <a:xfrm xmlns:a="http://schemas.openxmlformats.org/drawingml/2006/main">
            <a:off x="609600" y="44196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Estimate r, a and m. Fix K = 60, b = 20 and e = 0.6 for this controlled test.</a:t>
            </a:r>
          </a:p>
        </p:txBody>
      </p:sp>
      <p:sp>
        <p:nvSpPr>
          <p:cNvPr id="7" name="training">
            <a:extLst xmlns:a="http://schemas.openxmlformats.org/drawingml/2006/main">
              <a:ext uri="{FF2B5EF4-FFF2-40B4-BE49-F238E27FC236}">
                <a16:creationId xmlns:a16="http://schemas.microsoft.com/office/drawing/2014/main" id="{6E480E97-DE94-445A-8979-E95EE7179FCF}"/>
              </a:ext>
            </a:extLst>
          </p:cNvPr>
          <p:cNvSpPr>
            <a:spLocks xmlns:a="http://schemas.openxmlformats.org/drawingml/2006/main" noGrp="1"/>
          </p:cNvSpPr>
          <p:nvPr/>
        </p:nvSpPr>
        <p:spPr>
          <a:xfrm xmlns:a="http://schemas.openxmlformats.org/drawingml/2006/main">
            <a:off x="609600" y="52768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Adam and L-BFGS training use three seeds and observations through 1915.</a:t>
            </a:r>
          </a:p>
        </p:txBody>
      </p:sp>
      <p:sp>
        <p:nvSpPr>
          <p:cNvPr id="8" name="disclosure">
            <a:extLst xmlns:a="http://schemas.openxmlformats.org/drawingml/2006/main">
              <a:ext uri="{FF2B5EF4-FFF2-40B4-BE49-F238E27FC236}">
                <a16:creationId xmlns:a16="http://schemas.microsoft.com/office/drawing/2014/main" id="{96F9C19D-BFD5-4C6E-A8D6-4959A8214BE6}"/>
              </a:ext>
            </a:extLst>
          </p:cNvPr>
          <p:cNvSpPr>
            <a:spLocks xmlns:a="http://schemas.openxmlformats.org/drawingml/2006/main" noGrp="1"/>
          </p:cNvSpPr>
          <p:nvPr/>
        </p:nvSpPr>
        <p:spPr>
          <a:xfrm xmlns:a="http://schemas.openxmlformats.org/drawingml/2006/main">
            <a:off x="609600" y="62579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6263"/>
                </a:solidFill>
                <a:latin typeface="Arial"/>
                <a:ea typeface="Arial"/>
                <a:cs typeface="Arial"/>
              </a:defRPr>
            </a:defPPr>
            <a:lvl1pPr>
              <a:defRPr sz="1425" b="0">
                <a:solidFill>
                  <a:srgbClr val="4D6263"/>
                </a:solidFill>
                <a:latin typeface="Arial"/>
                <a:ea typeface="Arial"/>
                <a:cs typeface="Arial"/>
              </a:defRPr>
            </a:lvl1pPr>
            <a:lvl2pPr>
              <a:defRPr sz="1425" b="0">
                <a:solidFill>
                  <a:srgbClr val="4D6263"/>
                </a:solidFill>
                <a:latin typeface="Arial"/>
                <a:ea typeface="Arial"/>
                <a:cs typeface="Arial"/>
              </a:defRPr>
            </a:lvl2pPr>
            <a:lvl3pPr>
              <a:defRPr sz="1425" b="0">
                <a:solidFill>
                  <a:srgbClr val="4D6263"/>
                </a:solidFill>
                <a:latin typeface="Arial"/>
                <a:ea typeface="Arial"/>
                <a:cs typeface="Arial"/>
              </a:defRPr>
            </a:lvl3pPr>
            <a:lvl4pPr>
              <a:defRPr sz="1425" b="0">
                <a:solidFill>
                  <a:srgbClr val="4D6263"/>
                </a:solidFill>
                <a:latin typeface="Arial"/>
                <a:ea typeface="Arial"/>
                <a:cs typeface="Arial"/>
              </a:defRPr>
            </a:lvl4pPr>
            <a:lvl5pPr>
              <a:defRPr sz="1425" b="0">
                <a:solidFill>
                  <a:srgbClr val="4D6263"/>
                </a:solidFill>
                <a:latin typeface="Arial"/>
                <a:ea typeface="Arial"/>
                <a:cs typeface="Arial"/>
              </a:defRPr>
            </a:lvl5pPr>
            <a:lvl6pPr>
              <a:defRPr sz="1425" b="0">
                <a:solidFill>
                  <a:srgbClr val="4D6263"/>
                </a:solidFill>
                <a:latin typeface="Arial"/>
                <a:ea typeface="Arial"/>
                <a:cs typeface="Arial"/>
              </a:defRPr>
            </a:lvl6pPr>
            <a:lvl7pPr>
              <a:defRPr sz="1425" b="0">
                <a:solidFill>
                  <a:srgbClr val="4D6263"/>
                </a:solidFill>
                <a:latin typeface="Arial"/>
                <a:ea typeface="Arial"/>
                <a:cs typeface="Arial"/>
              </a:defRPr>
            </a:lvl7pPr>
            <a:lvl8pPr>
              <a:defRPr sz="1425" b="0">
                <a:solidFill>
                  <a:srgbClr val="4D6263"/>
                </a:solidFill>
                <a:latin typeface="Arial"/>
                <a:ea typeface="Arial"/>
                <a:cs typeface="Arial"/>
              </a:defRPr>
            </a:lvl8pPr>
            <a:lvl9pPr>
              <a:defRPr sz="1425" b="0">
                <a:solidFill>
                  <a:srgbClr val="4D6263"/>
                </a:solidFill>
                <a:latin typeface="Arial"/>
                <a:ea typeface="Arial"/>
                <a:cs typeface="Arial"/>
              </a:defRPr>
            </a:lvl9pPr>
          </a:lstStyle>
          <a:p xmlns:a="http://schemas.openxmlformats.org/drawingml/2006/main">
            <a:pPr>
              <a:defRPr sz="1425" b="0">
                <a:solidFill>
                  <a:srgbClr val="4D6263"/>
                </a:solidFill>
                <a:latin typeface="Arial"/>
                <a:ea typeface="Arial"/>
                <a:cs typeface="Arial"/>
              </a:defRPr>
            </a:pPr>
            <a:r>
              <a:rPr sz="1425" b="0">
                <a:solidFill>
                  <a:srgbClr val="4D6263"/>
                </a:solidFill>
                <a:latin typeface="Arial"/>
                <a:ea typeface="Arial"/>
                <a:cs typeface="Arial"/>
              </a:rPr>
              <a:t>Yash, MAC F314. All data in this segment are synthetic.</a:t>
            </a:r>
          </a:p>
        </p:txBody>
      </p:sp>
    </p:spTree>
    <p:extLst>
      <p:ext uri="{BB962C8B-B14F-4D97-AF65-F5344CB8AC3E}">
        <p14:creationId xmlns:p14="http://schemas.microsoft.com/office/powerpoint/2010/main" val="16286823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198DCD3-286C-48FA-97A4-477E10E01B92}"/>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5383A"/>
                </a:solidFill>
                <a:latin typeface="Arial"/>
                <a:ea typeface="Arial"/>
                <a:cs typeface="Arial"/>
              </a:defRPr>
            </a:defPPr>
            <a:lvl1pPr>
              <a:defRPr sz="3450" b="1">
                <a:solidFill>
                  <a:srgbClr val="15383A"/>
                </a:solidFill>
                <a:latin typeface="Arial"/>
                <a:ea typeface="Arial"/>
                <a:cs typeface="Arial"/>
              </a:defRPr>
            </a:lvl1pPr>
            <a:lvl2pPr>
              <a:defRPr sz="3450" b="1">
                <a:solidFill>
                  <a:srgbClr val="15383A"/>
                </a:solidFill>
                <a:latin typeface="Arial"/>
                <a:ea typeface="Arial"/>
                <a:cs typeface="Arial"/>
              </a:defRPr>
            </a:lvl2pPr>
            <a:lvl3pPr>
              <a:defRPr sz="3450" b="1">
                <a:solidFill>
                  <a:srgbClr val="15383A"/>
                </a:solidFill>
                <a:latin typeface="Arial"/>
                <a:ea typeface="Arial"/>
                <a:cs typeface="Arial"/>
              </a:defRPr>
            </a:lvl3pPr>
            <a:lvl4pPr>
              <a:defRPr sz="3450" b="1">
                <a:solidFill>
                  <a:srgbClr val="15383A"/>
                </a:solidFill>
                <a:latin typeface="Arial"/>
                <a:ea typeface="Arial"/>
                <a:cs typeface="Arial"/>
              </a:defRPr>
            </a:lvl4pPr>
            <a:lvl5pPr>
              <a:defRPr sz="3450" b="1">
                <a:solidFill>
                  <a:srgbClr val="15383A"/>
                </a:solidFill>
                <a:latin typeface="Arial"/>
                <a:ea typeface="Arial"/>
                <a:cs typeface="Arial"/>
              </a:defRPr>
            </a:lvl5pPr>
            <a:lvl6pPr>
              <a:defRPr sz="3450" b="1">
                <a:solidFill>
                  <a:srgbClr val="15383A"/>
                </a:solidFill>
                <a:latin typeface="Arial"/>
                <a:ea typeface="Arial"/>
                <a:cs typeface="Arial"/>
              </a:defRPr>
            </a:lvl6pPr>
            <a:lvl7pPr>
              <a:defRPr sz="3450" b="1">
                <a:solidFill>
                  <a:srgbClr val="15383A"/>
                </a:solidFill>
                <a:latin typeface="Arial"/>
                <a:ea typeface="Arial"/>
                <a:cs typeface="Arial"/>
              </a:defRPr>
            </a:lvl7pPr>
            <a:lvl8pPr>
              <a:defRPr sz="3450" b="1">
                <a:solidFill>
                  <a:srgbClr val="15383A"/>
                </a:solidFill>
                <a:latin typeface="Arial"/>
                <a:ea typeface="Arial"/>
                <a:cs typeface="Arial"/>
              </a:defRPr>
            </a:lvl8pPr>
            <a:lvl9pPr>
              <a:defRPr sz="3450" b="1">
                <a:solidFill>
                  <a:srgbClr val="15383A"/>
                </a:solidFill>
                <a:latin typeface="Arial"/>
                <a:ea typeface="Arial"/>
                <a:cs typeface="Arial"/>
              </a:defRPr>
            </a:lvl9pPr>
          </a:lstStyle>
          <a:p xmlns:a="http://schemas.openxmlformats.org/drawingml/2006/main">
            <a:pPr>
              <a:defRPr sz="3450" b="1">
                <a:solidFill>
                  <a:srgbClr val="15383A"/>
                </a:solidFill>
                <a:latin typeface="Arial"/>
                <a:ea typeface="Arial"/>
                <a:cs typeface="Arial"/>
              </a:defRPr>
            </a:pPr>
            <a:r>
              <a:rPr sz="3450" b="1">
                <a:solidFill>
                  <a:srgbClr val="15383A"/>
                </a:solidFill>
                <a:latin typeface="Arial"/>
                <a:ea typeface="Arial"/>
                <a:cs typeface="Arial"/>
              </a:rPr>
              <a:t>Synthetic recovery and ODE forecasts</a:t>
            </a:r>
          </a:p>
        </p:txBody>
      </p:sp>
      <p:sp>
        <p:nvSpPr>
          <p:cNvPr id="3" name="recovery-value">
            <a:extLst xmlns:a="http://schemas.openxmlformats.org/drawingml/2006/main">
              <a:ext uri="{FF2B5EF4-FFF2-40B4-BE49-F238E27FC236}">
                <a16:creationId xmlns:a16="http://schemas.microsoft.com/office/drawing/2014/main" id="{EFA279A9-7762-4B7F-8D84-8C6439FA17AE}"/>
              </a:ext>
            </a:extLst>
          </p:cNvPr>
          <p:cNvSpPr>
            <a:spLocks xmlns:a="http://schemas.openxmlformats.org/drawingml/2006/main" noGrp="1"/>
          </p:cNvSpPr>
          <p:nvPr/>
        </p:nvSpPr>
        <p:spPr>
          <a:xfrm xmlns:a="http://schemas.openxmlformats.org/drawingml/2006/main">
            <a:off x="609600" y="1571625"/>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1">
                <a:solidFill>
                  <a:srgbClr val="197278"/>
                </a:solidFill>
                <a:latin typeface="Arial"/>
                <a:ea typeface="Arial"/>
                <a:cs typeface="Arial"/>
              </a:defRPr>
            </a:defPPr>
            <a:lvl1pPr>
              <a:defRPr sz="5850" b="1">
                <a:solidFill>
                  <a:srgbClr val="197278"/>
                </a:solidFill>
                <a:latin typeface="Arial"/>
                <a:ea typeface="Arial"/>
                <a:cs typeface="Arial"/>
              </a:defRPr>
            </a:lvl1pPr>
            <a:lvl2pPr>
              <a:defRPr sz="5850" b="1">
                <a:solidFill>
                  <a:srgbClr val="197278"/>
                </a:solidFill>
                <a:latin typeface="Arial"/>
                <a:ea typeface="Arial"/>
                <a:cs typeface="Arial"/>
              </a:defRPr>
            </a:lvl2pPr>
            <a:lvl3pPr>
              <a:defRPr sz="5850" b="1">
                <a:solidFill>
                  <a:srgbClr val="197278"/>
                </a:solidFill>
                <a:latin typeface="Arial"/>
                <a:ea typeface="Arial"/>
                <a:cs typeface="Arial"/>
              </a:defRPr>
            </a:lvl3pPr>
            <a:lvl4pPr>
              <a:defRPr sz="5850" b="1">
                <a:solidFill>
                  <a:srgbClr val="197278"/>
                </a:solidFill>
                <a:latin typeface="Arial"/>
                <a:ea typeface="Arial"/>
                <a:cs typeface="Arial"/>
              </a:defRPr>
            </a:lvl4pPr>
            <a:lvl5pPr>
              <a:defRPr sz="5850" b="1">
                <a:solidFill>
                  <a:srgbClr val="197278"/>
                </a:solidFill>
                <a:latin typeface="Arial"/>
                <a:ea typeface="Arial"/>
                <a:cs typeface="Arial"/>
              </a:defRPr>
            </a:lvl5pPr>
            <a:lvl6pPr>
              <a:defRPr sz="5850" b="1">
                <a:solidFill>
                  <a:srgbClr val="197278"/>
                </a:solidFill>
                <a:latin typeface="Arial"/>
                <a:ea typeface="Arial"/>
                <a:cs typeface="Arial"/>
              </a:defRPr>
            </a:lvl6pPr>
            <a:lvl7pPr>
              <a:defRPr sz="5850" b="1">
                <a:solidFill>
                  <a:srgbClr val="197278"/>
                </a:solidFill>
                <a:latin typeface="Arial"/>
                <a:ea typeface="Arial"/>
                <a:cs typeface="Arial"/>
              </a:defRPr>
            </a:lvl7pPr>
            <a:lvl8pPr>
              <a:defRPr sz="5850" b="1">
                <a:solidFill>
                  <a:srgbClr val="197278"/>
                </a:solidFill>
                <a:latin typeface="Arial"/>
                <a:ea typeface="Arial"/>
                <a:cs typeface="Arial"/>
              </a:defRPr>
            </a:lvl8pPr>
            <a:lvl9pPr>
              <a:defRPr sz="5850" b="1">
                <a:solidFill>
                  <a:srgbClr val="197278"/>
                </a:solidFill>
                <a:latin typeface="Arial"/>
                <a:ea typeface="Arial"/>
                <a:cs typeface="Arial"/>
              </a:defRPr>
            </a:lvl9pPr>
          </a:lstStyle>
          <a:p xmlns:a="http://schemas.openxmlformats.org/drawingml/2006/main">
            <a:pPr>
              <a:defRPr sz="5850" b="1">
                <a:solidFill>
                  <a:srgbClr val="197278"/>
                </a:solidFill>
                <a:latin typeface="Arial"/>
                <a:ea typeface="Arial"/>
                <a:cs typeface="Arial"/>
              </a:defRPr>
            </a:pPr>
            <a:r>
              <a:rPr sz="5850" b="1">
                <a:solidFill>
                  <a:srgbClr val="197278"/>
                </a:solidFill>
                <a:latin typeface="Arial"/>
                <a:ea typeface="Arial"/>
                <a:cs typeface="Arial"/>
              </a:rPr>
              <a:t>0.36%</a:t>
            </a:r>
          </a:p>
        </p:txBody>
      </p:sp>
      <p:sp>
        <p:nvSpPr>
          <p:cNvPr id="4" name="recovery-label">
            <a:extLst xmlns:a="http://schemas.openxmlformats.org/drawingml/2006/main">
              <a:ext uri="{FF2B5EF4-FFF2-40B4-BE49-F238E27FC236}">
                <a16:creationId xmlns:a16="http://schemas.microsoft.com/office/drawing/2014/main" id="{CBC1139D-65AC-4CCA-87EE-D4538C4FEB6B}"/>
              </a:ext>
            </a:extLst>
          </p:cNvPr>
          <p:cNvSpPr>
            <a:spLocks xmlns:a="http://schemas.openxmlformats.org/drawingml/2006/main" noGrp="1"/>
          </p:cNvSpPr>
          <p:nvPr/>
        </p:nvSpPr>
        <p:spPr>
          <a:xfrm xmlns:a="http://schemas.openxmlformats.org/drawingml/2006/main">
            <a:off x="609600" y="271462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A"/>
                </a:solidFill>
                <a:latin typeface="Arial"/>
                <a:ea typeface="Arial"/>
                <a:cs typeface="Arial"/>
              </a:defRPr>
            </a:defPPr>
            <a:lvl1pPr>
              <a:defRPr sz="2100" b="0">
                <a:solidFill>
                  <a:srgbClr val="15383A"/>
                </a:solidFill>
                <a:latin typeface="Arial"/>
                <a:ea typeface="Arial"/>
                <a:cs typeface="Arial"/>
              </a:defRPr>
            </a:lvl1pPr>
            <a:lvl2pPr>
              <a:defRPr sz="2100" b="0">
                <a:solidFill>
                  <a:srgbClr val="15383A"/>
                </a:solidFill>
                <a:latin typeface="Arial"/>
                <a:ea typeface="Arial"/>
                <a:cs typeface="Arial"/>
              </a:defRPr>
            </a:lvl2pPr>
            <a:lvl3pPr>
              <a:defRPr sz="2100" b="0">
                <a:solidFill>
                  <a:srgbClr val="15383A"/>
                </a:solidFill>
                <a:latin typeface="Arial"/>
                <a:ea typeface="Arial"/>
                <a:cs typeface="Arial"/>
              </a:defRPr>
            </a:lvl3pPr>
            <a:lvl4pPr>
              <a:defRPr sz="2100" b="0">
                <a:solidFill>
                  <a:srgbClr val="15383A"/>
                </a:solidFill>
                <a:latin typeface="Arial"/>
                <a:ea typeface="Arial"/>
                <a:cs typeface="Arial"/>
              </a:defRPr>
            </a:lvl4pPr>
            <a:lvl5pPr>
              <a:defRPr sz="2100" b="0">
                <a:solidFill>
                  <a:srgbClr val="15383A"/>
                </a:solidFill>
                <a:latin typeface="Arial"/>
                <a:ea typeface="Arial"/>
                <a:cs typeface="Arial"/>
              </a:defRPr>
            </a:lvl5pPr>
            <a:lvl6pPr>
              <a:defRPr sz="2100" b="0">
                <a:solidFill>
                  <a:srgbClr val="15383A"/>
                </a:solidFill>
                <a:latin typeface="Arial"/>
                <a:ea typeface="Arial"/>
                <a:cs typeface="Arial"/>
              </a:defRPr>
            </a:lvl6pPr>
            <a:lvl7pPr>
              <a:defRPr sz="2100" b="0">
                <a:solidFill>
                  <a:srgbClr val="15383A"/>
                </a:solidFill>
                <a:latin typeface="Arial"/>
                <a:ea typeface="Arial"/>
                <a:cs typeface="Arial"/>
              </a:defRPr>
            </a:lvl7pPr>
            <a:lvl8pPr>
              <a:defRPr sz="2100" b="0">
                <a:solidFill>
                  <a:srgbClr val="15383A"/>
                </a:solidFill>
                <a:latin typeface="Arial"/>
                <a:ea typeface="Arial"/>
                <a:cs typeface="Arial"/>
              </a:defRPr>
            </a:lvl8pPr>
            <a:lvl9pPr>
              <a:defRPr sz="2100" b="0">
                <a:solidFill>
                  <a:srgbClr val="15383A"/>
                </a:solidFill>
                <a:latin typeface="Arial"/>
                <a:ea typeface="Arial"/>
                <a:cs typeface="Arial"/>
              </a:defRPr>
            </a:lvl9pPr>
          </a:lstStyle>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Maximum parameter error</a:t>
            </a:r>
          </a:p>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across three annual-data seeds</a:t>
            </a:r>
          </a:p>
        </p:txBody>
      </p:sp>
      <p:sp>
        <p:nvSpPr>
          <p:cNvPr id="5" name="scope">
            <a:extLst xmlns:a="http://schemas.openxmlformats.org/drawingml/2006/main">
              <a:ext uri="{FF2B5EF4-FFF2-40B4-BE49-F238E27FC236}">
                <a16:creationId xmlns:a16="http://schemas.microsoft.com/office/drawing/2014/main" id="{04D21C88-65F2-4AE7-AA66-3A201C321D4E}"/>
              </a:ext>
            </a:extLst>
          </p:cNvPr>
          <p:cNvSpPr>
            <a:spLocks xmlns:a="http://schemas.openxmlformats.org/drawingml/2006/main" noGrp="1"/>
          </p:cNvSpPr>
          <p:nvPr/>
        </p:nvSpPr>
        <p:spPr>
          <a:xfrm xmlns:a="http://schemas.openxmlformats.org/drawingml/2006/main">
            <a:off x="609600" y="38576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4D6263"/>
                </a:solidFill>
                <a:latin typeface="Arial"/>
                <a:ea typeface="Arial"/>
                <a:cs typeface="Arial"/>
              </a:defRPr>
            </a:defPPr>
            <a:lvl1pPr>
              <a:defRPr sz="1875" b="0">
                <a:solidFill>
                  <a:srgbClr val="4D6263"/>
                </a:solidFill>
                <a:latin typeface="Arial"/>
                <a:ea typeface="Arial"/>
                <a:cs typeface="Arial"/>
              </a:defRPr>
            </a:lvl1pPr>
            <a:lvl2pPr>
              <a:defRPr sz="1875" b="0">
                <a:solidFill>
                  <a:srgbClr val="4D6263"/>
                </a:solidFill>
                <a:latin typeface="Arial"/>
                <a:ea typeface="Arial"/>
                <a:cs typeface="Arial"/>
              </a:defRPr>
            </a:lvl2pPr>
            <a:lvl3pPr>
              <a:defRPr sz="1875" b="0">
                <a:solidFill>
                  <a:srgbClr val="4D6263"/>
                </a:solidFill>
                <a:latin typeface="Arial"/>
                <a:ea typeface="Arial"/>
                <a:cs typeface="Arial"/>
              </a:defRPr>
            </a:lvl3pPr>
            <a:lvl4pPr>
              <a:defRPr sz="1875" b="0">
                <a:solidFill>
                  <a:srgbClr val="4D6263"/>
                </a:solidFill>
                <a:latin typeface="Arial"/>
                <a:ea typeface="Arial"/>
                <a:cs typeface="Arial"/>
              </a:defRPr>
            </a:lvl4pPr>
            <a:lvl5pPr>
              <a:defRPr sz="1875" b="0">
                <a:solidFill>
                  <a:srgbClr val="4D6263"/>
                </a:solidFill>
                <a:latin typeface="Arial"/>
                <a:ea typeface="Arial"/>
                <a:cs typeface="Arial"/>
              </a:defRPr>
            </a:lvl5pPr>
            <a:lvl6pPr>
              <a:defRPr sz="1875" b="0">
                <a:solidFill>
                  <a:srgbClr val="4D6263"/>
                </a:solidFill>
                <a:latin typeface="Arial"/>
                <a:ea typeface="Arial"/>
                <a:cs typeface="Arial"/>
              </a:defRPr>
            </a:lvl6pPr>
            <a:lvl7pPr>
              <a:defRPr sz="1875" b="0">
                <a:solidFill>
                  <a:srgbClr val="4D6263"/>
                </a:solidFill>
                <a:latin typeface="Arial"/>
                <a:ea typeface="Arial"/>
                <a:cs typeface="Arial"/>
              </a:defRPr>
            </a:lvl7pPr>
            <a:lvl8pPr>
              <a:defRPr sz="1875" b="0">
                <a:solidFill>
                  <a:srgbClr val="4D6263"/>
                </a:solidFill>
                <a:latin typeface="Arial"/>
                <a:ea typeface="Arial"/>
                <a:cs typeface="Arial"/>
              </a:defRPr>
            </a:lvl8pPr>
            <a:lvl9pPr>
              <a:defRPr sz="1875" b="0">
                <a:solidFill>
                  <a:srgbClr val="4D6263"/>
                </a:solidFill>
                <a:latin typeface="Arial"/>
                <a:ea typeface="Arial"/>
                <a:cs typeface="Arial"/>
              </a:defRPr>
            </a:lvl9pPr>
          </a:lstStyle>
          <a:p xmlns:a="http://schemas.openxmlformats.org/drawingml/2006/main">
            <a:pPr>
              <a:defRPr sz="1875" b="0">
                <a:solidFill>
                  <a:srgbClr val="4D6263"/>
                </a:solidFill>
                <a:latin typeface="Arial"/>
                <a:ea typeface="Arial"/>
                <a:cs typeface="Arial"/>
              </a:defRPr>
            </a:pPr>
            <a:r>
              <a:rPr sz="1875" b="0">
                <a:solidFill>
                  <a:srgbClr val="4D6263"/>
                </a:solidFill>
                <a:latin typeface="Arial"/>
                <a:ea typeface="Arial"/>
                <a:cs typeface="Arial"/>
              </a:rPr>
              <a:t>16 training observations with 3% noise</a:t>
            </a:r>
          </a:p>
          <a:p xmlns:a="http://schemas.openxmlformats.org/drawingml/2006/main">
            <a:pPr>
              <a:defRPr sz="1875" b="0">
                <a:solidFill>
                  <a:srgbClr val="4D6263"/>
                </a:solidFill>
                <a:latin typeface="Arial"/>
                <a:ea typeface="Arial"/>
                <a:cs typeface="Arial"/>
              </a:defRPr>
            </a:pPr>
            <a:r>
              <a:rPr sz="1875" b="0">
                <a:solidFill>
                  <a:srgbClr val="4D6263"/>
                </a:solidFill>
                <a:latin typeface="Arial"/>
                <a:ea typeface="Arial"/>
                <a:cs typeface="Arial"/>
              </a:rPr>
              <a:t>Estimate r, a and m</a:t>
            </a:r>
          </a:p>
          <a:p xmlns:a="http://schemas.openxmlformats.org/drawingml/2006/main">
            <a:pPr>
              <a:defRPr sz="1875" b="0">
                <a:solidFill>
                  <a:srgbClr val="4D6263"/>
                </a:solidFill>
                <a:latin typeface="Arial"/>
                <a:ea typeface="Arial"/>
                <a:cs typeface="Arial"/>
              </a:defRPr>
            </a:pPr>
            <a:r>
              <a:rPr sz="1875" b="0">
                <a:solidFill>
                  <a:srgbClr val="4D6263"/>
                </a:solidFill>
                <a:latin typeface="Arial"/>
                <a:ea typeface="Arial"/>
                <a:cs typeface="Arial"/>
              </a:rPr>
              <a:t>One fixed noise realization</a:t>
            </a:r>
          </a:p>
        </p:txBody>
      </p:sp>
      <p:graphicFrame>
        <p:nvGraphicFramePr>
          <p:cNvPr id="6" name="Chart">
            <a:extLst xmlns:a="http://schemas.openxmlformats.org/drawingml/2006/main">
              <a:ext uri="{FF2B5EF4-FFF2-40B4-BE49-F238E27FC236}">
                <a16:creationId xmlns:a16="http://schemas.microsoft.com/office/drawing/2014/main" id="{ABE8AB24-61E6-4ECE-8720-498321241952}"/>
              </a:ext>
            </a:extLst>
          </p:cNvPr>
          <p:cNvGraphicFramePr/>
          <p:nvPr/>
        </p:nvGraphicFramePr>
        <p:xfrm>
          <a:off xmlns:a="http://schemas.openxmlformats.org/drawingml/2006/main" x="4905375" y="1381125"/>
          <a:ext xmlns:a="http://schemas.openxmlformats.org/drawingml/2006/main" cx="6667500" cy="3905250"/>
        </p:xfrm>
        <a:graphic xmlns:a="http://schemas.openxmlformats.org/drawingml/2006/main">
          <a:graphicData uri="http://schemas.openxmlformats.org/drawingml/2006/chart">
            <c:chart xmlns:r="http://schemas.openxmlformats.org/officeDocument/2006/relationships" xmlns:c="http://schemas.openxmlformats.org/drawingml/2006/chart" r:id="R78b1318b53a04b82"/>
          </a:graphicData>
        </a:graphic>
      </p:graphicFrame>
      <p:sp>
        <p:nvSpPr>
          <p:cNvPr id="7" name="finding">
            <a:extLst xmlns:a="http://schemas.openxmlformats.org/drawingml/2006/main">
              <a:ext uri="{FF2B5EF4-FFF2-40B4-BE49-F238E27FC236}">
                <a16:creationId xmlns:a16="http://schemas.microsoft.com/office/drawing/2014/main" id="{722E6214-0A09-4F8A-A16A-870E54C6EF92}"/>
              </a:ext>
            </a:extLst>
          </p:cNvPr>
          <p:cNvSpPr>
            <a:spLocks xmlns:a="http://schemas.openxmlformats.org/drawingml/2006/main" noGrp="1"/>
          </p:cNvSpPr>
          <p:nvPr/>
        </p:nvSpPr>
        <p:spPr>
          <a:xfrm xmlns:a="http://schemas.openxmlformats.org/drawingml/2006/main">
            <a:off x="609600" y="55149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383A"/>
                </a:solidFill>
                <a:latin typeface="Arial"/>
                <a:ea typeface="Arial"/>
                <a:cs typeface="Arial"/>
              </a:defRPr>
            </a:defPPr>
            <a:lvl1pPr>
              <a:defRPr sz="2175" b="1">
                <a:solidFill>
                  <a:srgbClr val="15383A"/>
                </a:solidFill>
                <a:latin typeface="Arial"/>
                <a:ea typeface="Arial"/>
                <a:cs typeface="Arial"/>
              </a:defRPr>
            </a:lvl1pPr>
            <a:lvl2pPr>
              <a:defRPr sz="2175" b="1">
                <a:solidFill>
                  <a:srgbClr val="15383A"/>
                </a:solidFill>
                <a:latin typeface="Arial"/>
                <a:ea typeface="Arial"/>
                <a:cs typeface="Arial"/>
              </a:defRPr>
            </a:lvl2pPr>
            <a:lvl3pPr>
              <a:defRPr sz="2175" b="1">
                <a:solidFill>
                  <a:srgbClr val="15383A"/>
                </a:solidFill>
                <a:latin typeface="Arial"/>
                <a:ea typeface="Arial"/>
                <a:cs typeface="Arial"/>
              </a:defRPr>
            </a:lvl3pPr>
            <a:lvl4pPr>
              <a:defRPr sz="2175" b="1">
                <a:solidFill>
                  <a:srgbClr val="15383A"/>
                </a:solidFill>
                <a:latin typeface="Arial"/>
                <a:ea typeface="Arial"/>
                <a:cs typeface="Arial"/>
              </a:defRPr>
            </a:lvl4pPr>
            <a:lvl5pPr>
              <a:defRPr sz="2175" b="1">
                <a:solidFill>
                  <a:srgbClr val="15383A"/>
                </a:solidFill>
                <a:latin typeface="Arial"/>
                <a:ea typeface="Arial"/>
                <a:cs typeface="Arial"/>
              </a:defRPr>
            </a:lvl5pPr>
            <a:lvl6pPr>
              <a:defRPr sz="2175" b="1">
                <a:solidFill>
                  <a:srgbClr val="15383A"/>
                </a:solidFill>
                <a:latin typeface="Arial"/>
                <a:ea typeface="Arial"/>
                <a:cs typeface="Arial"/>
              </a:defRPr>
            </a:lvl6pPr>
            <a:lvl7pPr>
              <a:defRPr sz="2175" b="1">
                <a:solidFill>
                  <a:srgbClr val="15383A"/>
                </a:solidFill>
                <a:latin typeface="Arial"/>
                <a:ea typeface="Arial"/>
                <a:cs typeface="Arial"/>
              </a:defRPr>
            </a:lvl7pPr>
            <a:lvl8pPr>
              <a:defRPr sz="2175" b="1">
                <a:solidFill>
                  <a:srgbClr val="15383A"/>
                </a:solidFill>
                <a:latin typeface="Arial"/>
                <a:ea typeface="Arial"/>
                <a:cs typeface="Arial"/>
              </a:defRPr>
            </a:lvl8pPr>
            <a:lvl9pPr>
              <a:defRPr sz="2175" b="1">
                <a:solidFill>
                  <a:srgbClr val="15383A"/>
                </a:solidFill>
                <a:latin typeface="Arial"/>
                <a:ea typeface="Arial"/>
                <a:cs typeface="Arial"/>
              </a:defRPr>
            </a:lvl9pPr>
          </a:lstStyle>
          <a:p xmlns:a="http://schemas.openxmlformats.org/drawingml/2006/main">
            <a:pPr>
              <a:defRPr sz="2175" b="1">
                <a:solidFill>
                  <a:srgbClr val="15383A"/>
                </a:solidFill>
                <a:latin typeface="Arial"/>
                <a:ea typeface="Arial"/>
                <a:cs typeface="Arial"/>
              </a:defRPr>
            </a:pPr>
            <a:r>
              <a:rPr sz="2175" b="1">
                <a:solidFill>
                  <a:srgbClr val="15383A"/>
                </a:solidFill>
                <a:latin typeface="Arial"/>
                <a:ea typeface="Arial"/>
                <a:cs typeface="Arial"/>
              </a:rPr>
              <a:t>Least squares has lower hare RMSE. The PINN has lower lynx RMSE.</a:t>
            </a:r>
          </a:p>
        </p:txBody>
      </p:sp>
      <p:sp>
        <p:nvSpPr>
          <p:cNvPr id="8" name="caveat">
            <a:extLst xmlns:a="http://schemas.openxmlformats.org/drawingml/2006/main">
              <a:ext uri="{FF2B5EF4-FFF2-40B4-BE49-F238E27FC236}">
                <a16:creationId xmlns:a16="http://schemas.microsoft.com/office/drawing/2014/main" id="{BFEFB470-86A8-401F-A7A7-A47C62400FBA}"/>
              </a:ext>
            </a:extLst>
          </p:cNvPr>
          <p:cNvSpPr>
            <a:spLocks xmlns:a="http://schemas.openxmlformats.org/drawingml/2006/main" noGrp="1"/>
          </p:cNvSpPr>
          <p:nvPr/>
        </p:nvSpPr>
        <p:spPr>
          <a:xfrm xmlns:a="http://schemas.openxmlformats.org/drawingml/2006/main">
            <a:off x="609600" y="62484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D6263"/>
                </a:solidFill>
                <a:latin typeface="Arial"/>
                <a:ea typeface="Arial"/>
                <a:cs typeface="Arial"/>
              </a:defRPr>
            </a:defPPr>
            <a:lvl1pPr>
              <a:defRPr sz="1575" b="0">
                <a:solidFill>
                  <a:srgbClr val="4D6263"/>
                </a:solidFill>
                <a:latin typeface="Arial"/>
                <a:ea typeface="Arial"/>
                <a:cs typeface="Arial"/>
              </a:defRPr>
            </a:lvl1pPr>
            <a:lvl2pPr>
              <a:defRPr sz="1575" b="0">
                <a:solidFill>
                  <a:srgbClr val="4D6263"/>
                </a:solidFill>
                <a:latin typeface="Arial"/>
                <a:ea typeface="Arial"/>
                <a:cs typeface="Arial"/>
              </a:defRPr>
            </a:lvl2pPr>
            <a:lvl3pPr>
              <a:defRPr sz="1575" b="0">
                <a:solidFill>
                  <a:srgbClr val="4D6263"/>
                </a:solidFill>
                <a:latin typeface="Arial"/>
                <a:ea typeface="Arial"/>
                <a:cs typeface="Arial"/>
              </a:defRPr>
            </a:lvl3pPr>
            <a:lvl4pPr>
              <a:defRPr sz="1575" b="0">
                <a:solidFill>
                  <a:srgbClr val="4D6263"/>
                </a:solidFill>
                <a:latin typeface="Arial"/>
                <a:ea typeface="Arial"/>
                <a:cs typeface="Arial"/>
              </a:defRPr>
            </a:lvl4pPr>
            <a:lvl5pPr>
              <a:defRPr sz="1575" b="0">
                <a:solidFill>
                  <a:srgbClr val="4D6263"/>
                </a:solidFill>
                <a:latin typeface="Arial"/>
                <a:ea typeface="Arial"/>
                <a:cs typeface="Arial"/>
              </a:defRPr>
            </a:lvl5pPr>
            <a:lvl6pPr>
              <a:defRPr sz="1575" b="0">
                <a:solidFill>
                  <a:srgbClr val="4D6263"/>
                </a:solidFill>
                <a:latin typeface="Arial"/>
                <a:ea typeface="Arial"/>
                <a:cs typeface="Arial"/>
              </a:defRPr>
            </a:lvl6pPr>
            <a:lvl7pPr>
              <a:defRPr sz="1575" b="0">
                <a:solidFill>
                  <a:srgbClr val="4D6263"/>
                </a:solidFill>
                <a:latin typeface="Arial"/>
                <a:ea typeface="Arial"/>
                <a:cs typeface="Arial"/>
              </a:defRPr>
            </a:lvl7pPr>
            <a:lvl8pPr>
              <a:defRPr sz="1575" b="0">
                <a:solidFill>
                  <a:srgbClr val="4D6263"/>
                </a:solidFill>
                <a:latin typeface="Arial"/>
                <a:ea typeface="Arial"/>
                <a:cs typeface="Arial"/>
              </a:defRPr>
            </a:lvl8pPr>
            <a:lvl9pPr>
              <a:defRPr sz="1575" b="0">
                <a:solidFill>
                  <a:srgbClr val="4D6263"/>
                </a:solidFill>
                <a:latin typeface="Arial"/>
                <a:ea typeface="Arial"/>
                <a:cs typeface="Arial"/>
              </a:defRPr>
            </a:lvl9pPr>
          </a:lstStyle>
          <a:p xmlns:a="http://schemas.openxmlformats.org/drawingml/2006/main">
            <a:pPr>
              <a:defRPr sz="1575" b="0">
                <a:solidFill>
                  <a:srgbClr val="4D6263"/>
                </a:solidFill>
                <a:latin typeface="Arial"/>
                <a:ea typeface="Arial"/>
                <a:cs typeface="Arial"/>
              </a:defRPr>
            </a:pPr>
            <a:r>
              <a:rPr sz="1575" b="0">
                <a:solidFill>
                  <a:srgbClr val="4D6263"/>
                </a:solidFill>
                <a:latin typeface="Arial"/>
                <a:ea typeface="Arial"/>
                <a:cs typeface="Arial"/>
              </a:rPr>
              <a:t>Five test years after 1915. Correct fixed constants and an exact initial state limit the claim.</a:t>
            </a:r>
          </a:p>
        </p:txBody>
      </p:sp>
    </p:spTree>
    <p:extLst>
      <p:ext uri="{BB962C8B-B14F-4D97-AF65-F5344CB8AC3E}">
        <p14:creationId xmlns:p14="http://schemas.microsoft.com/office/powerpoint/2010/main" val="253974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2026-10-26T11:47:56.7740000Z</dcterms:created>
  <dcterms:modified xsi:type="dcterms:W3CDTF">2026-10-26T11:47:56.7740000Z</dcterms:modified>
</coreProperties>
</file>