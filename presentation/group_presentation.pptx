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33f1d5d5525486a" /><Relationship Type="http://schemas.openxmlformats.org/officeDocument/2006/relationships/extended-properties" Target="/docProps/app.xml" Id="R7b0144f1caf04c6c" /><Relationship Type="http://schemas.openxmlformats.org/officeDocument/2006/relationships/officeDocument" Target="/ppt/presentation.xml" Id="R58ecc31aaecd43f3" /></Relationships>
</file>

<file path=ppt/presentation.xml><?xml version="1.0" encoding="utf-8"?>
<p:presentation xmlns:p="http://schemas.openxmlformats.org/presentationml/2006/main">
  <p:sldMasterIdLst>
    <p:sldMasterId xmlns:r="http://schemas.openxmlformats.org/officeDocument/2006/relationships" id="2147483648" r:id="R8d1884c99e454179"/>
  </p:sldMasterIdLst>
  <p:notesMasterIdLst>
    <p:notesMasterId xmlns:r="http://schemas.openxmlformats.org/officeDocument/2006/relationships" r:id="R6b679884f9d94e94"/>
  </p:notesMasterIdLst>
  <p:sldIdLst>
    <p:sldId xmlns:r="http://schemas.openxmlformats.org/officeDocument/2006/relationships" id="256" r:id="R5f527007054e43a2"/>
    <p:sldId xmlns:r="http://schemas.openxmlformats.org/officeDocument/2006/relationships" id="257" r:id="Reafbb1593d6f48b9"/>
    <p:sldId xmlns:r="http://schemas.openxmlformats.org/officeDocument/2006/relationships" id="258" r:id="R0fd22b00b51f431f"/>
    <p:sldId xmlns:r="http://schemas.openxmlformats.org/officeDocument/2006/relationships" id="259" r:id="Rc644be061e6d48e5"/>
    <p:sldId xmlns:r="http://schemas.openxmlformats.org/officeDocument/2006/relationships" id="260" r:id="Re537fe0abb824ce3"/>
    <p:sldId xmlns:r="http://schemas.openxmlformats.org/officeDocument/2006/relationships" id="261" r:id="Ra5aabca344174046"/>
    <p:sldId xmlns:r="http://schemas.openxmlformats.org/officeDocument/2006/relationships" id="262" r:id="R9cc9485f536640b0"/>
    <p:sldId xmlns:r="http://schemas.openxmlformats.org/officeDocument/2006/relationships" id="263" r:id="Rd2e48ba9e31a459d"/>
    <p:sldId xmlns:r="http://schemas.openxmlformats.org/officeDocument/2006/relationships" id="264" r:id="R6ba41d5e060c42e7"/>
    <p:sldId xmlns:r="http://schemas.openxmlformats.org/officeDocument/2006/relationships" id="265" r:id="R7f0498cfa08149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e66ae5c5c417b" /><Relationship Type="http://schemas.openxmlformats.org/officeDocument/2006/relationships/slideMaster" Target="/ppt/slideMasters/slideMaster1.xml" Id="R8d1884c99e454179" /><Relationship Type="http://schemas.openxmlformats.org/officeDocument/2006/relationships/notesMaster" Target="/ppt/notesMasters/notesMaster1.xml" Id="R6b679884f9d94e94" /><Relationship Type="http://schemas.openxmlformats.org/officeDocument/2006/relationships/presProps" Target="/ppt/presProps.xml" Id="R3e9578d735364833" /><Relationship Type="http://schemas.openxmlformats.org/officeDocument/2006/relationships/tableStyles" Target="/ppt/tableStyles.xml" Id="R63bfb2225f834291" /><Relationship Type="http://schemas.openxmlformats.org/officeDocument/2006/relationships/slide" Target="/ppt/slides/slide1.xml" Id="R5f527007054e43a2" /><Relationship Type="http://schemas.openxmlformats.org/officeDocument/2006/relationships/slide" Target="/ppt/slides/slide2.xml" Id="Reafbb1593d6f48b9" /><Relationship Type="http://schemas.openxmlformats.org/officeDocument/2006/relationships/slide" Target="/ppt/slides/slide3.xml" Id="R0fd22b00b51f431f" /><Relationship Type="http://schemas.openxmlformats.org/officeDocument/2006/relationships/slide" Target="/ppt/slides/slide4.xml" Id="Rc644be061e6d48e5" /><Relationship Type="http://schemas.openxmlformats.org/officeDocument/2006/relationships/slide" Target="/ppt/slides/slide5.xml" Id="Re537fe0abb824ce3" /><Relationship Type="http://schemas.openxmlformats.org/officeDocument/2006/relationships/slide" Target="/ppt/slides/slide6.xml" Id="Ra5aabca344174046" /><Relationship Type="http://schemas.openxmlformats.org/officeDocument/2006/relationships/slide" Target="/ppt/slides/slide7.xml" Id="R9cc9485f536640b0" /><Relationship Type="http://schemas.openxmlformats.org/officeDocument/2006/relationships/slide" Target="/ppt/slides/slide8.xml" Id="Rd2e48ba9e31a459d" /><Relationship Type="http://schemas.openxmlformats.org/officeDocument/2006/relationships/slide" Target="/ppt/slides/slide9.xml" Id="R6ba41d5e060c42e7" /><Relationship Type="http://schemas.openxmlformats.org/officeDocument/2006/relationships/slide" Target="/ppt/slides/slide10.xml" Id="R7f0498cfa08149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7df528f5f843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34ae72eea74090" /><Relationship Type="http://schemas.openxmlformats.org/officeDocument/2006/relationships/notesMaster" Target="/ppt/notesMasters/notesMaster1.xml" Id="R1311606aad1547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9bf5f882824e46" /><Relationship Type="http://schemas.openxmlformats.org/officeDocument/2006/relationships/notesMaster" Target="/ppt/notesMasters/notesMaster1.xml" Id="R30747268df4f46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7aedf2817d4c1a" /><Relationship Type="http://schemas.openxmlformats.org/officeDocument/2006/relationships/notesMaster" Target="/ppt/notesMasters/notesMaster1.xml" Id="R4c0a2eb23e9645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af200df84d4ff9" /><Relationship Type="http://schemas.openxmlformats.org/officeDocument/2006/relationships/notesMaster" Target="/ppt/notesMasters/notesMaster1.xml" Id="R0dcb2389d44c43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7ba5083bb64caa" /><Relationship Type="http://schemas.openxmlformats.org/officeDocument/2006/relationships/notesMaster" Target="/ppt/notesMasters/notesMaster1.xml" Id="Rc7d22fbf823c48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1dfb55d252414f" /><Relationship Type="http://schemas.openxmlformats.org/officeDocument/2006/relationships/notesMaster" Target="/ppt/notesMasters/notesMaster1.xml" Id="Rd6994e077a724d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e75be0986e4281" /><Relationship Type="http://schemas.openxmlformats.org/officeDocument/2006/relationships/notesMaster" Target="/ppt/notesMasters/notesMaster1.xml" Id="Rea8aa3a3db9c41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45b5f795e0422d" /><Relationship Type="http://schemas.openxmlformats.org/officeDocument/2006/relationships/notesMaster" Target="/ppt/notesMasters/notesMaster1.xml" Id="Rf05b7741edec42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f1a5f58f02497a" /><Relationship Type="http://schemas.openxmlformats.org/officeDocument/2006/relationships/notesMaster" Target="/ppt/notesMasters/notesMaster1.xml" Id="R7fcd78ed096845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5bbafc3e9c48c7" /><Relationship Type="http://schemas.openxmlformats.org/officeDocument/2006/relationships/notesMaster" Target="/ppt/notesMasters/notesMaster1.xml" Id="Rd3435213cbe147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Introduce the approximately decadal hare and lynx oscillation. Counts are thousands of pelts traded, not animal censuses. We use the Stan compilation and record disagreement with another compilation. The task combines model formulation, stability, numerical checks and two inverse-fitting methods.</a:t>
            </a:r>
          </a:p>
          <a:p xmlns:a="http://schemas.openxmlformats.org/drawingml/2006/main">
            <a:r>
              <a:t>Source: data/historical/provenance.json; contributions/arnav/presentation_notes.md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Explain how resource limitation and Holling-II saturation improve the neutral-cycle Lotka-Volterra reference. Unknown constant observation factors are absorbed into effective pelt-unit coefficients. Annual totals approximate point samples. Explain the dimensionless scaling and how it differs from the fixed training-max normalization in the PINN. Neither convention establishes accurate biological coefficient recovery.</a:t>
            </a:r>
          </a:p>
          <a:p xmlns:a="http://schemas.openxmlformats.org/drawingml/2006/main">
            <a:r>
              <a:t>Source: contributions/arnav/equations_and_units.md; contributions/arnav/sections/arnav_model.tex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Describe the origin, prey-only and feasible coexistence equilibria. Use the Jacobian and nullcline slope to classify coexistence stability. A stable equilibrium can be a node or a focus. The feasibility conditions characterize a coexistence equilibrium; they are not automatically restrictions imposed on the statistical fitting domain.</a:t>
            </a:r>
          </a:p>
          <a:p xmlns:a="http://schemas.openxmlformats.org/drawingml/2006/main">
            <a:r>
              <a:t>Source: report/joel_stability_section.tex; src/lynx_hare/stability.py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Explain transversality and the Hopf threshold. Increasing carrying capacity can destabilize the equilibrium and enlarge oscillations: paradox of enrichment. Separate the analytic threshold, cited results about periodic orbits and numerical Lyapunov evidence. Fitted sigma above one describes that fitted ODE, while uncertainty across methods and assumptions limits a claim about the real ecosystem.</a:t>
            </a:r>
          </a:p>
          <a:p xmlns:a="http://schemas.openxmlformats.org/drawingml/2006/main">
            <a:r>
              <a:t>Source: report/joel_stability_section.tex; results/stability/validation_targets.json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RK45 preserves the Lotka-Volterra invariant while Euler drifts. Show damped versus sustained motion below and above the illustrative K_H=90. The post-transient amplitude grows near onset with log-log slope about 0.507. Explain why a long burn-in matters. Historical fitting uses model.solve tolerances, while long-run simulations use tighter settings.</a:t>
            </a:r>
          </a:p>
          <a:p xmlns:a="http://schemas.openxmlformats.org/drawingml/2006/main">
            <a:r>
              <a:t>Source: configs/simulations.json; docs/rishi_simulation_handoff.md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displayed analysis covers the 13 PINN runs and 18 matching least-squares starts. Selected PINN sigma lies around 1.32 to 1.48, while the least-squares observation/IC variants span roughly 0.55 to 1.07. Very slow growth or decay makes 16 training years insufficient to distinguish long-run regimes. Bounds and the observation model materially affect the result.</a:t>
            </a:r>
          </a:p>
          <a:p xmlns:a="http://schemas.openxmlformats.org/drawingml/2006/main">
            <a:r>
              <a:t>Source: results/simulations/historical/summary.json; presentation/rishi_notes.md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The model predicts two pelt indices. Autograd supplies the time derivatives for the physics residual. Data scales use training maxima only. Adam is followed by L-BFGS. We estimate all six positive coefficients, unlike the earlier controlled synthetic test that fixed three coefficients. We select the seed using training loss and forecast by ODE integration, without restarting from a test state. The IC penalty is soft and its discrepancy is reported.</a:t>
            </a:r>
          </a:p>
          <a:p xmlns:a="http://schemas.openxmlformats.org/drawingml/2006/main">
            <a:r>
              <a:t>Source: src/lynx_hare/historical_pinn.py; configs/historical.json; Raissi et al. (2019), https://doi.org/10.1016/j.jcp.2018.10.045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 Across all retained checks, the primary PINN has hare RMSE about 2.85 and lynx RMSE about 4.32. Least squares gives about 3.07 and 3.04. Hare MAE is essentially tied, so we do not claim a clear hare advantage. Several parameters follow the chosen bounds, and the re-integrated ODE has a training cost 1.86 times the least-squares minimum in the main variant. A soft-physics network optimum is not the same objective as least squares on the ODE trajectory. We retained worse sensitivity outcomes and made no post-test retuning. Synthetic recovery separately checks implementation, not historical biological accuracy.</a:t>
            </a:r>
          </a:p>
          <a:p xmlns:a="http://schemas.openxmlformats.org/drawingml/2006/main">
            <a:r>
              <a:t>Source: results/historical/advay_evaluation_v1/comparison.json; results/historical/advay_evaluation_v1/pinn_training_fit.json; results/historical/yash_pinn_wider_v1/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State how the independent baseline uses the shared config and verifies the matching benchmark. Forecasts and selection precede scoring; Yash had already published scores, so this is independent reproduction rather than a new blinded test. Score hare and lynx separately on five years. Under the declared comparison rule, hare is similar and least squares is better for lynx. Retain all sensitivities.</a:t>
            </a:r>
          </a:p>
          <a:p xmlns:a="http://schemas.openxmlformats.org/drawingml/2006/main">
            <a:r>
              <a:t>Source: docs/advay_baseline_protocol.md; docs/advay_scoring_plan.md; results/historical/advay_evaluation_v1/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Both methods outperform persistence and training-mean reference forecasts, but the small window limits generalization. The PINN does not outperform least squares overall. State the uncertain observation factors, missing vegetation/weather/spatial effects, boundary sensitivity and weak identification. Finish with the distinction between a fitted mechanism and proven ecological causality. The full notebook, report, datasets, EPS graphs and per-person AI logs accompany the submission.</a:t>
            </a:r>
          </a:p>
          <a:p xmlns:a="http://schemas.openxmlformats.org/drawingml/2006/main">
            <a:r>
              <a:t>Source: report/advay_data_validation_section.tex; results/historical/advay_evaluation_v1/comparison.json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dd077b1eed4d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a34d94fa7c43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ad71d17eec46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ac885143714c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7455b7a98544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8530d919b84b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E8BC15-8401-46E5-8D0D-84B601B9BC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1B7312-0ACF-4EE5-B233-06E55360CD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57C293-ECF3-4882-8AAC-8ECDA2B933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734B69-9140-4E27-BD1A-8D352D432B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2BE305-D003-416D-AB7B-9F48E4C90C6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2CE66B-C9AB-4FC9-8AD0-8CFAA2496D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956C03-4C45-4FA9-B8F8-9CE81B0F57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221AA3-7BCC-44AF-B233-885BBECD0D0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2765DF-2228-4066-8F32-B3B01D99CA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7A57C0-04D4-4910-A355-64D88706D4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d013200b3f447a" /><Relationship Type="http://schemas.openxmlformats.org/officeDocument/2006/relationships/slideLayout" Target="/ppt/slideLayouts/slideLayout1.xml" Id="R81b37f6fbafa4a7a" /><Relationship Type="http://schemas.openxmlformats.org/officeDocument/2006/relationships/slideLayout" Target="/ppt/slideLayouts/slideLayout2.xml" Id="R6eacca4327694edd" /><Relationship Type="http://schemas.openxmlformats.org/officeDocument/2006/relationships/slideLayout" Target="/ppt/slideLayouts/slideLayout3.xml" Id="Rf8bf22d1a33d488f" /><Relationship Type="http://schemas.openxmlformats.org/officeDocument/2006/relationships/slideLayout" Target="/ppt/slideLayouts/slideLayout4.xml" Id="R2a797e2083e242e4" /><Relationship Type="http://schemas.openxmlformats.org/officeDocument/2006/relationships/slideLayout" Target="/ppt/slideLayouts/slideLayout5.xml" Id="Rfefc458e82c04b73" /><Relationship Type="http://schemas.openxmlformats.org/officeDocument/2006/relationships/slideLayout" Target="/ppt/slideLayouts/slideLayout6.xml" Id="Rab1e8cb74f984a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b37f6fbafa4a7a"/>
    <p:sldLayoutId xmlns:r="http://schemas.openxmlformats.org/officeDocument/2006/relationships" id="2147483650" r:id="R6eacca4327694edd"/>
    <p:sldLayoutId xmlns:r="http://schemas.openxmlformats.org/officeDocument/2006/relationships" id="2147483651" r:id="Rf8bf22d1a33d488f"/>
    <p:sldLayoutId xmlns:r="http://schemas.openxmlformats.org/officeDocument/2006/relationships" id="2147483652" r:id="R2a797e2083e242e4"/>
    <p:sldLayoutId xmlns:r="http://schemas.openxmlformats.org/officeDocument/2006/relationships" id="2147483653" r:id="Rfefc458e82c04b73"/>
    <p:sldLayoutId xmlns:r="http://schemas.openxmlformats.org/officeDocument/2006/relationships" id="2147483654" r:id="Rab1e8cb74f984a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468c387c884d93" /><Relationship Type="http://schemas.openxmlformats.org/officeDocument/2006/relationships/image" Target="/ppt/media/image.png" Id="R31aa9d833e4641ba" /><Relationship Type="http://schemas.openxmlformats.org/officeDocument/2006/relationships/notesSlide" Target="/ppt/notesSlides/notesSlide1.xml" Id="R6fc154b18a9c45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01d3a194e364661" /><Relationship Type="http://schemas.openxmlformats.org/officeDocument/2006/relationships/notesSlide" Target="/ppt/notesSlides/notesSlide2.xml" Id="R3fafa9ba7c6142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4721d539f64357" /><Relationship Type="http://schemas.openxmlformats.org/officeDocument/2006/relationships/image" Target="/ppt/media/image2.png" Id="R795fcbb4c9474e1c" /><Relationship Type="http://schemas.openxmlformats.org/officeDocument/2006/relationships/notesSlide" Target="/ppt/notesSlides/notesSlide3.xml" Id="R043a935d217340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ef69b741674447c" /><Relationship Type="http://schemas.openxmlformats.org/officeDocument/2006/relationships/image" Target="/ppt/media/image3.png" Id="Re87866b3f74c4c2d" /><Relationship Type="http://schemas.openxmlformats.org/officeDocument/2006/relationships/notesSlide" Target="/ppt/notesSlides/notesSlide4.xml" Id="R0eb7bbab186248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6fe6db2ab3e4bd9" /><Relationship Type="http://schemas.openxmlformats.org/officeDocument/2006/relationships/image" Target="/ppt/media/image4.png" Id="R9329bdd37a08451b" /><Relationship Type="http://schemas.openxmlformats.org/officeDocument/2006/relationships/notesSlide" Target="/ppt/notesSlides/notesSlide5.xml" Id="R9e22dbbab26546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43ee7f567f4c65" /><Relationship Type="http://schemas.openxmlformats.org/officeDocument/2006/relationships/image" Target="/ppt/media/image5.png" Id="R3c30af980bae4058" /><Relationship Type="http://schemas.openxmlformats.org/officeDocument/2006/relationships/notesSlide" Target="/ppt/notesSlides/notesSlide6.xml" Id="R9a43ea9f89b74c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bada7af5804a31" /><Relationship Type="http://schemas.openxmlformats.org/officeDocument/2006/relationships/notesSlide" Target="/ppt/notesSlides/notesSlide7.xml" Id="Reac30c86cd2c48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1c2ff1737604766" /><Relationship Type="http://schemas.openxmlformats.org/officeDocument/2006/relationships/chart" Target="/ppt/slides/charts/chart1.xml" Id="R7be4c994a2a345fa" /><Relationship Type="http://schemas.openxmlformats.org/officeDocument/2006/relationships/notesSlide" Target="/ppt/notesSlides/notesSlide8.xml" Id="Rbeb70db942b54f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5a446e0a9714599" /><Relationship Type="http://schemas.openxmlformats.org/officeDocument/2006/relationships/image" Target="/ppt/media/image6.png" Id="Rdfc3709c59b54219" /><Relationship Type="http://schemas.openxmlformats.org/officeDocument/2006/relationships/notesSlide" Target="/ppt/notesSlides/notesSlide9.xml" Id="R908358c93ab947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2a87cdcbc84c2f" /><Relationship Type="http://schemas.openxmlformats.org/officeDocument/2006/relationships/notesSlide" Target="/ppt/notesSlides/notesSlide10.xml" Id="Rfcf211eac98f44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latin typeface="Arial"/>
                <a:ea typeface="Arial"/>
                <a:cs typeface="Arial"/>
              </a:rPr>
              <a:t>Held-out RMSE, thousands of pelts</a:t>
            </a:r>
          </a:p>
        </c:rich>
      </c:tx>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title>
    <c:plotArea>
      <c:barChart>
        <c:barDir val="col"/>
        <c:grouping val="clustered"/>
        <c:varyColors val="0"/>
        <c:ser>
          <c:idx val="0"/>
          <c:order val="0"/>
          <c:tx>
            <c:v>PINN-derived ODE</c:v>
          </c:tx>
          <c:spPr>
            <a:solidFill xmlns:a="http://schemas.openxmlformats.org/drawingml/2006/main">
              <a:srgbClr val="197278"/>
            </a:solidFill>
          </c:spPr>
          <c:invertIfNegative val="0"/>
          <c:cat>
            <c:strRef>
              <c:f>'Chart Data'!$A$2:$A$3</c:f>
              <c:strCache>
                <c:ptCount val="2"/>
                <c:pt idx="0">
                  <c:v>Hare</c:v>
                </c:pt>
                <c:pt idx="1">
                  <c:v>Lynx</c:v>
                </c:pt>
              </c:strCache>
            </c:strRef>
          </c:cat>
          <c:val>
            <c:numRef>
              <c:f>'Chart Data'!$B$2:$B$3</c:f>
              <c:numCache>
                <c:formatCode>0.0</c:formatCode>
                <c:ptCount val="2"/>
                <c:pt idx="0">
                  <c:v>2.846551</c:v>
                </c:pt>
                <c:pt idx="1">
                  <c:v>4.317003</c:v>
                </c:pt>
              </c:numCache>
            </c:numRef>
          </c:val>
        </c:ser>
        <c:ser>
          <c:idx val="1"/>
          <c:order val="1"/>
          <c:tx>
            <c:v>Least squares</c:v>
          </c:tx>
          <c:spPr>
            <a:solidFill xmlns:a="http://schemas.openxmlformats.org/drawingml/2006/main">
              <a:srgbClr val="C4532E"/>
            </a:solidFill>
          </c:spPr>
          <c:invertIfNegative val="0"/>
          <c:cat>
            <c:strRef>
              <c:f>'Chart Data'!$C$2:$C$3</c:f>
              <c:strCache>
                <c:ptCount val="2"/>
                <c:pt idx="0">
                  <c:v>Hare</c:v>
                </c:pt>
                <c:pt idx="1">
                  <c:v>Lynx</c:v>
                </c:pt>
              </c:strCache>
            </c:strRef>
          </c:cat>
          <c:val>
            <c:numRef>
              <c:f>'Chart Data'!$D$2:$D$3</c:f>
              <c:numCache>
                <c:formatCode>0.0</c:formatCode>
                <c:ptCount val="2"/>
                <c:pt idx="0">
                  <c:v>3.071909</c:v>
                </c:pt>
                <c:pt idx="1">
                  <c:v>3.042967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C29B155-AA9D-4F0E-A956-D931B1E5CB95}"/>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Lynx and hare pelt dynamics</a:t>
            </a:r>
          </a:p>
        </p:txBody>
      </p:sp>
      <p:sp>
        <p:nvSpPr>
          <p:cNvPr id="2" name="footer">
            <a:extLst xmlns:a="http://schemas.openxmlformats.org/drawingml/2006/main">
              <a:ext uri="{FF2B5EF4-FFF2-40B4-BE49-F238E27FC236}">
                <a16:creationId xmlns:a16="http://schemas.microsoft.com/office/drawing/2014/main" id="{3FDA612D-E889-423E-A2E6-A5AFDA291861}"/>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Arnav, MAC F314     1</a:t>
            </a:r>
          </a:p>
        </p:txBody>
      </p:sp>
      <p:pic>
        <p:nvPicPr>
          <p:cNvPr id="3" name="">
            <a:extLst xmlns:a="http://schemas.openxmlformats.org/drawingml/2006/main">
              <a:ext uri="{FF2B5EF4-FFF2-40B4-BE49-F238E27FC236}">
                <a16:creationId xmlns:a16="http://schemas.microsoft.com/office/drawing/2014/main" id="{6965656E-7DFA-412A-83E9-66632B6D7740}"/>
              </a:ext>
            </a:extLst>
          </p:cNvPr>
          <p:cNvPicPr>
            <a:picLocks xmlns:a="http://schemas.openxmlformats.org/drawingml/2006/main" noChangeAspect="1"/>
          </p:cNvPicPr>
          <p:nvPr/>
        </p:nvPicPr>
        <p:blipFill>
          <a:blip xmlns:r="http://schemas.openxmlformats.org/officeDocument/2006/relationships" xmlns:a="http://schemas.openxmlformats.org/drawingml/2006/main" r:embed="R31aa9d833e4641ba"/>
          <a:stretch xmlns:a="http://schemas.openxmlformats.org/drawingml/2006/main"/>
        </p:blipFill>
        <p:spPr>
          <a:xfrm xmlns:a="http://schemas.openxmlformats.org/drawingml/2006/main">
            <a:off x="609600" y="1454410"/>
            <a:ext cx="10972800" cy="3853929"/>
          </a:xfrm>
          <a:prstGeom xmlns:a="http://schemas.openxmlformats.org/drawingml/2006/main" prst="rect">
            <a:avLst/>
          </a:prstGeom>
        </p:spPr>
      </p:pic>
      <p:sp>
        <p:nvSpPr>
          <p:cNvPr id="4" name="question">
            <a:extLst xmlns:a="http://schemas.openxmlformats.org/drawingml/2006/main">
              <a:ext uri="{FF2B5EF4-FFF2-40B4-BE49-F238E27FC236}">
                <a16:creationId xmlns:a16="http://schemas.microsoft.com/office/drawing/2014/main" id="{2088E9EA-A0CE-4C8E-99A7-4A22E07474B4}"/>
              </a:ext>
            </a:extLst>
          </p:cNvPr>
          <p:cNvSpPr>
            <a:spLocks xmlns:a="http://schemas.openxmlformats.org/drawingml/2006/main" noGrp="1"/>
          </p:cNvSpPr>
          <p:nvPr/>
        </p:nvSpPr>
        <p:spPr>
          <a:xfrm xmlns:a="http://schemas.openxmlformats.org/drawingml/2006/main">
            <a:off x="609600" y="5572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7278"/>
                </a:solidFill>
                <a:latin typeface="Arial"/>
                <a:ea typeface="Arial"/>
                <a:cs typeface="Arial"/>
              </a:defRPr>
            </a:defPPr>
            <a:lvl1pPr>
              <a:defRPr sz="2175" b="1">
                <a:solidFill>
                  <a:srgbClr val="197278"/>
                </a:solidFill>
                <a:latin typeface="Arial"/>
                <a:ea typeface="Arial"/>
                <a:cs typeface="Arial"/>
              </a:defRPr>
            </a:lvl1pPr>
            <a:lvl2pPr>
              <a:defRPr sz="2175" b="1">
                <a:solidFill>
                  <a:srgbClr val="197278"/>
                </a:solidFill>
                <a:latin typeface="Arial"/>
                <a:ea typeface="Arial"/>
                <a:cs typeface="Arial"/>
              </a:defRPr>
            </a:lvl2pPr>
            <a:lvl3pPr>
              <a:defRPr sz="2175" b="1">
                <a:solidFill>
                  <a:srgbClr val="197278"/>
                </a:solidFill>
                <a:latin typeface="Arial"/>
                <a:ea typeface="Arial"/>
                <a:cs typeface="Arial"/>
              </a:defRPr>
            </a:lvl3pPr>
            <a:lvl4pPr>
              <a:defRPr sz="2175" b="1">
                <a:solidFill>
                  <a:srgbClr val="197278"/>
                </a:solidFill>
                <a:latin typeface="Arial"/>
                <a:ea typeface="Arial"/>
                <a:cs typeface="Arial"/>
              </a:defRPr>
            </a:lvl4pPr>
            <a:lvl5pPr>
              <a:defRPr sz="2175" b="1">
                <a:solidFill>
                  <a:srgbClr val="197278"/>
                </a:solidFill>
                <a:latin typeface="Arial"/>
                <a:ea typeface="Arial"/>
                <a:cs typeface="Arial"/>
              </a:defRPr>
            </a:lvl5pPr>
            <a:lvl6pPr>
              <a:defRPr sz="2175" b="1">
                <a:solidFill>
                  <a:srgbClr val="197278"/>
                </a:solidFill>
                <a:latin typeface="Arial"/>
                <a:ea typeface="Arial"/>
                <a:cs typeface="Arial"/>
              </a:defRPr>
            </a:lvl6pPr>
            <a:lvl7pPr>
              <a:defRPr sz="2175" b="1">
                <a:solidFill>
                  <a:srgbClr val="197278"/>
                </a:solidFill>
                <a:latin typeface="Arial"/>
                <a:ea typeface="Arial"/>
                <a:cs typeface="Arial"/>
              </a:defRPr>
            </a:lvl7pPr>
            <a:lvl8pPr>
              <a:defRPr sz="2175" b="1">
                <a:solidFill>
                  <a:srgbClr val="197278"/>
                </a:solidFill>
                <a:latin typeface="Arial"/>
                <a:ea typeface="Arial"/>
                <a:cs typeface="Arial"/>
              </a:defRPr>
            </a:lvl8pPr>
            <a:lvl9pPr>
              <a:defRPr sz="2175" b="1">
                <a:solidFill>
                  <a:srgbClr val="197278"/>
                </a:solidFill>
                <a:latin typeface="Arial"/>
                <a:ea typeface="Arial"/>
                <a:cs typeface="Arial"/>
              </a:defRPr>
            </a:lvl9pPr>
          </a:lstStyle>
          <a:p xmlns:a="http://schemas.openxmlformats.org/drawingml/2006/main">
            <a:pPr>
              <a:defRPr sz="2175" b="1">
                <a:solidFill>
                  <a:srgbClr val="197278"/>
                </a:solidFill>
                <a:latin typeface="Arial"/>
                <a:ea typeface="Arial"/>
                <a:cs typeface="Arial"/>
              </a:defRPr>
            </a:pPr>
            <a:r>
              <a:rPr sz="2175" b="1">
                <a:solidFill>
                  <a:srgbClr val="197278"/>
                </a:solidFill>
                <a:latin typeface="Arial"/>
                <a:ea typeface="Arial"/>
                <a:cs typeface="Arial"/>
              </a:rPr>
              <a:t>Can one mechanistic model explain oscillations and forecast unseen years?</a:t>
            </a:r>
          </a:p>
        </p:txBody>
      </p:sp>
    </p:spTree>
    <p:extLst>
      <p:ext uri="{BB962C8B-B14F-4D97-AF65-F5344CB8AC3E}">
        <p14:creationId xmlns:p14="http://schemas.microsoft.com/office/powerpoint/2010/main" val="8924342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E0C251C-B301-4A35-9498-C116D5F053CF}"/>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Model, observation units and scaling</a:t>
            </a:r>
          </a:p>
        </p:txBody>
      </p:sp>
      <p:sp>
        <p:nvSpPr>
          <p:cNvPr id="2" name="footer">
            <a:extLst xmlns:a="http://schemas.openxmlformats.org/drawingml/2006/main">
              <a:ext uri="{FF2B5EF4-FFF2-40B4-BE49-F238E27FC236}">
                <a16:creationId xmlns:a16="http://schemas.microsoft.com/office/drawing/2014/main" id="{CB93BB30-62FB-44B6-9561-3949543B2A34}"/>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Arnav, MAC F314     2</a:t>
            </a:r>
          </a:p>
        </p:txBody>
      </p:sp>
      <p:sp>
        <p:nvSpPr>
          <p:cNvPr id="3" name="model">
            <a:extLst xmlns:a="http://schemas.openxmlformats.org/drawingml/2006/main">
              <a:ext uri="{FF2B5EF4-FFF2-40B4-BE49-F238E27FC236}">
                <a16:creationId xmlns:a16="http://schemas.microsoft.com/office/drawing/2014/main" id="{540DBF6E-8247-4FDF-824F-1F6D52BBECAB}"/>
              </a:ext>
            </a:extLst>
          </p:cNvPr>
          <p:cNvSpPr>
            <a:spLocks xmlns:a="http://schemas.openxmlformats.org/drawingml/2006/main" noGrp="1"/>
          </p:cNvSpPr>
          <p:nvPr/>
        </p:nvSpPr>
        <p:spPr>
          <a:xfrm xmlns:a="http://schemas.openxmlformats.org/drawingml/2006/main">
            <a:off x="609600" y="15240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0">
                <a:solidFill>
                  <a:srgbClr val="15383A"/>
                </a:solidFill>
                <a:latin typeface="Arial"/>
                <a:ea typeface="Arial"/>
                <a:cs typeface="Arial"/>
              </a:defRPr>
            </a:defPPr>
            <a:lvl1pPr>
              <a:defRPr sz="2925" b="0">
                <a:solidFill>
                  <a:srgbClr val="15383A"/>
                </a:solidFill>
                <a:latin typeface="Arial"/>
                <a:ea typeface="Arial"/>
                <a:cs typeface="Arial"/>
              </a:defRPr>
            </a:lvl1pPr>
            <a:lvl2pPr>
              <a:defRPr sz="2925" b="0">
                <a:solidFill>
                  <a:srgbClr val="15383A"/>
                </a:solidFill>
                <a:latin typeface="Arial"/>
                <a:ea typeface="Arial"/>
                <a:cs typeface="Arial"/>
              </a:defRPr>
            </a:lvl2pPr>
            <a:lvl3pPr>
              <a:defRPr sz="2925" b="0">
                <a:solidFill>
                  <a:srgbClr val="15383A"/>
                </a:solidFill>
                <a:latin typeface="Arial"/>
                <a:ea typeface="Arial"/>
                <a:cs typeface="Arial"/>
              </a:defRPr>
            </a:lvl3pPr>
            <a:lvl4pPr>
              <a:defRPr sz="2925" b="0">
                <a:solidFill>
                  <a:srgbClr val="15383A"/>
                </a:solidFill>
                <a:latin typeface="Arial"/>
                <a:ea typeface="Arial"/>
                <a:cs typeface="Arial"/>
              </a:defRPr>
            </a:lvl4pPr>
            <a:lvl5pPr>
              <a:defRPr sz="2925" b="0">
                <a:solidFill>
                  <a:srgbClr val="15383A"/>
                </a:solidFill>
                <a:latin typeface="Arial"/>
                <a:ea typeface="Arial"/>
                <a:cs typeface="Arial"/>
              </a:defRPr>
            </a:lvl5pPr>
            <a:lvl6pPr>
              <a:defRPr sz="2925" b="0">
                <a:solidFill>
                  <a:srgbClr val="15383A"/>
                </a:solidFill>
                <a:latin typeface="Arial"/>
                <a:ea typeface="Arial"/>
                <a:cs typeface="Arial"/>
              </a:defRPr>
            </a:lvl6pPr>
            <a:lvl7pPr>
              <a:defRPr sz="2925" b="0">
                <a:solidFill>
                  <a:srgbClr val="15383A"/>
                </a:solidFill>
                <a:latin typeface="Arial"/>
                <a:ea typeface="Arial"/>
                <a:cs typeface="Arial"/>
              </a:defRPr>
            </a:lvl7pPr>
            <a:lvl8pPr>
              <a:defRPr sz="2925" b="0">
                <a:solidFill>
                  <a:srgbClr val="15383A"/>
                </a:solidFill>
                <a:latin typeface="Arial"/>
                <a:ea typeface="Arial"/>
                <a:cs typeface="Arial"/>
              </a:defRPr>
            </a:lvl8pPr>
            <a:lvl9pPr>
              <a:defRPr sz="2925" b="0">
                <a:solidFill>
                  <a:srgbClr val="15383A"/>
                </a:solidFill>
                <a:latin typeface="Arial"/>
                <a:ea typeface="Arial"/>
                <a:cs typeface="Arial"/>
              </a:defRPr>
            </a:lvl9pPr>
          </a:lstStyle>
          <a:p xmlns:a="http://schemas.openxmlformats.org/drawingml/2006/main">
            <a:pPr>
              <a:defRPr sz="2925" b="0">
                <a:solidFill>
                  <a:srgbClr val="15383A"/>
                </a:solidFill>
                <a:latin typeface="Arial"/>
                <a:ea typeface="Arial"/>
                <a:cs typeface="Arial"/>
              </a:defRPr>
            </a:pPr>
            <a:r>
              <a:rPr sz="2925" b="0">
                <a:solidFill>
                  <a:srgbClr val="15383A"/>
                </a:solidFill>
                <a:latin typeface="Arial"/>
                <a:ea typeface="Arial"/>
                <a:cs typeface="Arial"/>
              </a:rPr>
              <a:t>H′ = rH(1 − H/K) − aHP/(b + H)</a:t>
            </a:r>
          </a:p>
          <a:p xmlns:a="http://schemas.openxmlformats.org/drawingml/2006/main">
            <a:pPr>
              <a:defRPr sz="2925" b="0">
                <a:solidFill>
                  <a:srgbClr val="15383A"/>
                </a:solidFill>
                <a:latin typeface="Arial"/>
                <a:ea typeface="Arial"/>
                <a:cs typeface="Arial"/>
              </a:defRPr>
            </a:pPr>
            <a:r>
              <a:rPr sz="2925" b="0">
                <a:solidFill>
                  <a:srgbClr val="15383A"/>
                </a:solidFill>
                <a:latin typeface="Arial"/>
                <a:ea typeface="Arial"/>
                <a:cs typeface="Arial"/>
              </a:rPr>
              <a:t>P′ = eaHP/(b + H) − mP</a:t>
            </a:r>
          </a:p>
        </p:txBody>
      </p:sp>
      <p:sp>
        <p:nvSpPr>
          <p:cNvPr id="4" name="reason">
            <a:extLst xmlns:a="http://schemas.openxmlformats.org/drawingml/2006/main">
              <a:ext uri="{FF2B5EF4-FFF2-40B4-BE49-F238E27FC236}">
                <a16:creationId xmlns:a16="http://schemas.microsoft.com/office/drawing/2014/main" id="{9C656367-DE5F-4ABD-98FB-3617E65A44F4}"/>
              </a:ext>
            </a:extLst>
          </p:cNvPr>
          <p:cNvSpPr>
            <a:spLocks xmlns:a="http://schemas.openxmlformats.org/drawingml/2006/main" noGrp="1"/>
          </p:cNvSpPr>
          <p:nvPr/>
        </p:nvSpPr>
        <p:spPr>
          <a:xfrm xmlns:a="http://schemas.openxmlformats.org/drawingml/2006/main">
            <a:off x="609600" y="31432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97278"/>
                </a:solidFill>
                <a:latin typeface="Arial"/>
                <a:ea typeface="Arial"/>
                <a:cs typeface="Arial"/>
              </a:defRPr>
            </a:defPPr>
            <a:lvl1pPr>
              <a:defRPr sz="2400" b="1">
                <a:solidFill>
                  <a:srgbClr val="197278"/>
                </a:solidFill>
                <a:latin typeface="Arial"/>
                <a:ea typeface="Arial"/>
                <a:cs typeface="Arial"/>
              </a:defRPr>
            </a:lvl1pPr>
            <a:lvl2pPr>
              <a:defRPr sz="2400" b="1">
                <a:solidFill>
                  <a:srgbClr val="197278"/>
                </a:solidFill>
                <a:latin typeface="Arial"/>
                <a:ea typeface="Arial"/>
                <a:cs typeface="Arial"/>
              </a:defRPr>
            </a:lvl2pPr>
            <a:lvl3pPr>
              <a:defRPr sz="2400" b="1">
                <a:solidFill>
                  <a:srgbClr val="197278"/>
                </a:solidFill>
                <a:latin typeface="Arial"/>
                <a:ea typeface="Arial"/>
                <a:cs typeface="Arial"/>
              </a:defRPr>
            </a:lvl3pPr>
            <a:lvl4pPr>
              <a:defRPr sz="2400" b="1">
                <a:solidFill>
                  <a:srgbClr val="197278"/>
                </a:solidFill>
                <a:latin typeface="Arial"/>
                <a:ea typeface="Arial"/>
                <a:cs typeface="Arial"/>
              </a:defRPr>
            </a:lvl4pPr>
            <a:lvl5pPr>
              <a:defRPr sz="2400" b="1">
                <a:solidFill>
                  <a:srgbClr val="197278"/>
                </a:solidFill>
                <a:latin typeface="Arial"/>
                <a:ea typeface="Arial"/>
                <a:cs typeface="Arial"/>
              </a:defRPr>
            </a:lvl5pPr>
            <a:lvl6pPr>
              <a:defRPr sz="2400" b="1">
                <a:solidFill>
                  <a:srgbClr val="197278"/>
                </a:solidFill>
                <a:latin typeface="Arial"/>
                <a:ea typeface="Arial"/>
                <a:cs typeface="Arial"/>
              </a:defRPr>
            </a:lvl6pPr>
            <a:lvl7pPr>
              <a:defRPr sz="2400" b="1">
                <a:solidFill>
                  <a:srgbClr val="197278"/>
                </a:solidFill>
                <a:latin typeface="Arial"/>
                <a:ea typeface="Arial"/>
                <a:cs typeface="Arial"/>
              </a:defRPr>
            </a:lvl7pPr>
            <a:lvl8pPr>
              <a:defRPr sz="2400" b="1">
                <a:solidFill>
                  <a:srgbClr val="197278"/>
                </a:solidFill>
                <a:latin typeface="Arial"/>
                <a:ea typeface="Arial"/>
                <a:cs typeface="Arial"/>
              </a:defRPr>
            </a:lvl8pPr>
            <a:lvl9pPr>
              <a:defRPr sz="2400" b="1">
                <a:solidFill>
                  <a:srgbClr val="197278"/>
                </a:solidFill>
                <a:latin typeface="Arial"/>
                <a:ea typeface="Arial"/>
                <a:cs typeface="Arial"/>
              </a:defRPr>
            </a:lvl9pPr>
          </a:lstStyle>
          <a:p xmlns:a="http://schemas.openxmlformats.org/drawingml/2006/main">
            <a:pPr>
              <a:defRPr sz="2400" b="1">
                <a:solidFill>
                  <a:srgbClr val="197278"/>
                </a:solidFill>
                <a:latin typeface="Arial"/>
                <a:ea typeface="Arial"/>
                <a:cs typeface="Arial"/>
              </a:defRPr>
            </a:pPr>
            <a:r>
              <a:rPr sz="2400" b="1">
                <a:solidFill>
                  <a:srgbClr val="197278"/>
                </a:solidFill>
                <a:latin typeface="Arial"/>
                <a:ea typeface="Arial"/>
                <a:cs typeface="Arial"/>
              </a:rPr>
              <a:t>Logistic hare growth and saturating predation</a:t>
            </a:r>
          </a:p>
        </p:txBody>
      </p:sp>
      <p:sp>
        <p:nvSpPr>
          <p:cNvPr id="5" name="units">
            <a:extLst xmlns:a="http://schemas.openxmlformats.org/drawingml/2006/main">
              <a:ext uri="{FF2B5EF4-FFF2-40B4-BE49-F238E27FC236}">
                <a16:creationId xmlns:a16="http://schemas.microsoft.com/office/drawing/2014/main" id="{06E1E274-45AE-4964-A097-BFC0962A0A55}"/>
              </a:ext>
            </a:extLst>
          </p:cNvPr>
          <p:cNvSpPr>
            <a:spLocks xmlns:a="http://schemas.openxmlformats.org/drawingml/2006/main" noGrp="1"/>
          </p:cNvSpPr>
          <p:nvPr/>
        </p:nvSpPr>
        <p:spPr>
          <a:xfrm xmlns:a="http://schemas.openxmlformats.org/drawingml/2006/main">
            <a:off x="609600" y="40005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A"/>
                </a:solidFill>
                <a:latin typeface="Arial"/>
                <a:ea typeface="Arial"/>
                <a:cs typeface="Arial"/>
              </a:defRPr>
            </a:defPPr>
            <a:lvl1pPr>
              <a:defRPr sz="2175" b="0">
                <a:solidFill>
                  <a:srgbClr val="15383A"/>
                </a:solidFill>
                <a:latin typeface="Arial"/>
                <a:ea typeface="Arial"/>
                <a:cs typeface="Arial"/>
              </a:defRPr>
            </a:lvl1pPr>
            <a:lvl2pPr>
              <a:defRPr sz="2175" b="0">
                <a:solidFill>
                  <a:srgbClr val="15383A"/>
                </a:solidFill>
                <a:latin typeface="Arial"/>
                <a:ea typeface="Arial"/>
                <a:cs typeface="Arial"/>
              </a:defRPr>
            </a:lvl2pPr>
            <a:lvl3pPr>
              <a:defRPr sz="2175" b="0">
                <a:solidFill>
                  <a:srgbClr val="15383A"/>
                </a:solidFill>
                <a:latin typeface="Arial"/>
                <a:ea typeface="Arial"/>
                <a:cs typeface="Arial"/>
              </a:defRPr>
            </a:lvl3pPr>
            <a:lvl4pPr>
              <a:defRPr sz="2175" b="0">
                <a:solidFill>
                  <a:srgbClr val="15383A"/>
                </a:solidFill>
                <a:latin typeface="Arial"/>
                <a:ea typeface="Arial"/>
                <a:cs typeface="Arial"/>
              </a:defRPr>
            </a:lvl4pPr>
            <a:lvl5pPr>
              <a:defRPr sz="2175" b="0">
                <a:solidFill>
                  <a:srgbClr val="15383A"/>
                </a:solidFill>
                <a:latin typeface="Arial"/>
                <a:ea typeface="Arial"/>
                <a:cs typeface="Arial"/>
              </a:defRPr>
            </a:lvl5pPr>
            <a:lvl6pPr>
              <a:defRPr sz="2175" b="0">
                <a:solidFill>
                  <a:srgbClr val="15383A"/>
                </a:solidFill>
                <a:latin typeface="Arial"/>
                <a:ea typeface="Arial"/>
                <a:cs typeface="Arial"/>
              </a:defRPr>
            </a:lvl6pPr>
            <a:lvl7pPr>
              <a:defRPr sz="2175" b="0">
                <a:solidFill>
                  <a:srgbClr val="15383A"/>
                </a:solidFill>
                <a:latin typeface="Arial"/>
                <a:ea typeface="Arial"/>
                <a:cs typeface="Arial"/>
              </a:defRPr>
            </a:lvl7pPr>
            <a:lvl8pPr>
              <a:defRPr sz="2175" b="0">
                <a:solidFill>
                  <a:srgbClr val="15383A"/>
                </a:solidFill>
                <a:latin typeface="Arial"/>
                <a:ea typeface="Arial"/>
                <a:cs typeface="Arial"/>
              </a:defRPr>
            </a:lvl8pPr>
            <a:lvl9pPr>
              <a:defRPr sz="2175" b="0">
                <a:solidFill>
                  <a:srgbClr val="15383A"/>
                </a:solidFill>
                <a:latin typeface="Arial"/>
                <a:ea typeface="Arial"/>
                <a:cs typeface="Arial"/>
              </a:defRPr>
            </a:lvl9pPr>
          </a:lstStyle>
          <a:p xmlns:a="http://schemas.openxmlformats.org/drawingml/2006/main">
            <a:pPr>
              <a:defRPr sz="2175" b="0">
                <a:solidFill>
                  <a:srgbClr val="15383A"/>
                </a:solidFill>
                <a:latin typeface="Arial"/>
                <a:ea typeface="Arial"/>
                <a:cs typeface="Arial"/>
              </a:defRPr>
            </a:pPr>
            <a:r>
              <a:rPr sz="2175" b="0">
                <a:solidFill>
                  <a:srgbClr val="15383A"/>
                </a:solidFill>
                <a:latin typeface="Arial"/>
                <a:ea typeface="Arial"/>
                <a:cs typeface="Arial"/>
              </a:rPr>
              <a:t>H and P are pelt indices. Unknown trapping scales enter effective coefficients.</a:t>
            </a:r>
          </a:p>
        </p:txBody>
      </p:sp>
      <p:sp>
        <p:nvSpPr>
          <p:cNvPr id="6" name="scales">
            <a:extLst xmlns:a="http://schemas.openxmlformats.org/drawingml/2006/main">
              <a:ext uri="{FF2B5EF4-FFF2-40B4-BE49-F238E27FC236}">
                <a16:creationId xmlns:a16="http://schemas.microsoft.com/office/drawing/2014/main" id="{5F982AF6-9020-4C7D-8B7F-9DBCB2BC7E9C}"/>
              </a:ext>
            </a:extLst>
          </p:cNvPr>
          <p:cNvSpPr>
            <a:spLocks xmlns:a="http://schemas.openxmlformats.org/drawingml/2006/main" noGrp="1"/>
          </p:cNvSpPr>
          <p:nvPr/>
        </p:nvSpPr>
        <p:spPr>
          <a:xfrm xmlns:a="http://schemas.openxmlformats.org/drawingml/2006/main">
            <a:off x="609600" y="5191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5383A"/>
                </a:solidFill>
                <a:latin typeface="Arial"/>
                <a:ea typeface="Arial"/>
                <a:cs typeface="Arial"/>
              </a:defRPr>
            </a:defPPr>
            <a:lvl1pPr>
              <a:defRPr sz="2325" b="0">
                <a:solidFill>
                  <a:srgbClr val="15383A"/>
                </a:solidFill>
                <a:latin typeface="Arial"/>
                <a:ea typeface="Arial"/>
                <a:cs typeface="Arial"/>
              </a:defRPr>
            </a:lvl1pPr>
            <a:lvl2pPr>
              <a:defRPr sz="2325" b="0">
                <a:solidFill>
                  <a:srgbClr val="15383A"/>
                </a:solidFill>
                <a:latin typeface="Arial"/>
                <a:ea typeface="Arial"/>
                <a:cs typeface="Arial"/>
              </a:defRPr>
            </a:lvl2pPr>
            <a:lvl3pPr>
              <a:defRPr sz="2325" b="0">
                <a:solidFill>
                  <a:srgbClr val="15383A"/>
                </a:solidFill>
                <a:latin typeface="Arial"/>
                <a:ea typeface="Arial"/>
                <a:cs typeface="Arial"/>
              </a:defRPr>
            </a:lvl3pPr>
            <a:lvl4pPr>
              <a:defRPr sz="2325" b="0">
                <a:solidFill>
                  <a:srgbClr val="15383A"/>
                </a:solidFill>
                <a:latin typeface="Arial"/>
                <a:ea typeface="Arial"/>
                <a:cs typeface="Arial"/>
              </a:defRPr>
            </a:lvl4pPr>
            <a:lvl5pPr>
              <a:defRPr sz="2325" b="0">
                <a:solidFill>
                  <a:srgbClr val="15383A"/>
                </a:solidFill>
                <a:latin typeface="Arial"/>
                <a:ea typeface="Arial"/>
                <a:cs typeface="Arial"/>
              </a:defRPr>
            </a:lvl5pPr>
            <a:lvl6pPr>
              <a:defRPr sz="2325" b="0">
                <a:solidFill>
                  <a:srgbClr val="15383A"/>
                </a:solidFill>
                <a:latin typeface="Arial"/>
                <a:ea typeface="Arial"/>
                <a:cs typeface="Arial"/>
              </a:defRPr>
            </a:lvl6pPr>
            <a:lvl7pPr>
              <a:defRPr sz="2325" b="0">
                <a:solidFill>
                  <a:srgbClr val="15383A"/>
                </a:solidFill>
                <a:latin typeface="Arial"/>
                <a:ea typeface="Arial"/>
                <a:cs typeface="Arial"/>
              </a:defRPr>
            </a:lvl7pPr>
            <a:lvl8pPr>
              <a:defRPr sz="2325" b="0">
                <a:solidFill>
                  <a:srgbClr val="15383A"/>
                </a:solidFill>
                <a:latin typeface="Arial"/>
                <a:ea typeface="Arial"/>
                <a:cs typeface="Arial"/>
              </a:defRPr>
            </a:lvl8pPr>
            <a:lvl9pPr>
              <a:defRPr sz="2325" b="0">
                <a:solidFill>
                  <a:srgbClr val="15383A"/>
                </a:solidFill>
                <a:latin typeface="Arial"/>
                <a:ea typeface="Arial"/>
                <a:cs typeface="Arial"/>
              </a:defRPr>
            </a:lvl9pPr>
          </a:lstStyle>
          <a:p xmlns:a="http://schemas.openxmlformats.org/drawingml/2006/main">
            <a:pPr>
              <a:defRPr sz="2325" b="0">
                <a:solidFill>
                  <a:srgbClr val="15383A"/>
                </a:solidFill>
                <a:latin typeface="Arial"/>
                <a:ea typeface="Arial"/>
                <a:cs typeface="Arial"/>
              </a:defRPr>
            </a:pPr>
            <a:r>
              <a:rPr sz="2325" b="0">
                <a:solidFill>
                  <a:srgbClr val="15383A"/>
                </a:solidFill>
                <a:latin typeface="Arial"/>
                <a:ea typeface="Arial"/>
                <a:cs typeface="Arial"/>
              </a:rPr>
              <a:t>Theory coordinates: s = rt, x = H/K, y = aP/(rK)</a:t>
            </a:r>
          </a:p>
        </p:txBody>
      </p:sp>
    </p:spTree>
    <p:extLst>
      <p:ext uri="{BB962C8B-B14F-4D97-AF65-F5344CB8AC3E}">
        <p14:creationId xmlns:p14="http://schemas.microsoft.com/office/powerpoint/2010/main" val="8396152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94E2628-4CEE-4175-93B1-960F0BFE0EEF}"/>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Equilibria and phase-plane geometry</a:t>
            </a:r>
          </a:p>
        </p:txBody>
      </p:sp>
      <p:sp>
        <p:nvSpPr>
          <p:cNvPr id="2" name="footer">
            <a:extLst xmlns:a="http://schemas.openxmlformats.org/drawingml/2006/main">
              <a:ext uri="{FF2B5EF4-FFF2-40B4-BE49-F238E27FC236}">
                <a16:creationId xmlns:a16="http://schemas.microsoft.com/office/drawing/2014/main" id="{FC6168C7-40F8-4E3A-A173-6919BF301142}"/>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Joel, MAC F314     3</a:t>
            </a:r>
          </a:p>
        </p:txBody>
      </p:sp>
      <p:pic>
        <p:nvPicPr>
          <p:cNvPr id="3" name="">
            <a:extLst xmlns:a="http://schemas.openxmlformats.org/drawingml/2006/main">
              <a:ext uri="{FF2B5EF4-FFF2-40B4-BE49-F238E27FC236}">
                <a16:creationId xmlns:a16="http://schemas.microsoft.com/office/drawing/2014/main" id="{8DE6904D-0A0A-45AB-A631-D80189827180}"/>
              </a:ext>
            </a:extLst>
          </p:cNvPr>
          <p:cNvPicPr>
            <a:picLocks xmlns:a="http://schemas.openxmlformats.org/drawingml/2006/main" noChangeAspect="1"/>
          </p:cNvPicPr>
          <p:nvPr/>
        </p:nvPicPr>
        <p:blipFill>
          <a:blip xmlns:r="http://schemas.openxmlformats.org/officeDocument/2006/relationships" xmlns:a="http://schemas.openxmlformats.org/drawingml/2006/main" r:embed="R795fcbb4c9474e1c"/>
          <a:stretch xmlns:a="http://schemas.openxmlformats.org/drawingml/2006/main"/>
        </p:blipFill>
        <p:spPr>
          <a:xfrm xmlns:a="http://schemas.openxmlformats.org/drawingml/2006/main">
            <a:off x="609600" y="2068513"/>
            <a:ext cx="7429500" cy="3054350"/>
          </a:xfrm>
          <a:prstGeom xmlns:a="http://schemas.openxmlformats.org/drawingml/2006/main" prst="rect">
            <a:avLst/>
          </a:prstGeom>
        </p:spPr>
      </p:pic>
      <p:sp>
        <p:nvSpPr>
          <p:cNvPr id="4" name="coexist">
            <a:extLst xmlns:a="http://schemas.openxmlformats.org/drawingml/2006/main">
              <a:ext uri="{FF2B5EF4-FFF2-40B4-BE49-F238E27FC236}">
                <a16:creationId xmlns:a16="http://schemas.microsoft.com/office/drawing/2014/main" id="{B14C683B-844D-4F06-B23F-1F54F3EC1D32}"/>
              </a:ext>
            </a:extLst>
          </p:cNvPr>
          <p:cNvSpPr>
            <a:spLocks xmlns:a="http://schemas.openxmlformats.org/drawingml/2006/main" noGrp="1"/>
          </p:cNvSpPr>
          <p:nvPr/>
        </p:nvSpPr>
        <p:spPr>
          <a:xfrm xmlns:a="http://schemas.openxmlformats.org/drawingml/2006/main">
            <a:off x="8334375" y="2000250"/>
            <a:ext cx="323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97278"/>
                </a:solidFill>
                <a:latin typeface="Arial"/>
                <a:ea typeface="Arial"/>
                <a:cs typeface="Arial"/>
              </a:defRPr>
            </a:defPPr>
            <a:lvl1pPr>
              <a:defRPr sz="2325" b="1">
                <a:solidFill>
                  <a:srgbClr val="197278"/>
                </a:solidFill>
                <a:latin typeface="Arial"/>
                <a:ea typeface="Arial"/>
                <a:cs typeface="Arial"/>
              </a:defRPr>
            </a:lvl1pPr>
            <a:lvl2pPr>
              <a:defRPr sz="2325" b="1">
                <a:solidFill>
                  <a:srgbClr val="197278"/>
                </a:solidFill>
                <a:latin typeface="Arial"/>
                <a:ea typeface="Arial"/>
                <a:cs typeface="Arial"/>
              </a:defRPr>
            </a:lvl2pPr>
            <a:lvl3pPr>
              <a:defRPr sz="2325" b="1">
                <a:solidFill>
                  <a:srgbClr val="197278"/>
                </a:solidFill>
                <a:latin typeface="Arial"/>
                <a:ea typeface="Arial"/>
                <a:cs typeface="Arial"/>
              </a:defRPr>
            </a:lvl3pPr>
            <a:lvl4pPr>
              <a:defRPr sz="2325" b="1">
                <a:solidFill>
                  <a:srgbClr val="197278"/>
                </a:solidFill>
                <a:latin typeface="Arial"/>
                <a:ea typeface="Arial"/>
                <a:cs typeface="Arial"/>
              </a:defRPr>
            </a:lvl4pPr>
            <a:lvl5pPr>
              <a:defRPr sz="2325" b="1">
                <a:solidFill>
                  <a:srgbClr val="197278"/>
                </a:solidFill>
                <a:latin typeface="Arial"/>
                <a:ea typeface="Arial"/>
                <a:cs typeface="Arial"/>
              </a:defRPr>
            </a:lvl5pPr>
            <a:lvl6pPr>
              <a:defRPr sz="2325" b="1">
                <a:solidFill>
                  <a:srgbClr val="197278"/>
                </a:solidFill>
                <a:latin typeface="Arial"/>
                <a:ea typeface="Arial"/>
                <a:cs typeface="Arial"/>
              </a:defRPr>
            </a:lvl6pPr>
            <a:lvl7pPr>
              <a:defRPr sz="2325" b="1">
                <a:solidFill>
                  <a:srgbClr val="197278"/>
                </a:solidFill>
                <a:latin typeface="Arial"/>
                <a:ea typeface="Arial"/>
                <a:cs typeface="Arial"/>
              </a:defRPr>
            </a:lvl7pPr>
            <a:lvl8pPr>
              <a:defRPr sz="2325" b="1">
                <a:solidFill>
                  <a:srgbClr val="197278"/>
                </a:solidFill>
                <a:latin typeface="Arial"/>
                <a:ea typeface="Arial"/>
                <a:cs typeface="Arial"/>
              </a:defRPr>
            </a:lvl8pPr>
            <a:lvl9pPr>
              <a:defRPr sz="2325" b="1">
                <a:solidFill>
                  <a:srgbClr val="197278"/>
                </a:solidFill>
                <a:latin typeface="Arial"/>
                <a:ea typeface="Arial"/>
                <a:cs typeface="Arial"/>
              </a:defRPr>
            </a:lvl9pPr>
          </a:lstStyle>
          <a:p xmlns:a="http://schemas.openxmlformats.org/drawingml/2006/main">
            <a:pPr>
              <a:defRPr sz="2325" b="1">
                <a:solidFill>
                  <a:srgbClr val="197278"/>
                </a:solidFill>
                <a:latin typeface="Arial"/>
                <a:ea typeface="Arial"/>
                <a:cs typeface="Arial"/>
              </a:defRPr>
            </a:pPr>
            <a:r>
              <a:rPr sz="2325" b="1">
                <a:solidFill>
                  <a:srgbClr val="197278"/>
                </a:solidFill>
                <a:latin typeface="Arial"/>
                <a:ea typeface="Arial"/>
                <a:cs typeface="Arial"/>
              </a:rPr>
              <a:t>H* = mb/(ea − m)</a:t>
            </a:r>
          </a:p>
          <a:p xmlns:a="http://schemas.openxmlformats.org/drawingml/2006/main">
            <a:pPr>
              <a:defRPr sz="2325" b="1">
                <a:solidFill>
                  <a:srgbClr val="197278"/>
                </a:solidFill>
                <a:latin typeface="Arial"/>
                <a:ea typeface="Arial"/>
                <a:cs typeface="Arial"/>
              </a:defRPr>
            </a:pPr>
            <a:r>
              <a:rPr sz="2325" b="1">
                <a:solidFill>
                  <a:srgbClr val="197278"/>
                </a:solidFill>
                <a:latin typeface="Arial"/>
                <a:ea typeface="Arial"/>
                <a:cs typeface="Arial"/>
              </a:rPr>
              <a:t>K &gt; H*, ea &gt; m</a:t>
            </a:r>
          </a:p>
        </p:txBody>
      </p:sp>
      <p:sp>
        <p:nvSpPr>
          <p:cNvPr id="5" name="geometry">
            <a:extLst xmlns:a="http://schemas.openxmlformats.org/drawingml/2006/main">
              <a:ext uri="{FF2B5EF4-FFF2-40B4-BE49-F238E27FC236}">
                <a16:creationId xmlns:a16="http://schemas.microsoft.com/office/drawing/2014/main" id="{C13560F6-EB54-46B3-B8A6-36EE9D03D294}"/>
              </a:ext>
            </a:extLst>
          </p:cNvPr>
          <p:cNvSpPr>
            <a:spLocks xmlns:a="http://schemas.openxmlformats.org/drawingml/2006/main" noGrp="1"/>
          </p:cNvSpPr>
          <p:nvPr/>
        </p:nvSpPr>
        <p:spPr>
          <a:xfrm xmlns:a="http://schemas.openxmlformats.org/drawingml/2006/main">
            <a:off x="8334375" y="3810000"/>
            <a:ext cx="323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Predator nullcline</a:t>
            </a:r>
          </a:p>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is vertical.</a:t>
            </a:r>
          </a:p>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Prey nullcline has a hump.</a:t>
            </a:r>
          </a:p>
        </p:txBody>
      </p:sp>
    </p:spTree>
    <p:extLst>
      <p:ext uri="{BB962C8B-B14F-4D97-AF65-F5344CB8AC3E}">
        <p14:creationId xmlns:p14="http://schemas.microsoft.com/office/powerpoint/2010/main" val="10719637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19601E2-A1B6-4A8A-89B4-F7CD7A4ED86A}"/>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Hopf threshold and enrichment</a:t>
            </a:r>
          </a:p>
        </p:txBody>
      </p:sp>
      <p:sp>
        <p:nvSpPr>
          <p:cNvPr id="2" name="footer">
            <a:extLst xmlns:a="http://schemas.openxmlformats.org/drawingml/2006/main">
              <a:ext uri="{FF2B5EF4-FFF2-40B4-BE49-F238E27FC236}">
                <a16:creationId xmlns:a16="http://schemas.microsoft.com/office/drawing/2014/main" id="{1AC72DA8-A3D1-4E3B-BE5C-D2755257B9F8}"/>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Joel, MAC F314     4</a:t>
            </a:r>
          </a:p>
        </p:txBody>
      </p:sp>
      <p:sp>
        <p:nvSpPr>
          <p:cNvPr id="3" name="threshold">
            <a:extLst xmlns:a="http://schemas.openxmlformats.org/drawingml/2006/main">
              <a:ext uri="{FF2B5EF4-FFF2-40B4-BE49-F238E27FC236}">
                <a16:creationId xmlns:a16="http://schemas.microsoft.com/office/drawing/2014/main" id="{31FD0EA4-C833-4074-8BFA-80401F95C541}"/>
              </a:ext>
            </a:extLst>
          </p:cNvPr>
          <p:cNvSpPr>
            <a:spLocks xmlns:a="http://schemas.openxmlformats.org/drawingml/2006/main" noGrp="1"/>
          </p:cNvSpPr>
          <p:nvPr/>
        </p:nvSpPr>
        <p:spPr>
          <a:xfrm xmlns:a="http://schemas.openxmlformats.org/drawingml/2006/main">
            <a:off x="609600" y="1571625"/>
            <a:ext cx="4000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97278"/>
                </a:solidFill>
                <a:latin typeface="Arial"/>
                <a:ea typeface="Arial"/>
                <a:cs typeface="Arial"/>
              </a:defRPr>
            </a:defPPr>
            <a:lvl1pPr>
              <a:defRPr sz="3225" b="1">
                <a:solidFill>
                  <a:srgbClr val="197278"/>
                </a:solidFill>
                <a:latin typeface="Arial"/>
                <a:ea typeface="Arial"/>
                <a:cs typeface="Arial"/>
              </a:defRPr>
            </a:lvl1pPr>
            <a:lvl2pPr>
              <a:defRPr sz="3225" b="1">
                <a:solidFill>
                  <a:srgbClr val="197278"/>
                </a:solidFill>
                <a:latin typeface="Arial"/>
                <a:ea typeface="Arial"/>
                <a:cs typeface="Arial"/>
              </a:defRPr>
            </a:lvl2pPr>
            <a:lvl3pPr>
              <a:defRPr sz="3225" b="1">
                <a:solidFill>
                  <a:srgbClr val="197278"/>
                </a:solidFill>
                <a:latin typeface="Arial"/>
                <a:ea typeface="Arial"/>
                <a:cs typeface="Arial"/>
              </a:defRPr>
            </a:lvl3pPr>
            <a:lvl4pPr>
              <a:defRPr sz="3225" b="1">
                <a:solidFill>
                  <a:srgbClr val="197278"/>
                </a:solidFill>
                <a:latin typeface="Arial"/>
                <a:ea typeface="Arial"/>
                <a:cs typeface="Arial"/>
              </a:defRPr>
            </a:lvl4pPr>
            <a:lvl5pPr>
              <a:defRPr sz="3225" b="1">
                <a:solidFill>
                  <a:srgbClr val="197278"/>
                </a:solidFill>
                <a:latin typeface="Arial"/>
                <a:ea typeface="Arial"/>
                <a:cs typeface="Arial"/>
              </a:defRPr>
            </a:lvl5pPr>
            <a:lvl6pPr>
              <a:defRPr sz="3225" b="1">
                <a:solidFill>
                  <a:srgbClr val="197278"/>
                </a:solidFill>
                <a:latin typeface="Arial"/>
                <a:ea typeface="Arial"/>
                <a:cs typeface="Arial"/>
              </a:defRPr>
            </a:lvl6pPr>
            <a:lvl7pPr>
              <a:defRPr sz="3225" b="1">
                <a:solidFill>
                  <a:srgbClr val="197278"/>
                </a:solidFill>
                <a:latin typeface="Arial"/>
                <a:ea typeface="Arial"/>
                <a:cs typeface="Arial"/>
              </a:defRPr>
            </a:lvl7pPr>
            <a:lvl8pPr>
              <a:defRPr sz="3225" b="1">
                <a:solidFill>
                  <a:srgbClr val="197278"/>
                </a:solidFill>
                <a:latin typeface="Arial"/>
                <a:ea typeface="Arial"/>
                <a:cs typeface="Arial"/>
              </a:defRPr>
            </a:lvl8pPr>
            <a:lvl9pPr>
              <a:defRPr sz="3225" b="1">
                <a:solidFill>
                  <a:srgbClr val="197278"/>
                </a:solidFill>
                <a:latin typeface="Arial"/>
                <a:ea typeface="Arial"/>
                <a:cs typeface="Arial"/>
              </a:defRPr>
            </a:lvl9pPr>
          </a:lstStyle>
          <a:p xmlns:a="http://schemas.openxmlformats.org/drawingml/2006/main">
            <a:pPr>
              <a:defRPr sz="3225" b="1">
                <a:solidFill>
                  <a:srgbClr val="197278"/>
                </a:solidFill>
                <a:latin typeface="Arial"/>
                <a:ea typeface="Arial"/>
                <a:cs typeface="Arial"/>
              </a:defRPr>
            </a:pPr>
            <a:r>
              <a:rPr sz="3225" b="1">
                <a:solidFill>
                  <a:srgbClr val="197278"/>
                </a:solidFill>
                <a:latin typeface="Arial"/>
                <a:ea typeface="Arial"/>
                <a:cs typeface="Arial"/>
              </a:rPr>
              <a:t>K_H = b + 2H*</a:t>
            </a:r>
          </a:p>
          <a:p xmlns:a="http://schemas.openxmlformats.org/drawingml/2006/main">
            <a:pPr>
              <a:defRPr sz="3225" b="1">
                <a:solidFill>
                  <a:srgbClr val="197278"/>
                </a:solidFill>
                <a:latin typeface="Arial"/>
                <a:ea typeface="Arial"/>
                <a:cs typeface="Arial"/>
              </a:defRPr>
            </a:pPr>
            <a:r>
              <a:rPr sz="3225" b="1">
                <a:solidFill>
                  <a:srgbClr val="197278"/>
                </a:solidFill>
                <a:latin typeface="Arial"/>
                <a:ea typeface="Arial"/>
                <a:cs typeface="Arial"/>
              </a:rPr>
              <a:t>σ = K/K_H</a:t>
            </a:r>
          </a:p>
        </p:txBody>
      </p:sp>
      <p:sp>
        <p:nvSpPr>
          <p:cNvPr id="4" name="condition">
            <a:extLst xmlns:a="http://schemas.openxmlformats.org/drawingml/2006/main">
              <a:ext uri="{FF2B5EF4-FFF2-40B4-BE49-F238E27FC236}">
                <a16:creationId xmlns:a16="http://schemas.microsoft.com/office/drawing/2014/main" id="{6A64502F-B879-46C6-984E-393485BA1459}"/>
              </a:ext>
            </a:extLst>
          </p:cNvPr>
          <p:cNvSpPr>
            <a:spLocks xmlns:a="http://schemas.openxmlformats.org/drawingml/2006/main" noGrp="1"/>
          </p:cNvSpPr>
          <p:nvPr/>
        </p:nvSpPr>
        <p:spPr>
          <a:xfrm xmlns:a="http://schemas.openxmlformats.org/drawingml/2006/main">
            <a:off x="609600" y="333375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5383A"/>
                </a:solidFill>
                <a:latin typeface="Arial"/>
                <a:ea typeface="Arial"/>
                <a:cs typeface="Arial"/>
              </a:defRPr>
            </a:defPPr>
            <a:lvl1pPr>
              <a:defRPr sz="2175" b="0">
                <a:solidFill>
                  <a:srgbClr val="15383A"/>
                </a:solidFill>
                <a:latin typeface="Arial"/>
                <a:ea typeface="Arial"/>
                <a:cs typeface="Arial"/>
              </a:defRPr>
            </a:lvl1pPr>
            <a:lvl2pPr>
              <a:defRPr sz="2175" b="0">
                <a:solidFill>
                  <a:srgbClr val="15383A"/>
                </a:solidFill>
                <a:latin typeface="Arial"/>
                <a:ea typeface="Arial"/>
                <a:cs typeface="Arial"/>
              </a:defRPr>
            </a:lvl2pPr>
            <a:lvl3pPr>
              <a:defRPr sz="2175" b="0">
                <a:solidFill>
                  <a:srgbClr val="15383A"/>
                </a:solidFill>
                <a:latin typeface="Arial"/>
                <a:ea typeface="Arial"/>
                <a:cs typeface="Arial"/>
              </a:defRPr>
            </a:lvl3pPr>
            <a:lvl4pPr>
              <a:defRPr sz="2175" b="0">
                <a:solidFill>
                  <a:srgbClr val="15383A"/>
                </a:solidFill>
                <a:latin typeface="Arial"/>
                <a:ea typeface="Arial"/>
                <a:cs typeface="Arial"/>
              </a:defRPr>
            </a:lvl4pPr>
            <a:lvl5pPr>
              <a:defRPr sz="2175" b="0">
                <a:solidFill>
                  <a:srgbClr val="15383A"/>
                </a:solidFill>
                <a:latin typeface="Arial"/>
                <a:ea typeface="Arial"/>
                <a:cs typeface="Arial"/>
              </a:defRPr>
            </a:lvl5pPr>
            <a:lvl6pPr>
              <a:defRPr sz="2175" b="0">
                <a:solidFill>
                  <a:srgbClr val="15383A"/>
                </a:solidFill>
                <a:latin typeface="Arial"/>
                <a:ea typeface="Arial"/>
                <a:cs typeface="Arial"/>
              </a:defRPr>
            </a:lvl6pPr>
            <a:lvl7pPr>
              <a:defRPr sz="2175" b="0">
                <a:solidFill>
                  <a:srgbClr val="15383A"/>
                </a:solidFill>
                <a:latin typeface="Arial"/>
                <a:ea typeface="Arial"/>
                <a:cs typeface="Arial"/>
              </a:defRPr>
            </a:lvl7pPr>
            <a:lvl8pPr>
              <a:defRPr sz="2175" b="0">
                <a:solidFill>
                  <a:srgbClr val="15383A"/>
                </a:solidFill>
                <a:latin typeface="Arial"/>
                <a:ea typeface="Arial"/>
                <a:cs typeface="Arial"/>
              </a:defRPr>
            </a:lvl8pPr>
            <a:lvl9pPr>
              <a:defRPr sz="2175" b="0">
                <a:solidFill>
                  <a:srgbClr val="15383A"/>
                </a:solidFill>
                <a:latin typeface="Arial"/>
                <a:ea typeface="Arial"/>
                <a:cs typeface="Arial"/>
              </a:defRPr>
            </a:lvl9pPr>
          </a:lstStyle>
          <a:p xmlns:a="http://schemas.openxmlformats.org/drawingml/2006/main">
            <a:pPr>
              <a:defRPr sz="2175" b="0">
                <a:solidFill>
                  <a:srgbClr val="15383A"/>
                </a:solidFill>
                <a:latin typeface="Arial"/>
                <a:ea typeface="Arial"/>
                <a:cs typeface="Arial"/>
              </a:defRPr>
            </a:pPr>
            <a:r>
              <a:rPr sz="2175" b="0">
                <a:solidFill>
                  <a:srgbClr val="15383A"/>
                </a:solidFill>
                <a:latin typeface="Arial"/>
                <a:ea typeface="Arial"/>
                <a:cs typeface="Arial"/>
              </a:rPr>
              <a:t>Trace crosses zero</a:t>
            </a:r>
          </a:p>
          <a:p xmlns:a="http://schemas.openxmlformats.org/drawingml/2006/main">
            <a:pPr>
              <a:defRPr sz="2175" b="0">
                <a:solidFill>
                  <a:srgbClr val="15383A"/>
                </a:solidFill>
                <a:latin typeface="Arial"/>
                <a:ea typeface="Arial"/>
                <a:cs typeface="Arial"/>
              </a:defRPr>
            </a:pPr>
            <a:r>
              <a:rPr sz="2175" b="0">
                <a:solidFill>
                  <a:srgbClr val="15383A"/>
                </a:solidFill>
                <a:latin typeface="Arial"/>
                <a:ea typeface="Arial"/>
                <a:cs typeface="Arial"/>
              </a:rPr>
              <a:t>Determinant stays positive</a:t>
            </a:r>
          </a:p>
        </p:txBody>
      </p:sp>
      <p:sp>
        <p:nvSpPr>
          <p:cNvPr id="5" name="claim">
            <a:extLst xmlns:a="http://schemas.openxmlformats.org/drawingml/2006/main">
              <a:ext uri="{FF2B5EF4-FFF2-40B4-BE49-F238E27FC236}">
                <a16:creationId xmlns:a16="http://schemas.microsoft.com/office/drawing/2014/main" id="{7DD92A82-FF63-48ED-9AC0-31F0F9EA6925}"/>
              </a:ext>
            </a:extLst>
          </p:cNvPr>
          <p:cNvSpPr>
            <a:spLocks xmlns:a="http://schemas.openxmlformats.org/drawingml/2006/main" noGrp="1"/>
          </p:cNvSpPr>
          <p:nvPr/>
        </p:nvSpPr>
        <p:spPr>
          <a:xfrm xmlns:a="http://schemas.openxmlformats.org/drawingml/2006/main">
            <a:off x="609600" y="485775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A theorem for the model</a:t>
            </a:r>
          </a:p>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A conditional ecological interpretation</a:t>
            </a:r>
          </a:p>
        </p:txBody>
      </p:sp>
      <p:pic>
        <p:nvPicPr>
          <p:cNvPr id="6" name="">
            <a:extLst xmlns:a="http://schemas.openxmlformats.org/drawingml/2006/main">
              <a:ext uri="{FF2B5EF4-FFF2-40B4-BE49-F238E27FC236}">
                <a16:creationId xmlns:a16="http://schemas.microsoft.com/office/drawing/2014/main" id="{BB0A609B-4534-4382-94AF-0B15F7117EEC}"/>
              </a:ext>
            </a:extLst>
          </p:cNvPr>
          <p:cNvPicPr>
            <a:picLocks xmlns:a="http://schemas.openxmlformats.org/drawingml/2006/main" noChangeAspect="1"/>
          </p:cNvPicPr>
          <p:nvPr/>
        </p:nvPicPr>
        <p:blipFill>
          <a:blip xmlns:r="http://schemas.openxmlformats.org/officeDocument/2006/relationships" xmlns:a="http://schemas.openxmlformats.org/drawingml/2006/main" r:embed="Re87866b3f74c4c2d"/>
          <a:stretch xmlns:a="http://schemas.openxmlformats.org/drawingml/2006/main"/>
        </p:blipFill>
        <p:spPr>
          <a:xfrm xmlns:a="http://schemas.openxmlformats.org/drawingml/2006/main">
            <a:off x="4905375" y="1571625"/>
            <a:ext cx="6667500" cy="4000500"/>
          </a:xfrm>
          <a:prstGeom xmlns:a="http://schemas.openxmlformats.org/drawingml/2006/main" prst="rect">
            <a:avLst/>
          </a:prstGeom>
        </p:spPr>
      </p:pic>
    </p:spTree>
    <p:extLst>
      <p:ext uri="{BB962C8B-B14F-4D97-AF65-F5344CB8AC3E}">
        <p14:creationId xmlns:p14="http://schemas.microsoft.com/office/powerpoint/2010/main" val="15828740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34FD3EE-48A8-422C-925E-3576A131457B}"/>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Numerical checks across the threshold</a:t>
            </a:r>
          </a:p>
        </p:txBody>
      </p:sp>
      <p:sp>
        <p:nvSpPr>
          <p:cNvPr id="2" name="footer">
            <a:extLst xmlns:a="http://schemas.openxmlformats.org/drawingml/2006/main">
              <a:ext uri="{FF2B5EF4-FFF2-40B4-BE49-F238E27FC236}">
                <a16:creationId xmlns:a16="http://schemas.microsoft.com/office/drawing/2014/main" id="{3E973406-F2AB-483B-B427-CA37CCD5A467}"/>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Rishi, MAC F314     5</a:t>
            </a:r>
          </a:p>
        </p:txBody>
      </p:sp>
      <p:pic>
        <p:nvPicPr>
          <p:cNvPr id="3" name="">
            <a:extLst xmlns:a="http://schemas.openxmlformats.org/drawingml/2006/main">
              <a:ext uri="{FF2B5EF4-FFF2-40B4-BE49-F238E27FC236}">
                <a16:creationId xmlns:a16="http://schemas.microsoft.com/office/drawing/2014/main" id="{E1E45DD6-4783-42D5-B709-2869C324B348}"/>
              </a:ext>
            </a:extLst>
          </p:cNvPr>
          <p:cNvPicPr>
            <a:picLocks xmlns:a="http://schemas.openxmlformats.org/drawingml/2006/main" noChangeAspect="1"/>
          </p:cNvPicPr>
          <p:nvPr/>
        </p:nvPicPr>
        <p:blipFill>
          <a:blip xmlns:r="http://schemas.openxmlformats.org/officeDocument/2006/relationships" xmlns:a="http://schemas.openxmlformats.org/drawingml/2006/main" r:embed="R9329bdd37a08451b"/>
          <a:stretch xmlns:a="http://schemas.openxmlformats.org/drawingml/2006/main"/>
        </p:blipFill>
        <p:spPr>
          <a:xfrm xmlns:a="http://schemas.openxmlformats.org/drawingml/2006/main">
            <a:off x="609600" y="1361529"/>
            <a:ext cx="10972800" cy="4039691"/>
          </a:xfrm>
          <a:prstGeom xmlns:a="http://schemas.openxmlformats.org/drawingml/2006/main" prst="rect">
            <a:avLst/>
          </a:prstGeom>
        </p:spPr>
      </p:pic>
      <p:sp>
        <p:nvSpPr>
          <p:cNvPr id="4" name="solver">
            <a:extLst xmlns:a="http://schemas.openxmlformats.org/drawingml/2006/main">
              <a:ext uri="{FF2B5EF4-FFF2-40B4-BE49-F238E27FC236}">
                <a16:creationId xmlns:a16="http://schemas.microsoft.com/office/drawing/2014/main" id="{27A204CD-4CEB-431A-A615-FC9E5782FCE0}"/>
              </a:ext>
            </a:extLst>
          </p:cNvPr>
          <p:cNvSpPr>
            <a:spLocks xmlns:a="http://schemas.openxmlformats.org/drawingml/2006/main" noGrp="1"/>
          </p:cNvSpPr>
          <p:nvPr/>
        </p:nvSpPr>
        <p:spPr>
          <a:xfrm xmlns:a="http://schemas.openxmlformats.org/drawingml/2006/main">
            <a:off x="609600" y="5572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7278"/>
                </a:solidFill>
                <a:latin typeface="Arial"/>
                <a:ea typeface="Arial"/>
                <a:cs typeface="Arial"/>
              </a:defRPr>
            </a:defPPr>
            <a:lvl1pPr>
              <a:defRPr sz="2175" b="1">
                <a:solidFill>
                  <a:srgbClr val="197278"/>
                </a:solidFill>
                <a:latin typeface="Arial"/>
                <a:ea typeface="Arial"/>
                <a:cs typeface="Arial"/>
              </a:defRPr>
            </a:lvl1pPr>
            <a:lvl2pPr>
              <a:defRPr sz="2175" b="1">
                <a:solidFill>
                  <a:srgbClr val="197278"/>
                </a:solidFill>
                <a:latin typeface="Arial"/>
                <a:ea typeface="Arial"/>
                <a:cs typeface="Arial"/>
              </a:defRPr>
            </a:lvl2pPr>
            <a:lvl3pPr>
              <a:defRPr sz="2175" b="1">
                <a:solidFill>
                  <a:srgbClr val="197278"/>
                </a:solidFill>
                <a:latin typeface="Arial"/>
                <a:ea typeface="Arial"/>
                <a:cs typeface="Arial"/>
              </a:defRPr>
            </a:lvl3pPr>
            <a:lvl4pPr>
              <a:defRPr sz="2175" b="1">
                <a:solidFill>
                  <a:srgbClr val="197278"/>
                </a:solidFill>
                <a:latin typeface="Arial"/>
                <a:ea typeface="Arial"/>
                <a:cs typeface="Arial"/>
              </a:defRPr>
            </a:lvl4pPr>
            <a:lvl5pPr>
              <a:defRPr sz="2175" b="1">
                <a:solidFill>
                  <a:srgbClr val="197278"/>
                </a:solidFill>
                <a:latin typeface="Arial"/>
                <a:ea typeface="Arial"/>
                <a:cs typeface="Arial"/>
              </a:defRPr>
            </a:lvl5pPr>
            <a:lvl6pPr>
              <a:defRPr sz="2175" b="1">
                <a:solidFill>
                  <a:srgbClr val="197278"/>
                </a:solidFill>
                <a:latin typeface="Arial"/>
                <a:ea typeface="Arial"/>
                <a:cs typeface="Arial"/>
              </a:defRPr>
            </a:lvl6pPr>
            <a:lvl7pPr>
              <a:defRPr sz="2175" b="1">
                <a:solidFill>
                  <a:srgbClr val="197278"/>
                </a:solidFill>
                <a:latin typeface="Arial"/>
                <a:ea typeface="Arial"/>
                <a:cs typeface="Arial"/>
              </a:defRPr>
            </a:lvl7pPr>
            <a:lvl8pPr>
              <a:defRPr sz="2175" b="1">
                <a:solidFill>
                  <a:srgbClr val="197278"/>
                </a:solidFill>
                <a:latin typeface="Arial"/>
                <a:ea typeface="Arial"/>
                <a:cs typeface="Arial"/>
              </a:defRPr>
            </a:lvl8pPr>
            <a:lvl9pPr>
              <a:defRPr sz="2175" b="1">
                <a:solidFill>
                  <a:srgbClr val="197278"/>
                </a:solidFill>
                <a:latin typeface="Arial"/>
                <a:ea typeface="Arial"/>
                <a:cs typeface="Arial"/>
              </a:defRPr>
            </a:lvl9pPr>
          </a:lstStyle>
          <a:p xmlns:a="http://schemas.openxmlformats.org/drawingml/2006/main">
            <a:pPr>
              <a:defRPr sz="2175" b="1">
                <a:solidFill>
                  <a:srgbClr val="197278"/>
                </a:solidFill>
                <a:latin typeface="Arial"/>
                <a:ea typeface="Arial"/>
                <a:cs typeface="Arial"/>
              </a:defRPr>
            </a:pPr>
            <a:r>
              <a:rPr sz="2175" b="1">
                <a:solidFill>
                  <a:srgbClr val="197278"/>
                </a:solidFill>
                <a:latin typeface="Arial"/>
                <a:ea typeface="Arial"/>
                <a:cs typeface="Arial"/>
              </a:rPr>
              <a:t>Shared RHS, RK45, declared tolerances and a documented burn-in</a:t>
            </a:r>
          </a:p>
        </p:txBody>
      </p:sp>
    </p:spTree>
    <p:extLst>
      <p:ext uri="{BB962C8B-B14F-4D97-AF65-F5344CB8AC3E}">
        <p14:creationId xmlns:p14="http://schemas.microsoft.com/office/powerpoint/2010/main" val="2562326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871DAB6-242B-4FA2-B851-184E9DE3277E}"/>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Historical fits relative to Hopf</a:t>
            </a:r>
          </a:p>
        </p:txBody>
      </p:sp>
      <p:sp>
        <p:nvSpPr>
          <p:cNvPr id="2" name="footer">
            <a:extLst xmlns:a="http://schemas.openxmlformats.org/drawingml/2006/main">
              <a:ext uri="{FF2B5EF4-FFF2-40B4-BE49-F238E27FC236}">
                <a16:creationId xmlns:a16="http://schemas.microsoft.com/office/drawing/2014/main" id="{44E28A50-E832-403A-8F39-F36B94B432C5}"/>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Rishi, MAC F314     6</a:t>
            </a:r>
          </a:p>
        </p:txBody>
      </p:sp>
      <p:pic>
        <p:nvPicPr>
          <p:cNvPr id="3" name="">
            <a:extLst xmlns:a="http://schemas.openxmlformats.org/drawingml/2006/main">
              <a:ext uri="{FF2B5EF4-FFF2-40B4-BE49-F238E27FC236}">
                <a16:creationId xmlns:a16="http://schemas.microsoft.com/office/drawing/2014/main" id="{1F5101AB-2D94-4B25-867E-A89A9E410F9F}"/>
              </a:ext>
            </a:extLst>
          </p:cNvPr>
          <p:cNvPicPr>
            <a:picLocks xmlns:a="http://schemas.openxmlformats.org/drawingml/2006/main" noChangeAspect="1"/>
          </p:cNvPicPr>
          <p:nvPr/>
        </p:nvPicPr>
        <p:blipFill>
          <a:blip xmlns:r="http://schemas.openxmlformats.org/officeDocument/2006/relationships" xmlns:a="http://schemas.openxmlformats.org/drawingml/2006/main" r:embed="R3c30af980bae4058"/>
          <a:stretch xmlns:a="http://schemas.openxmlformats.org/drawingml/2006/main"/>
        </p:blipFill>
        <p:spPr>
          <a:xfrm xmlns:a="http://schemas.openxmlformats.org/drawingml/2006/main">
            <a:off x="3001511" y="1333500"/>
            <a:ext cx="6188978" cy="4095750"/>
          </a:xfrm>
          <a:prstGeom xmlns:a="http://schemas.openxmlformats.org/drawingml/2006/main" prst="rect">
            <a:avLst/>
          </a:prstGeom>
        </p:spPr>
      </p:pic>
      <p:sp>
        <p:nvSpPr>
          <p:cNvPr id="4" name="conclusion">
            <a:extLst xmlns:a="http://schemas.openxmlformats.org/drawingml/2006/main">
              <a:ext uri="{FF2B5EF4-FFF2-40B4-BE49-F238E27FC236}">
                <a16:creationId xmlns:a16="http://schemas.microsoft.com/office/drawing/2014/main" id="{DA0D2EBD-0DE8-497E-8932-B65B9B78880E}"/>
              </a:ext>
            </a:extLst>
          </p:cNvPr>
          <p:cNvSpPr>
            <a:spLocks xmlns:a="http://schemas.openxmlformats.org/drawingml/2006/main" noGrp="1"/>
          </p:cNvSpPr>
          <p:nvPr/>
        </p:nvSpPr>
        <p:spPr>
          <a:xfrm xmlns:a="http://schemas.openxmlformats.org/drawingml/2006/main">
            <a:off x="609600" y="5572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7278"/>
                </a:solidFill>
                <a:latin typeface="Arial"/>
                <a:ea typeface="Arial"/>
                <a:cs typeface="Arial"/>
              </a:defRPr>
            </a:defPPr>
            <a:lvl1pPr>
              <a:defRPr sz="2175" b="1">
                <a:solidFill>
                  <a:srgbClr val="197278"/>
                </a:solidFill>
                <a:latin typeface="Arial"/>
                <a:ea typeface="Arial"/>
                <a:cs typeface="Arial"/>
              </a:defRPr>
            </a:lvl1pPr>
            <a:lvl2pPr>
              <a:defRPr sz="2175" b="1">
                <a:solidFill>
                  <a:srgbClr val="197278"/>
                </a:solidFill>
                <a:latin typeface="Arial"/>
                <a:ea typeface="Arial"/>
                <a:cs typeface="Arial"/>
              </a:defRPr>
            </a:lvl2pPr>
            <a:lvl3pPr>
              <a:defRPr sz="2175" b="1">
                <a:solidFill>
                  <a:srgbClr val="197278"/>
                </a:solidFill>
                <a:latin typeface="Arial"/>
                <a:ea typeface="Arial"/>
                <a:cs typeface="Arial"/>
              </a:defRPr>
            </a:lvl3pPr>
            <a:lvl4pPr>
              <a:defRPr sz="2175" b="1">
                <a:solidFill>
                  <a:srgbClr val="197278"/>
                </a:solidFill>
                <a:latin typeface="Arial"/>
                <a:ea typeface="Arial"/>
                <a:cs typeface="Arial"/>
              </a:defRPr>
            </a:lvl4pPr>
            <a:lvl5pPr>
              <a:defRPr sz="2175" b="1">
                <a:solidFill>
                  <a:srgbClr val="197278"/>
                </a:solidFill>
                <a:latin typeface="Arial"/>
                <a:ea typeface="Arial"/>
                <a:cs typeface="Arial"/>
              </a:defRPr>
            </a:lvl5pPr>
            <a:lvl6pPr>
              <a:defRPr sz="2175" b="1">
                <a:solidFill>
                  <a:srgbClr val="197278"/>
                </a:solidFill>
                <a:latin typeface="Arial"/>
                <a:ea typeface="Arial"/>
                <a:cs typeface="Arial"/>
              </a:defRPr>
            </a:lvl6pPr>
            <a:lvl7pPr>
              <a:defRPr sz="2175" b="1">
                <a:solidFill>
                  <a:srgbClr val="197278"/>
                </a:solidFill>
                <a:latin typeface="Arial"/>
                <a:ea typeface="Arial"/>
                <a:cs typeface="Arial"/>
              </a:defRPr>
            </a:lvl7pPr>
            <a:lvl8pPr>
              <a:defRPr sz="2175" b="1">
                <a:solidFill>
                  <a:srgbClr val="197278"/>
                </a:solidFill>
                <a:latin typeface="Arial"/>
                <a:ea typeface="Arial"/>
                <a:cs typeface="Arial"/>
              </a:defRPr>
            </a:lvl8pPr>
            <a:lvl9pPr>
              <a:defRPr sz="2175" b="1">
                <a:solidFill>
                  <a:srgbClr val="197278"/>
                </a:solidFill>
                <a:latin typeface="Arial"/>
                <a:ea typeface="Arial"/>
                <a:cs typeface="Arial"/>
              </a:defRPr>
            </a:lvl9pPr>
          </a:lstStyle>
          <a:p xmlns:a="http://schemas.openxmlformats.org/drawingml/2006/main">
            <a:pPr>
              <a:defRPr sz="2175" b="1">
                <a:solidFill>
                  <a:srgbClr val="197278"/>
                </a:solidFill>
                <a:latin typeface="Arial"/>
                <a:ea typeface="Arial"/>
                <a:cs typeface="Arial"/>
              </a:defRPr>
            </a:pPr>
            <a:r>
              <a:rPr sz="2175" b="1">
                <a:solidFill>
                  <a:srgbClr val="197278"/>
                </a:solidFill>
                <a:latin typeface="Arial"/>
                <a:ea typeface="Arial"/>
                <a:cs typeface="Arial"/>
              </a:rPr>
              <a:t>Fits reproduce a short cycle while disagreeing about long-run stability</a:t>
            </a:r>
          </a:p>
        </p:txBody>
      </p:sp>
    </p:spTree>
    <p:extLst>
      <p:ext uri="{BB962C8B-B14F-4D97-AF65-F5344CB8AC3E}">
        <p14:creationId xmlns:p14="http://schemas.microsoft.com/office/powerpoint/2010/main" val="13030615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B754924-F362-40C2-951B-2CA69275C9FD}"/>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Inverse PINN on historical pelt data</a:t>
            </a:r>
          </a:p>
        </p:txBody>
      </p:sp>
      <p:sp>
        <p:nvSpPr>
          <p:cNvPr id="2" name="footer">
            <a:extLst xmlns:a="http://schemas.openxmlformats.org/drawingml/2006/main">
              <a:ext uri="{FF2B5EF4-FFF2-40B4-BE49-F238E27FC236}">
                <a16:creationId xmlns:a16="http://schemas.microsoft.com/office/drawing/2014/main" id="{C347D827-F233-4B85-ADD2-E0F08C00DD6F}"/>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Yash, MAC F314     7</a:t>
            </a:r>
          </a:p>
        </p:txBody>
      </p:sp>
      <p:sp>
        <p:nvSpPr>
          <p:cNvPr id="3" name="equations">
            <a:extLst xmlns:a="http://schemas.openxmlformats.org/drawingml/2006/main">
              <a:ext uri="{FF2B5EF4-FFF2-40B4-BE49-F238E27FC236}">
                <a16:creationId xmlns:a16="http://schemas.microsoft.com/office/drawing/2014/main" id="{132408FA-53F6-48CB-AEEA-BFE391C501E3}"/>
              </a:ext>
            </a:extLst>
          </p:cNvPr>
          <p:cNvSpPr>
            <a:spLocks xmlns:a="http://schemas.openxmlformats.org/drawingml/2006/main" noGrp="1"/>
          </p:cNvSpPr>
          <p:nvPr/>
        </p:nvSpPr>
        <p:spPr>
          <a:xfrm xmlns:a="http://schemas.openxmlformats.org/drawingml/2006/main">
            <a:off x="609600" y="1381125"/>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5383A"/>
                </a:solidFill>
                <a:latin typeface="Arial"/>
                <a:ea typeface="Arial"/>
                <a:cs typeface="Arial"/>
              </a:defRPr>
            </a:defPPr>
            <a:lvl1pPr>
              <a:defRPr sz="2625" b="0">
                <a:solidFill>
                  <a:srgbClr val="15383A"/>
                </a:solidFill>
                <a:latin typeface="Arial"/>
                <a:ea typeface="Arial"/>
                <a:cs typeface="Arial"/>
              </a:defRPr>
            </a:lvl1pPr>
            <a:lvl2pPr>
              <a:defRPr sz="2625" b="0">
                <a:solidFill>
                  <a:srgbClr val="15383A"/>
                </a:solidFill>
                <a:latin typeface="Arial"/>
                <a:ea typeface="Arial"/>
                <a:cs typeface="Arial"/>
              </a:defRPr>
            </a:lvl2pPr>
            <a:lvl3pPr>
              <a:defRPr sz="2625" b="0">
                <a:solidFill>
                  <a:srgbClr val="15383A"/>
                </a:solidFill>
                <a:latin typeface="Arial"/>
                <a:ea typeface="Arial"/>
                <a:cs typeface="Arial"/>
              </a:defRPr>
            </a:lvl3pPr>
            <a:lvl4pPr>
              <a:defRPr sz="2625" b="0">
                <a:solidFill>
                  <a:srgbClr val="15383A"/>
                </a:solidFill>
                <a:latin typeface="Arial"/>
                <a:ea typeface="Arial"/>
                <a:cs typeface="Arial"/>
              </a:defRPr>
            </a:lvl4pPr>
            <a:lvl5pPr>
              <a:defRPr sz="2625" b="0">
                <a:solidFill>
                  <a:srgbClr val="15383A"/>
                </a:solidFill>
                <a:latin typeface="Arial"/>
                <a:ea typeface="Arial"/>
                <a:cs typeface="Arial"/>
              </a:defRPr>
            </a:lvl5pPr>
            <a:lvl6pPr>
              <a:defRPr sz="2625" b="0">
                <a:solidFill>
                  <a:srgbClr val="15383A"/>
                </a:solidFill>
                <a:latin typeface="Arial"/>
                <a:ea typeface="Arial"/>
                <a:cs typeface="Arial"/>
              </a:defRPr>
            </a:lvl6pPr>
            <a:lvl7pPr>
              <a:defRPr sz="2625" b="0">
                <a:solidFill>
                  <a:srgbClr val="15383A"/>
                </a:solidFill>
                <a:latin typeface="Arial"/>
                <a:ea typeface="Arial"/>
                <a:cs typeface="Arial"/>
              </a:defRPr>
            </a:lvl7pPr>
            <a:lvl8pPr>
              <a:defRPr sz="2625" b="0">
                <a:solidFill>
                  <a:srgbClr val="15383A"/>
                </a:solidFill>
                <a:latin typeface="Arial"/>
                <a:ea typeface="Arial"/>
                <a:cs typeface="Arial"/>
              </a:defRPr>
            </a:lvl8pPr>
            <a:lvl9pPr>
              <a:defRPr sz="2625" b="0">
                <a:solidFill>
                  <a:srgbClr val="15383A"/>
                </a:solidFill>
                <a:latin typeface="Arial"/>
                <a:ea typeface="Arial"/>
                <a:cs typeface="Arial"/>
              </a:defRPr>
            </a:lvl9pPr>
          </a:lstStyle>
          <a:p xmlns:a="http://schemas.openxmlformats.org/drawingml/2006/main">
            <a:pPr>
              <a:defRPr sz="2625" b="0">
                <a:solidFill>
                  <a:srgbClr val="15383A"/>
                </a:solidFill>
                <a:latin typeface="Arial"/>
                <a:ea typeface="Arial"/>
                <a:cs typeface="Arial"/>
              </a:defRPr>
            </a:pPr>
            <a:r>
              <a:rPr sz="2625" b="0">
                <a:solidFill>
                  <a:srgbClr val="15383A"/>
                </a:solidFill>
                <a:latin typeface="Arial"/>
                <a:ea typeface="Arial"/>
                <a:cs typeface="Arial"/>
              </a:rPr>
              <a:t>dH/dt = rH(1 − H/K) − aHP/(b + H)</a:t>
            </a:r>
          </a:p>
          <a:p xmlns:a="http://schemas.openxmlformats.org/drawingml/2006/main">
            <a:pPr>
              <a:defRPr sz="2625" b="0">
                <a:solidFill>
                  <a:srgbClr val="15383A"/>
                </a:solidFill>
                <a:latin typeface="Arial"/>
                <a:ea typeface="Arial"/>
                <a:cs typeface="Arial"/>
              </a:defRPr>
            </a:pPr>
            <a:r>
              <a:rPr sz="2625" b="0">
                <a:solidFill>
                  <a:srgbClr val="15383A"/>
                </a:solidFill>
                <a:latin typeface="Arial"/>
                <a:ea typeface="Arial"/>
                <a:cs typeface="Arial"/>
              </a:rPr>
              <a:t>dP/dt = eaHP/(b + H) − mP</a:t>
            </a:r>
          </a:p>
        </p:txBody>
      </p:sp>
      <p:sp>
        <p:nvSpPr>
          <p:cNvPr id="4" name="loss">
            <a:extLst xmlns:a="http://schemas.openxmlformats.org/drawingml/2006/main">
              <a:ext uri="{FF2B5EF4-FFF2-40B4-BE49-F238E27FC236}">
                <a16:creationId xmlns:a16="http://schemas.microsoft.com/office/drawing/2014/main" id="{A090F9B2-BA7A-477A-8BEC-C031030670CE}"/>
              </a:ext>
            </a:extLst>
          </p:cNvPr>
          <p:cNvSpPr>
            <a:spLocks xmlns:a="http://schemas.openxmlformats.org/drawingml/2006/main" noGrp="1"/>
          </p:cNvSpPr>
          <p:nvPr/>
        </p:nvSpPr>
        <p:spPr>
          <a:xfrm xmlns:a="http://schemas.openxmlformats.org/drawingml/2006/main">
            <a:off x="609600" y="2762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97278"/>
                </a:solidFill>
                <a:latin typeface="Arial"/>
                <a:ea typeface="Arial"/>
                <a:cs typeface="Arial"/>
              </a:defRPr>
            </a:defPPr>
            <a:lvl1pPr>
              <a:defRPr sz="2325" b="1">
                <a:solidFill>
                  <a:srgbClr val="197278"/>
                </a:solidFill>
                <a:latin typeface="Arial"/>
                <a:ea typeface="Arial"/>
                <a:cs typeface="Arial"/>
              </a:defRPr>
            </a:lvl1pPr>
            <a:lvl2pPr>
              <a:defRPr sz="2325" b="1">
                <a:solidFill>
                  <a:srgbClr val="197278"/>
                </a:solidFill>
                <a:latin typeface="Arial"/>
                <a:ea typeface="Arial"/>
                <a:cs typeface="Arial"/>
              </a:defRPr>
            </a:lvl2pPr>
            <a:lvl3pPr>
              <a:defRPr sz="2325" b="1">
                <a:solidFill>
                  <a:srgbClr val="197278"/>
                </a:solidFill>
                <a:latin typeface="Arial"/>
                <a:ea typeface="Arial"/>
                <a:cs typeface="Arial"/>
              </a:defRPr>
            </a:lvl3pPr>
            <a:lvl4pPr>
              <a:defRPr sz="2325" b="1">
                <a:solidFill>
                  <a:srgbClr val="197278"/>
                </a:solidFill>
                <a:latin typeface="Arial"/>
                <a:ea typeface="Arial"/>
                <a:cs typeface="Arial"/>
              </a:defRPr>
            </a:lvl4pPr>
            <a:lvl5pPr>
              <a:defRPr sz="2325" b="1">
                <a:solidFill>
                  <a:srgbClr val="197278"/>
                </a:solidFill>
                <a:latin typeface="Arial"/>
                <a:ea typeface="Arial"/>
                <a:cs typeface="Arial"/>
              </a:defRPr>
            </a:lvl5pPr>
            <a:lvl6pPr>
              <a:defRPr sz="2325" b="1">
                <a:solidFill>
                  <a:srgbClr val="197278"/>
                </a:solidFill>
                <a:latin typeface="Arial"/>
                <a:ea typeface="Arial"/>
                <a:cs typeface="Arial"/>
              </a:defRPr>
            </a:lvl6pPr>
            <a:lvl7pPr>
              <a:defRPr sz="2325" b="1">
                <a:solidFill>
                  <a:srgbClr val="197278"/>
                </a:solidFill>
                <a:latin typeface="Arial"/>
                <a:ea typeface="Arial"/>
                <a:cs typeface="Arial"/>
              </a:defRPr>
            </a:lvl7pPr>
            <a:lvl8pPr>
              <a:defRPr sz="2325" b="1">
                <a:solidFill>
                  <a:srgbClr val="197278"/>
                </a:solidFill>
                <a:latin typeface="Arial"/>
                <a:ea typeface="Arial"/>
                <a:cs typeface="Arial"/>
              </a:defRPr>
            </a:lvl8pPr>
            <a:lvl9pPr>
              <a:defRPr sz="2325" b="1">
                <a:solidFill>
                  <a:srgbClr val="197278"/>
                </a:solidFill>
                <a:latin typeface="Arial"/>
                <a:ea typeface="Arial"/>
                <a:cs typeface="Arial"/>
              </a:defRPr>
            </a:lvl9pPr>
          </a:lstStyle>
          <a:p xmlns:a="http://schemas.openxmlformats.org/drawingml/2006/main">
            <a:pPr>
              <a:defRPr sz="2325" b="1">
                <a:solidFill>
                  <a:srgbClr val="197278"/>
                </a:solidFill>
                <a:latin typeface="Arial"/>
                <a:ea typeface="Arial"/>
                <a:cs typeface="Arial"/>
              </a:defRPr>
            </a:pPr>
            <a:r>
              <a:rPr sz="2325" b="1">
                <a:solidFill>
                  <a:srgbClr val="197278"/>
                </a:solidFill>
                <a:latin typeface="Arial"/>
                <a:ea typeface="Arial"/>
                <a:cs typeface="Arial"/>
              </a:rPr>
              <a:t>Loss = data error + 10 × ODE error + 10 × initial error</a:t>
            </a:r>
          </a:p>
        </p:txBody>
      </p:sp>
      <p:sp>
        <p:nvSpPr>
          <p:cNvPr id="5" name="network">
            <a:extLst xmlns:a="http://schemas.openxmlformats.org/drawingml/2006/main">
              <a:ext uri="{FF2B5EF4-FFF2-40B4-BE49-F238E27FC236}">
                <a16:creationId xmlns:a16="http://schemas.microsoft.com/office/drawing/2014/main" id="{2CDF718C-225A-4F03-AEDD-F11C2B08C47F}"/>
              </a:ext>
            </a:extLst>
          </p:cNvPr>
          <p:cNvSpPr>
            <a:spLocks xmlns:a="http://schemas.openxmlformats.org/drawingml/2006/main" noGrp="1"/>
          </p:cNvSpPr>
          <p:nvPr/>
        </p:nvSpPr>
        <p:spPr>
          <a:xfrm xmlns:a="http://schemas.openxmlformats.org/drawingml/2006/main">
            <a:off x="609600" y="37147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Scaled time input, 3 × 48 tanh units, positive hare and lynx outputs</a:t>
            </a:r>
          </a:p>
        </p:txBody>
      </p:sp>
      <p:sp>
        <p:nvSpPr>
          <p:cNvPr id="6" name="fit">
            <a:extLst xmlns:a="http://schemas.openxmlformats.org/drawingml/2006/main">
              <a:ext uri="{FF2B5EF4-FFF2-40B4-BE49-F238E27FC236}">
                <a16:creationId xmlns:a16="http://schemas.microsoft.com/office/drawing/2014/main" id="{B4382814-6A8D-46BE-BBAC-72DCAA01A6AD}"/>
              </a:ext>
            </a:extLst>
          </p:cNvPr>
          <p:cNvSpPr>
            <a:spLocks xmlns:a="http://schemas.openxmlformats.org/drawingml/2006/main" noGrp="1"/>
          </p:cNvSpPr>
          <p:nvPr/>
        </p:nvSpPr>
        <p:spPr>
          <a:xfrm xmlns:a="http://schemas.openxmlformats.org/drawingml/2006/main">
            <a:off x="609600" y="44767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All six positive coefficients fitted to 1900–1915, across three seeds</a:t>
            </a:r>
          </a:p>
        </p:txBody>
      </p:sp>
      <p:sp>
        <p:nvSpPr>
          <p:cNvPr id="7" name="forecast">
            <a:extLst xmlns:a="http://schemas.openxmlformats.org/drawingml/2006/main">
              <a:ext uri="{FF2B5EF4-FFF2-40B4-BE49-F238E27FC236}">
                <a16:creationId xmlns:a16="http://schemas.microsoft.com/office/drawing/2014/main" id="{14326860-68B4-47D9-A5A8-FC1F4BA1C602}"/>
              </a:ext>
            </a:extLst>
          </p:cNvPr>
          <p:cNvSpPr>
            <a:spLocks xmlns:a="http://schemas.openxmlformats.org/drawingml/2006/main" noGrp="1"/>
          </p:cNvSpPr>
          <p:nvPr/>
        </p:nvSpPr>
        <p:spPr>
          <a:xfrm xmlns:a="http://schemas.openxmlformats.org/drawingml/2006/main">
            <a:off x="609600" y="5238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383A"/>
                </a:solidFill>
                <a:latin typeface="Arial"/>
                <a:ea typeface="Arial"/>
                <a:cs typeface="Arial"/>
              </a:defRPr>
            </a:defPPr>
            <a:lvl1pPr>
              <a:defRPr sz="2025" b="0">
                <a:solidFill>
                  <a:srgbClr val="15383A"/>
                </a:solidFill>
                <a:latin typeface="Arial"/>
                <a:ea typeface="Arial"/>
                <a:cs typeface="Arial"/>
              </a:defRPr>
            </a:lvl1pPr>
            <a:lvl2pPr>
              <a:defRPr sz="2025" b="0">
                <a:solidFill>
                  <a:srgbClr val="15383A"/>
                </a:solidFill>
                <a:latin typeface="Arial"/>
                <a:ea typeface="Arial"/>
                <a:cs typeface="Arial"/>
              </a:defRPr>
            </a:lvl2pPr>
            <a:lvl3pPr>
              <a:defRPr sz="2025" b="0">
                <a:solidFill>
                  <a:srgbClr val="15383A"/>
                </a:solidFill>
                <a:latin typeface="Arial"/>
                <a:ea typeface="Arial"/>
                <a:cs typeface="Arial"/>
              </a:defRPr>
            </a:lvl3pPr>
            <a:lvl4pPr>
              <a:defRPr sz="2025" b="0">
                <a:solidFill>
                  <a:srgbClr val="15383A"/>
                </a:solidFill>
                <a:latin typeface="Arial"/>
                <a:ea typeface="Arial"/>
                <a:cs typeface="Arial"/>
              </a:defRPr>
            </a:lvl4pPr>
            <a:lvl5pPr>
              <a:defRPr sz="2025" b="0">
                <a:solidFill>
                  <a:srgbClr val="15383A"/>
                </a:solidFill>
                <a:latin typeface="Arial"/>
                <a:ea typeface="Arial"/>
                <a:cs typeface="Arial"/>
              </a:defRPr>
            </a:lvl5pPr>
            <a:lvl6pPr>
              <a:defRPr sz="2025" b="0">
                <a:solidFill>
                  <a:srgbClr val="15383A"/>
                </a:solidFill>
                <a:latin typeface="Arial"/>
                <a:ea typeface="Arial"/>
                <a:cs typeface="Arial"/>
              </a:defRPr>
            </a:lvl6pPr>
            <a:lvl7pPr>
              <a:defRPr sz="2025" b="0">
                <a:solidFill>
                  <a:srgbClr val="15383A"/>
                </a:solidFill>
                <a:latin typeface="Arial"/>
                <a:ea typeface="Arial"/>
                <a:cs typeface="Arial"/>
              </a:defRPr>
            </a:lvl7pPr>
            <a:lvl8pPr>
              <a:defRPr sz="2025" b="0">
                <a:solidFill>
                  <a:srgbClr val="15383A"/>
                </a:solidFill>
                <a:latin typeface="Arial"/>
                <a:ea typeface="Arial"/>
                <a:cs typeface="Arial"/>
              </a:defRPr>
            </a:lvl8pPr>
            <a:lvl9pPr>
              <a:defRPr sz="2025" b="0">
                <a:solidFill>
                  <a:srgbClr val="15383A"/>
                </a:solidFill>
                <a:latin typeface="Arial"/>
                <a:ea typeface="Arial"/>
                <a:cs typeface="Arial"/>
              </a:defRPr>
            </a:lvl9pPr>
          </a:lstStyle>
          <a:p xmlns:a="http://schemas.openxmlformats.org/drawingml/2006/main">
            <a:pPr>
              <a:defRPr sz="2025" b="0">
                <a:solidFill>
                  <a:srgbClr val="15383A"/>
                </a:solidFill>
                <a:latin typeface="Arial"/>
                <a:ea typeface="Arial"/>
                <a:cs typeface="Arial"/>
              </a:defRPr>
            </a:pPr>
            <a:r>
              <a:rPr sz="2025" b="0">
                <a:solidFill>
                  <a:srgbClr val="15383A"/>
                </a:solidFill>
                <a:latin typeface="Arial"/>
                <a:ea typeface="Arial"/>
                <a:cs typeface="Arial"/>
              </a:rPr>
              <a:t>Freeze parameters, then integrate the ODE from 1900 through 1920</a:t>
            </a:r>
          </a:p>
        </p:txBody>
      </p:sp>
    </p:spTree>
    <p:extLst>
      <p:ext uri="{BB962C8B-B14F-4D97-AF65-F5344CB8AC3E}">
        <p14:creationId xmlns:p14="http://schemas.microsoft.com/office/powerpoint/2010/main" val="14260672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9401495-EF50-417A-A385-AF59356D614B}"/>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Forecast comparison and parameter sensitivity</a:t>
            </a:r>
          </a:p>
        </p:txBody>
      </p:sp>
      <p:sp>
        <p:nvSpPr>
          <p:cNvPr id="2" name="footer">
            <a:extLst xmlns:a="http://schemas.openxmlformats.org/drawingml/2006/main">
              <a:ext uri="{FF2B5EF4-FFF2-40B4-BE49-F238E27FC236}">
                <a16:creationId xmlns:a16="http://schemas.microsoft.com/office/drawing/2014/main" id="{346DF00D-14E1-4AFA-ACFE-0EB9EB6D905B}"/>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Yash, MAC F314     8</a:t>
            </a:r>
          </a:p>
        </p:txBody>
      </p:sp>
      <p:sp>
        <p:nvSpPr>
          <p:cNvPr id="3" name="runs">
            <a:extLst xmlns:a="http://schemas.openxmlformats.org/drawingml/2006/main">
              <a:ext uri="{FF2B5EF4-FFF2-40B4-BE49-F238E27FC236}">
                <a16:creationId xmlns:a16="http://schemas.microsoft.com/office/drawing/2014/main" id="{1C9A181B-BFBB-452B-85AE-B1DECADC7D0C}"/>
              </a:ext>
            </a:extLst>
          </p:cNvPr>
          <p:cNvSpPr>
            <a:spLocks xmlns:a="http://schemas.openxmlformats.org/drawingml/2006/main" noGrp="1"/>
          </p:cNvSpPr>
          <p:nvPr/>
        </p:nvSpPr>
        <p:spPr>
          <a:xfrm xmlns:a="http://schemas.openxmlformats.org/drawingml/2006/main">
            <a:off x="609600" y="1619250"/>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197278"/>
                </a:solidFill>
                <a:latin typeface="Arial"/>
                <a:ea typeface="Arial"/>
                <a:cs typeface="Arial"/>
              </a:defRPr>
            </a:defPPr>
            <a:lvl1pPr>
              <a:defRPr sz="4950" b="1">
                <a:solidFill>
                  <a:srgbClr val="197278"/>
                </a:solidFill>
                <a:latin typeface="Arial"/>
                <a:ea typeface="Arial"/>
                <a:cs typeface="Arial"/>
              </a:defRPr>
            </a:lvl1pPr>
            <a:lvl2pPr>
              <a:defRPr sz="4950" b="1">
                <a:solidFill>
                  <a:srgbClr val="197278"/>
                </a:solidFill>
                <a:latin typeface="Arial"/>
                <a:ea typeface="Arial"/>
                <a:cs typeface="Arial"/>
              </a:defRPr>
            </a:lvl2pPr>
            <a:lvl3pPr>
              <a:defRPr sz="4950" b="1">
                <a:solidFill>
                  <a:srgbClr val="197278"/>
                </a:solidFill>
                <a:latin typeface="Arial"/>
                <a:ea typeface="Arial"/>
                <a:cs typeface="Arial"/>
              </a:defRPr>
            </a:lvl3pPr>
            <a:lvl4pPr>
              <a:defRPr sz="4950" b="1">
                <a:solidFill>
                  <a:srgbClr val="197278"/>
                </a:solidFill>
                <a:latin typeface="Arial"/>
                <a:ea typeface="Arial"/>
                <a:cs typeface="Arial"/>
              </a:defRPr>
            </a:lvl4pPr>
            <a:lvl5pPr>
              <a:defRPr sz="4950" b="1">
                <a:solidFill>
                  <a:srgbClr val="197278"/>
                </a:solidFill>
                <a:latin typeface="Arial"/>
                <a:ea typeface="Arial"/>
                <a:cs typeface="Arial"/>
              </a:defRPr>
            </a:lvl5pPr>
            <a:lvl6pPr>
              <a:defRPr sz="4950" b="1">
                <a:solidFill>
                  <a:srgbClr val="197278"/>
                </a:solidFill>
                <a:latin typeface="Arial"/>
                <a:ea typeface="Arial"/>
                <a:cs typeface="Arial"/>
              </a:defRPr>
            </a:lvl6pPr>
            <a:lvl7pPr>
              <a:defRPr sz="4950" b="1">
                <a:solidFill>
                  <a:srgbClr val="197278"/>
                </a:solidFill>
                <a:latin typeface="Arial"/>
                <a:ea typeface="Arial"/>
                <a:cs typeface="Arial"/>
              </a:defRPr>
            </a:lvl7pPr>
            <a:lvl8pPr>
              <a:defRPr sz="4950" b="1">
                <a:solidFill>
                  <a:srgbClr val="197278"/>
                </a:solidFill>
                <a:latin typeface="Arial"/>
                <a:ea typeface="Arial"/>
                <a:cs typeface="Arial"/>
              </a:defRPr>
            </a:lvl8pPr>
            <a:lvl9pPr>
              <a:defRPr sz="4950" b="1">
                <a:solidFill>
                  <a:srgbClr val="197278"/>
                </a:solidFill>
                <a:latin typeface="Arial"/>
                <a:ea typeface="Arial"/>
                <a:cs typeface="Arial"/>
              </a:defRPr>
            </a:lvl9pPr>
          </a:lstStyle>
          <a:p xmlns:a="http://schemas.openxmlformats.org/drawingml/2006/main">
            <a:pPr>
              <a:defRPr sz="4950" b="1">
                <a:solidFill>
                  <a:srgbClr val="197278"/>
                </a:solidFill>
                <a:latin typeface="Arial"/>
                <a:ea typeface="Arial"/>
                <a:cs typeface="Arial"/>
              </a:defRPr>
            </a:pPr>
            <a:r>
              <a:rPr sz="4950" b="1">
                <a:solidFill>
                  <a:srgbClr val="197278"/>
                </a:solidFill>
                <a:latin typeface="Arial"/>
                <a:ea typeface="Arial"/>
                <a:cs typeface="Arial"/>
              </a:rPr>
              <a:t>13 runs</a:t>
            </a:r>
          </a:p>
        </p:txBody>
      </p:sp>
      <p:sp>
        <p:nvSpPr>
          <p:cNvPr id="4" name="evidence">
            <a:extLst xmlns:a="http://schemas.openxmlformats.org/drawingml/2006/main">
              <a:ext uri="{FF2B5EF4-FFF2-40B4-BE49-F238E27FC236}">
                <a16:creationId xmlns:a16="http://schemas.microsoft.com/office/drawing/2014/main" id="{CCCA2F63-5C88-45EE-8C94-1194EAD15B16}"/>
              </a:ext>
            </a:extLst>
          </p:cNvPr>
          <p:cNvSpPr>
            <a:spLocks xmlns:a="http://schemas.openxmlformats.org/drawingml/2006/main" noGrp="1"/>
          </p:cNvSpPr>
          <p:nvPr/>
        </p:nvSpPr>
        <p:spPr>
          <a:xfrm xmlns:a="http://schemas.openxmlformats.org/drawingml/2006/main">
            <a:off x="609600" y="2714625"/>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A"/>
                </a:solidFill>
                <a:latin typeface="Arial"/>
                <a:ea typeface="Arial"/>
                <a:cs typeface="Arial"/>
              </a:defRPr>
            </a:defPPr>
            <a:lvl1pPr>
              <a:defRPr sz="2100" b="0">
                <a:solidFill>
                  <a:srgbClr val="15383A"/>
                </a:solidFill>
                <a:latin typeface="Arial"/>
                <a:ea typeface="Arial"/>
                <a:cs typeface="Arial"/>
              </a:defRPr>
            </a:lvl1pPr>
            <a:lvl2pPr>
              <a:defRPr sz="2100" b="0">
                <a:solidFill>
                  <a:srgbClr val="15383A"/>
                </a:solidFill>
                <a:latin typeface="Arial"/>
                <a:ea typeface="Arial"/>
                <a:cs typeface="Arial"/>
              </a:defRPr>
            </a:lvl2pPr>
            <a:lvl3pPr>
              <a:defRPr sz="2100" b="0">
                <a:solidFill>
                  <a:srgbClr val="15383A"/>
                </a:solidFill>
                <a:latin typeface="Arial"/>
                <a:ea typeface="Arial"/>
                <a:cs typeface="Arial"/>
              </a:defRPr>
            </a:lvl3pPr>
            <a:lvl4pPr>
              <a:defRPr sz="2100" b="0">
                <a:solidFill>
                  <a:srgbClr val="15383A"/>
                </a:solidFill>
                <a:latin typeface="Arial"/>
                <a:ea typeface="Arial"/>
                <a:cs typeface="Arial"/>
              </a:defRPr>
            </a:lvl4pPr>
            <a:lvl5pPr>
              <a:defRPr sz="2100" b="0">
                <a:solidFill>
                  <a:srgbClr val="15383A"/>
                </a:solidFill>
                <a:latin typeface="Arial"/>
                <a:ea typeface="Arial"/>
                <a:cs typeface="Arial"/>
              </a:defRPr>
            </a:lvl5pPr>
            <a:lvl6pPr>
              <a:defRPr sz="2100" b="0">
                <a:solidFill>
                  <a:srgbClr val="15383A"/>
                </a:solidFill>
                <a:latin typeface="Arial"/>
                <a:ea typeface="Arial"/>
                <a:cs typeface="Arial"/>
              </a:defRPr>
            </a:lvl6pPr>
            <a:lvl7pPr>
              <a:defRPr sz="2100" b="0">
                <a:solidFill>
                  <a:srgbClr val="15383A"/>
                </a:solidFill>
                <a:latin typeface="Arial"/>
                <a:ea typeface="Arial"/>
                <a:cs typeface="Arial"/>
              </a:defRPr>
            </a:lvl7pPr>
            <a:lvl8pPr>
              <a:defRPr sz="2100" b="0">
                <a:solidFill>
                  <a:srgbClr val="15383A"/>
                </a:solidFill>
                <a:latin typeface="Arial"/>
                <a:ea typeface="Arial"/>
                <a:cs typeface="Arial"/>
              </a:defRPr>
            </a:lvl8pPr>
            <a:lvl9pPr>
              <a:defRPr sz="2100" b="0">
                <a:solidFill>
                  <a:srgbClr val="15383A"/>
                </a:solidFill>
                <a:latin typeface="Arial"/>
                <a:ea typeface="Arial"/>
                <a:cs typeface="Arial"/>
              </a:defRPr>
            </a:lvl9pPr>
          </a:lstStyle>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Three seeds plus error-model,</a:t>
            </a:r>
          </a:p>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initial-state, bound and</a:t>
            </a:r>
          </a:p>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physics-weight checks</a:t>
            </a:r>
          </a:p>
        </p:txBody>
      </p:sp>
      <p:sp>
        <p:nvSpPr>
          <p:cNvPr id="5" name="limit">
            <a:extLst xmlns:a="http://schemas.openxmlformats.org/drawingml/2006/main">
              <a:ext uri="{FF2B5EF4-FFF2-40B4-BE49-F238E27FC236}">
                <a16:creationId xmlns:a16="http://schemas.microsoft.com/office/drawing/2014/main" id="{46295AC2-6373-4498-8DC8-16F3F5BFD26D}"/>
              </a:ext>
            </a:extLst>
          </p:cNvPr>
          <p:cNvSpPr>
            <a:spLocks xmlns:a="http://schemas.openxmlformats.org/drawingml/2006/main" noGrp="1"/>
          </p:cNvSpPr>
          <p:nvPr/>
        </p:nvSpPr>
        <p:spPr>
          <a:xfrm xmlns:a="http://schemas.openxmlformats.org/drawingml/2006/main">
            <a:off x="609600" y="4476750"/>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C4532E"/>
                </a:solidFill>
                <a:latin typeface="Arial"/>
                <a:ea typeface="Arial"/>
                <a:cs typeface="Arial"/>
              </a:defRPr>
            </a:defPPr>
            <a:lvl1pPr>
              <a:defRPr sz="2100" b="1">
                <a:solidFill>
                  <a:srgbClr val="C4532E"/>
                </a:solidFill>
                <a:latin typeface="Arial"/>
                <a:ea typeface="Arial"/>
                <a:cs typeface="Arial"/>
              </a:defRPr>
            </a:lvl1pPr>
            <a:lvl2pPr>
              <a:defRPr sz="2100" b="1">
                <a:solidFill>
                  <a:srgbClr val="C4532E"/>
                </a:solidFill>
                <a:latin typeface="Arial"/>
                <a:ea typeface="Arial"/>
                <a:cs typeface="Arial"/>
              </a:defRPr>
            </a:lvl2pPr>
            <a:lvl3pPr>
              <a:defRPr sz="2100" b="1">
                <a:solidFill>
                  <a:srgbClr val="C4532E"/>
                </a:solidFill>
                <a:latin typeface="Arial"/>
                <a:ea typeface="Arial"/>
                <a:cs typeface="Arial"/>
              </a:defRPr>
            </a:lvl3pPr>
            <a:lvl4pPr>
              <a:defRPr sz="2100" b="1">
                <a:solidFill>
                  <a:srgbClr val="C4532E"/>
                </a:solidFill>
                <a:latin typeface="Arial"/>
                <a:ea typeface="Arial"/>
                <a:cs typeface="Arial"/>
              </a:defRPr>
            </a:lvl4pPr>
            <a:lvl5pPr>
              <a:defRPr sz="2100" b="1">
                <a:solidFill>
                  <a:srgbClr val="C4532E"/>
                </a:solidFill>
                <a:latin typeface="Arial"/>
                <a:ea typeface="Arial"/>
                <a:cs typeface="Arial"/>
              </a:defRPr>
            </a:lvl5pPr>
            <a:lvl6pPr>
              <a:defRPr sz="2100" b="1">
                <a:solidFill>
                  <a:srgbClr val="C4532E"/>
                </a:solidFill>
                <a:latin typeface="Arial"/>
                <a:ea typeface="Arial"/>
                <a:cs typeface="Arial"/>
              </a:defRPr>
            </a:lvl6pPr>
            <a:lvl7pPr>
              <a:defRPr sz="2100" b="1">
                <a:solidFill>
                  <a:srgbClr val="C4532E"/>
                </a:solidFill>
                <a:latin typeface="Arial"/>
                <a:ea typeface="Arial"/>
                <a:cs typeface="Arial"/>
              </a:defRPr>
            </a:lvl7pPr>
            <a:lvl8pPr>
              <a:defRPr sz="2100" b="1">
                <a:solidFill>
                  <a:srgbClr val="C4532E"/>
                </a:solidFill>
                <a:latin typeface="Arial"/>
                <a:ea typeface="Arial"/>
                <a:cs typeface="Arial"/>
              </a:defRPr>
            </a:lvl8pPr>
            <a:lvl9pPr>
              <a:defRPr sz="2100" b="1">
                <a:solidFill>
                  <a:srgbClr val="C4532E"/>
                </a:solidFill>
                <a:latin typeface="Arial"/>
                <a:ea typeface="Arial"/>
                <a:cs typeface="Arial"/>
              </a:defRPr>
            </a:lvl9pPr>
          </a:lstStyle>
          <a:p xmlns:a="http://schemas.openxmlformats.org/drawingml/2006/main">
            <a:pPr>
              <a:defRPr sz="2100" b="1">
                <a:solidFill>
                  <a:srgbClr val="C4532E"/>
                </a:solidFill>
                <a:latin typeface="Arial"/>
                <a:ea typeface="Arial"/>
                <a:cs typeface="Arial"/>
              </a:defRPr>
            </a:pPr>
            <a:r>
              <a:rPr sz="2100" b="1">
                <a:solidFill>
                  <a:srgbClr val="C4532E"/>
                </a:solidFill>
                <a:latin typeface="Arial"/>
                <a:ea typeface="Arial"/>
                <a:cs typeface="Arial"/>
              </a:rPr>
              <a:t>K and b move towards</a:t>
            </a:r>
          </a:p>
          <a:p xmlns:a="http://schemas.openxmlformats.org/drawingml/2006/main">
            <a:pPr>
              <a:defRPr sz="2100" b="1">
                <a:solidFill>
                  <a:srgbClr val="C4532E"/>
                </a:solidFill>
                <a:latin typeface="Arial"/>
                <a:ea typeface="Arial"/>
                <a:cs typeface="Arial"/>
              </a:defRPr>
            </a:pPr>
            <a:r>
              <a:rPr sz="2100" b="1">
                <a:solidFill>
                  <a:srgbClr val="C4532E"/>
                </a:solidFill>
                <a:latin typeface="Arial"/>
                <a:ea typeface="Arial"/>
                <a:cs typeface="Arial"/>
              </a:rPr>
              <a:t>expanded upper bounds</a:t>
            </a:r>
          </a:p>
        </p:txBody>
      </p:sp>
      <p:graphicFrame>
        <p:nvGraphicFramePr>
          <p:cNvPr id="6" name="Chart">
            <a:extLst xmlns:a="http://schemas.openxmlformats.org/drawingml/2006/main">
              <a:ext uri="{FF2B5EF4-FFF2-40B4-BE49-F238E27FC236}">
                <a16:creationId xmlns:a16="http://schemas.microsoft.com/office/drawing/2014/main" id="{2E62EAF6-00FE-4072-8402-D63F52E85994}"/>
              </a:ext>
            </a:extLst>
          </p:cNvPr>
          <p:cNvGraphicFramePr/>
          <p:nvPr/>
        </p:nvGraphicFramePr>
        <p:xfrm>
          <a:off xmlns:a="http://schemas.openxmlformats.org/drawingml/2006/main" x="4857750" y="1476375"/>
          <a:ext xmlns:a="http://schemas.openxmlformats.org/drawingml/2006/main" cx="6667500" cy="3905250"/>
        </p:xfrm>
        <a:graphic xmlns:a="http://schemas.openxmlformats.org/drawingml/2006/main">
          <a:graphicData uri="http://schemas.openxmlformats.org/drawingml/2006/chart">
            <c:chart xmlns:r="http://schemas.openxmlformats.org/officeDocument/2006/relationships" xmlns:c="http://schemas.openxmlformats.org/drawingml/2006/chart" r:id="R7be4c994a2a345fa"/>
          </a:graphicData>
        </a:graphic>
      </p:graphicFrame>
      <p:sp>
        <p:nvSpPr>
          <p:cNvPr id="7" name="finding">
            <a:extLst xmlns:a="http://schemas.openxmlformats.org/drawingml/2006/main">
              <a:ext uri="{FF2B5EF4-FFF2-40B4-BE49-F238E27FC236}">
                <a16:creationId xmlns:a16="http://schemas.microsoft.com/office/drawing/2014/main" id="{D3A4736F-A50B-4812-883B-555D4FA992D4}"/>
              </a:ext>
            </a:extLst>
          </p:cNvPr>
          <p:cNvSpPr>
            <a:spLocks xmlns:a="http://schemas.openxmlformats.org/drawingml/2006/main" noGrp="1"/>
          </p:cNvSpPr>
          <p:nvPr/>
        </p:nvSpPr>
        <p:spPr>
          <a:xfrm xmlns:a="http://schemas.openxmlformats.org/drawingml/2006/main">
            <a:off x="609600" y="56197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383A"/>
                </a:solidFill>
                <a:latin typeface="Arial"/>
                <a:ea typeface="Arial"/>
                <a:cs typeface="Arial"/>
              </a:defRPr>
            </a:defPPr>
            <a:lvl1pPr>
              <a:defRPr sz="2100" b="1">
                <a:solidFill>
                  <a:srgbClr val="15383A"/>
                </a:solidFill>
                <a:latin typeface="Arial"/>
                <a:ea typeface="Arial"/>
                <a:cs typeface="Arial"/>
              </a:defRPr>
            </a:lvl1pPr>
            <a:lvl2pPr>
              <a:defRPr sz="2100" b="1">
                <a:solidFill>
                  <a:srgbClr val="15383A"/>
                </a:solidFill>
                <a:latin typeface="Arial"/>
                <a:ea typeface="Arial"/>
                <a:cs typeface="Arial"/>
              </a:defRPr>
            </a:lvl2pPr>
            <a:lvl3pPr>
              <a:defRPr sz="2100" b="1">
                <a:solidFill>
                  <a:srgbClr val="15383A"/>
                </a:solidFill>
                <a:latin typeface="Arial"/>
                <a:ea typeface="Arial"/>
                <a:cs typeface="Arial"/>
              </a:defRPr>
            </a:lvl3pPr>
            <a:lvl4pPr>
              <a:defRPr sz="2100" b="1">
                <a:solidFill>
                  <a:srgbClr val="15383A"/>
                </a:solidFill>
                <a:latin typeface="Arial"/>
                <a:ea typeface="Arial"/>
                <a:cs typeface="Arial"/>
              </a:defRPr>
            </a:lvl4pPr>
            <a:lvl5pPr>
              <a:defRPr sz="2100" b="1">
                <a:solidFill>
                  <a:srgbClr val="15383A"/>
                </a:solidFill>
                <a:latin typeface="Arial"/>
                <a:ea typeface="Arial"/>
                <a:cs typeface="Arial"/>
              </a:defRPr>
            </a:lvl5pPr>
            <a:lvl6pPr>
              <a:defRPr sz="2100" b="1">
                <a:solidFill>
                  <a:srgbClr val="15383A"/>
                </a:solidFill>
                <a:latin typeface="Arial"/>
                <a:ea typeface="Arial"/>
                <a:cs typeface="Arial"/>
              </a:defRPr>
            </a:lvl6pPr>
            <a:lvl7pPr>
              <a:defRPr sz="2100" b="1">
                <a:solidFill>
                  <a:srgbClr val="15383A"/>
                </a:solidFill>
                <a:latin typeface="Arial"/>
                <a:ea typeface="Arial"/>
                <a:cs typeface="Arial"/>
              </a:defRPr>
            </a:lvl7pPr>
            <a:lvl8pPr>
              <a:defRPr sz="2100" b="1">
                <a:solidFill>
                  <a:srgbClr val="15383A"/>
                </a:solidFill>
                <a:latin typeface="Arial"/>
                <a:ea typeface="Arial"/>
                <a:cs typeface="Arial"/>
              </a:defRPr>
            </a:lvl8pPr>
            <a:lvl9pPr>
              <a:defRPr sz="2100" b="1">
                <a:solidFill>
                  <a:srgbClr val="15383A"/>
                </a:solidFill>
                <a:latin typeface="Arial"/>
                <a:ea typeface="Arial"/>
                <a:cs typeface="Arial"/>
              </a:defRPr>
            </a:lvl9pPr>
          </a:lstStyle>
          <a:p xmlns:a="http://schemas.openxmlformats.org/drawingml/2006/main">
            <a:pPr>
              <a:defRPr sz="2100" b="1">
                <a:solidFill>
                  <a:srgbClr val="15383A"/>
                </a:solidFill>
                <a:latin typeface="Arial"/>
                <a:ea typeface="Arial"/>
                <a:cs typeface="Arial"/>
              </a:defRPr>
            </a:pPr>
            <a:r>
              <a:rPr sz="2100" b="1">
                <a:solidFill>
                  <a:srgbClr val="15383A"/>
                </a:solidFill>
                <a:latin typeface="Arial"/>
                <a:ea typeface="Arial"/>
                <a:cs typeface="Arial"/>
              </a:rPr>
              <a:t>Hare RMSE is similar. Least squares predicts lynx more accurately.</a:t>
            </a:r>
          </a:p>
        </p:txBody>
      </p:sp>
    </p:spTree>
    <p:extLst>
      <p:ext uri="{BB962C8B-B14F-4D97-AF65-F5344CB8AC3E}">
        <p14:creationId xmlns:p14="http://schemas.microsoft.com/office/powerpoint/2010/main" val="10378711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ED7F395-8478-49A4-9F98-2CBE59923503}"/>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Independent baseline and held-out validation</a:t>
            </a:r>
          </a:p>
        </p:txBody>
      </p:sp>
      <p:sp>
        <p:nvSpPr>
          <p:cNvPr id="2" name="footer">
            <a:extLst xmlns:a="http://schemas.openxmlformats.org/drawingml/2006/main">
              <a:ext uri="{FF2B5EF4-FFF2-40B4-BE49-F238E27FC236}">
                <a16:creationId xmlns:a16="http://schemas.microsoft.com/office/drawing/2014/main" id="{668EFC39-5AF9-4DDB-B396-E5C371B5991D}"/>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Advay, MAC F314     9</a:t>
            </a:r>
          </a:p>
        </p:txBody>
      </p:sp>
      <p:pic>
        <p:nvPicPr>
          <p:cNvPr id="3" name="">
            <a:extLst xmlns:a="http://schemas.openxmlformats.org/drawingml/2006/main">
              <a:ext uri="{FF2B5EF4-FFF2-40B4-BE49-F238E27FC236}">
                <a16:creationId xmlns:a16="http://schemas.microsoft.com/office/drawing/2014/main" id="{F10EA93B-EED2-4368-BDA5-E783196BD68A}"/>
              </a:ext>
            </a:extLst>
          </p:cNvPr>
          <p:cNvPicPr>
            <a:picLocks xmlns:a="http://schemas.openxmlformats.org/drawingml/2006/main" noChangeAspect="1"/>
          </p:cNvPicPr>
          <p:nvPr/>
        </p:nvPicPr>
        <p:blipFill>
          <a:blip xmlns:r="http://schemas.openxmlformats.org/officeDocument/2006/relationships" xmlns:a="http://schemas.openxmlformats.org/drawingml/2006/main" r:embed="Rdfc3709c59b54219"/>
          <a:stretch xmlns:a="http://schemas.openxmlformats.org/drawingml/2006/main"/>
        </p:blipFill>
        <p:spPr>
          <a:xfrm xmlns:a="http://schemas.openxmlformats.org/drawingml/2006/main">
            <a:off x="1554323" y="1333500"/>
            <a:ext cx="5921055" cy="4619625"/>
          </a:xfrm>
          <a:prstGeom xmlns:a="http://schemas.openxmlformats.org/drawingml/2006/main" prst="rect">
            <a:avLst/>
          </a:prstGeom>
        </p:spPr>
      </p:pic>
      <p:sp>
        <p:nvSpPr>
          <p:cNvPr id="4" name="protocol">
            <a:extLst xmlns:a="http://schemas.openxmlformats.org/drawingml/2006/main">
              <a:ext uri="{FF2B5EF4-FFF2-40B4-BE49-F238E27FC236}">
                <a16:creationId xmlns:a16="http://schemas.microsoft.com/office/drawing/2014/main" id="{3C1D2679-A636-45CB-B2EF-E94F8980E9FE}"/>
              </a:ext>
            </a:extLst>
          </p:cNvPr>
          <p:cNvSpPr>
            <a:spLocks xmlns:a="http://schemas.openxmlformats.org/drawingml/2006/main" noGrp="1"/>
          </p:cNvSpPr>
          <p:nvPr/>
        </p:nvSpPr>
        <p:spPr>
          <a:xfrm xmlns:a="http://schemas.openxmlformats.org/drawingml/2006/main">
            <a:off x="8620125" y="1905000"/>
            <a:ext cx="295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97278"/>
                </a:solidFill>
                <a:latin typeface="Arial"/>
                <a:ea typeface="Arial"/>
                <a:cs typeface="Arial"/>
              </a:defRPr>
            </a:defPPr>
            <a:lvl1pPr>
              <a:defRPr sz="2175" b="1">
                <a:solidFill>
                  <a:srgbClr val="197278"/>
                </a:solidFill>
                <a:latin typeface="Arial"/>
                <a:ea typeface="Arial"/>
                <a:cs typeface="Arial"/>
              </a:defRPr>
            </a:lvl1pPr>
            <a:lvl2pPr>
              <a:defRPr sz="2175" b="1">
                <a:solidFill>
                  <a:srgbClr val="197278"/>
                </a:solidFill>
                <a:latin typeface="Arial"/>
                <a:ea typeface="Arial"/>
                <a:cs typeface="Arial"/>
              </a:defRPr>
            </a:lvl2pPr>
            <a:lvl3pPr>
              <a:defRPr sz="2175" b="1">
                <a:solidFill>
                  <a:srgbClr val="197278"/>
                </a:solidFill>
                <a:latin typeface="Arial"/>
                <a:ea typeface="Arial"/>
                <a:cs typeface="Arial"/>
              </a:defRPr>
            </a:lvl3pPr>
            <a:lvl4pPr>
              <a:defRPr sz="2175" b="1">
                <a:solidFill>
                  <a:srgbClr val="197278"/>
                </a:solidFill>
                <a:latin typeface="Arial"/>
                <a:ea typeface="Arial"/>
                <a:cs typeface="Arial"/>
              </a:defRPr>
            </a:lvl4pPr>
            <a:lvl5pPr>
              <a:defRPr sz="2175" b="1">
                <a:solidFill>
                  <a:srgbClr val="197278"/>
                </a:solidFill>
                <a:latin typeface="Arial"/>
                <a:ea typeface="Arial"/>
                <a:cs typeface="Arial"/>
              </a:defRPr>
            </a:lvl5pPr>
            <a:lvl6pPr>
              <a:defRPr sz="2175" b="1">
                <a:solidFill>
                  <a:srgbClr val="197278"/>
                </a:solidFill>
                <a:latin typeface="Arial"/>
                <a:ea typeface="Arial"/>
                <a:cs typeface="Arial"/>
              </a:defRPr>
            </a:lvl6pPr>
            <a:lvl7pPr>
              <a:defRPr sz="2175" b="1">
                <a:solidFill>
                  <a:srgbClr val="197278"/>
                </a:solidFill>
                <a:latin typeface="Arial"/>
                <a:ea typeface="Arial"/>
                <a:cs typeface="Arial"/>
              </a:defRPr>
            </a:lvl7pPr>
            <a:lvl8pPr>
              <a:defRPr sz="2175" b="1">
                <a:solidFill>
                  <a:srgbClr val="197278"/>
                </a:solidFill>
                <a:latin typeface="Arial"/>
                <a:ea typeface="Arial"/>
                <a:cs typeface="Arial"/>
              </a:defRPr>
            </a:lvl8pPr>
            <a:lvl9pPr>
              <a:defRPr sz="2175" b="1">
                <a:solidFill>
                  <a:srgbClr val="197278"/>
                </a:solidFill>
                <a:latin typeface="Arial"/>
                <a:ea typeface="Arial"/>
                <a:cs typeface="Arial"/>
              </a:defRPr>
            </a:lvl9pPr>
          </a:lstStyle>
          <a:p xmlns:a="http://schemas.openxmlformats.org/drawingml/2006/main">
            <a:pPr>
              <a:defRPr sz="2175" b="1">
                <a:solidFill>
                  <a:srgbClr val="197278"/>
                </a:solidFill>
                <a:latin typeface="Arial"/>
                <a:ea typeface="Arial"/>
                <a:cs typeface="Arial"/>
              </a:defRPr>
            </a:pPr>
            <a:r>
              <a:rPr sz="2175" b="1">
                <a:solidFill>
                  <a:srgbClr val="197278"/>
                </a:solidFill>
                <a:latin typeface="Arial"/>
                <a:ea typeface="Arial"/>
                <a:cs typeface="Arial"/>
              </a:rPr>
              <a:t>Train 1900–1915</a:t>
            </a:r>
          </a:p>
          <a:p xmlns:a="http://schemas.openxmlformats.org/drawingml/2006/main">
            <a:pPr>
              <a:defRPr sz="2175" b="1">
                <a:solidFill>
                  <a:srgbClr val="197278"/>
                </a:solidFill>
                <a:latin typeface="Arial"/>
                <a:ea typeface="Arial"/>
                <a:cs typeface="Arial"/>
              </a:defRPr>
            </a:pPr>
            <a:r>
              <a:rPr sz="2175" b="1">
                <a:solidFill>
                  <a:srgbClr val="197278"/>
                </a:solidFill>
                <a:latin typeface="Arial"/>
                <a:ea typeface="Arial"/>
                <a:cs typeface="Arial"/>
              </a:rPr>
              <a:t>Score 1916–1920</a:t>
            </a:r>
          </a:p>
          <a:p xmlns:a="http://schemas.openxmlformats.org/drawingml/2006/main">
            <a:pPr>
              <a:defRPr sz="2175" b="1">
                <a:solidFill>
                  <a:srgbClr val="197278"/>
                </a:solidFill>
                <a:latin typeface="Arial"/>
                <a:ea typeface="Arial"/>
                <a:cs typeface="Arial"/>
              </a:defRPr>
            </a:pPr>
            <a:r>
              <a:rPr sz="2175" b="1">
                <a:solidFill>
                  <a:srgbClr val="197278"/>
                </a:solidFill>
                <a:latin typeface="Arial"/>
                <a:ea typeface="Arial"/>
                <a:cs typeface="Arial"/>
              </a:rPr>
              <a:t>Same units and solver</a:t>
            </a:r>
          </a:p>
        </p:txBody>
      </p:sp>
      <p:sp>
        <p:nvSpPr>
          <p:cNvPr id="5" name="starts">
            <a:extLst xmlns:a="http://schemas.openxmlformats.org/drawingml/2006/main">
              <a:ext uri="{FF2B5EF4-FFF2-40B4-BE49-F238E27FC236}">
                <a16:creationId xmlns:a16="http://schemas.microsoft.com/office/drawing/2014/main" id="{A319006E-1DB8-40B7-A3ED-95A5306E914A}"/>
              </a:ext>
            </a:extLst>
          </p:cNvPr>
          <p:cNvSpPr>
            <a:spLocks xmlns:a="http://schemas.openxmlformats.org/drawingml/2006/main" noGrp="1"/>
          </p:cNvSpPr>
          <p:nvPr/>
        </p:nvSpPr>
        <p:spPr>
          <a:xfrm xmlns:a="http://schemas.openxmlformats.org/drawingml/2006/main">
            <a:off x="8620125" y="414337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383A"/>
                </a:solidFill>
                <a:latin typeface="Arial"/>
                <a:ea typeface="Arial"/>
                <a:cs typeface="Arial"/>
              </a:defRPr>
            </a:defPPr>
            <a:lvl1pPr>
              <a:defRPr sz="2100" b="0">
                <a:solidFill>
                  <a:srgbClr val="15383A"/>
                </a:solidFill>
                <a:latin typeface="Arial"/>
                <a:ea typeface="Arial"/>
                <a:cs typeface="Arial"/>
              </a:defRPr>
            </a:lvl1pPr>
            <a:lvl2pPr>
              <a:defRPr sz="2100" b="0">
                <a:solidFill>
                  <a:srgbClr val="15383A"/>
                </a:solidFill>
                <a:latin typeface="Arial"/>
                <a:ea typeface="Arial"/>
                <a:cs typeface="Arial"/>
              </a:defRPr>
            </a:lvl2pPr>
            <a:lvl3pPr>
              <a:defRPr sz="2100" b="0">
                <a:solidFill>
                  <a:srgbClr val="15383A"/>
                </a:solidFill>
                <a:latin typeface="Arial"/>
                <a:ea typeface="Arial"/>
                <a:cs typeface="Arial"/>
              </a:defRPr>
            </a:lvl3pPr>
            <a:lvl4pPr>
              <a:defRPr sz="2100" b="0">
                <a:solidFill>
                  <a:srgbClr val="15383A"/>
                </a:solidFill>
                <a:latin typeface="Arial"/>
                <a:ea typeface="Arial"/>
                <a:cs typeface="Arial"/>
              </a:defRPr>
            </a:lvl4pPr>
            <a:lvl5pPr>
              <a:defRPr sz="2100" b="0">
                <a:solidFill>
                  <a:srgbClr val="15383A"/>
                </a:solidFill>
                <a:latin typeface="Arial"/>
                <a:ea typeface="Arial"/>
                <a:cs typeface="Arial"/>
              </a:defRPr>
            </a:lvl5pPr>
            <a:lvl6pPr>
              <a:defRPr sz="2100" b="0">
                <a:solidFill>
                  <a:srgbClr val="15383A"/>
                </a:solidFill>
                <a:latin typeface="Arial"/>
                <a:ea typeface="Arial"/>
                <a:cs typeface="Arial"/>
              </a:defRPr>
            </a:lvl6pPr>
            <a:lvl7pPr>
              <a:defRPr sz="2100" b="0">
                <a:solidFill>
                  <a:srgbClr val="15383A"/>
                </a:solidFill>
                <a:latin typeface="Arial"/>
                <a:ea typeface="Arial"/>
                <a:cs typeface="Arial"/>
              </a:defRPr>
            </a:lvl7pPr>
            <a:lvl8pPr>
              <a:defRPr sz="2100" b="0">
                <a:solidFill>
                  <a:srgbClr val="15383A"/>
                </a:solidFill>
                <a:latin typeface="Arial"/>
                <a:ea typeface="Arial"/>
                <a:cs typeface="Arial"/>
              </a:defRPr>
            </a:lvl8pPr>
            <a:lvl9pPr>
              <a:defRPr sz="2100" b="0">
                <a:solidFill>
                  <a:srgbClr val="15383A"/>
                </a:solidFill>
                <a:latin typeface="Arial"/>
                <a:ea typeface="Arial"/>
                <a:cs typeface="Arial"/>
              </a:defRPr>
            </a:lvl9pPr>
          </a:lstStyle>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240 starts across</a:t>
            </a:r>
          </a:p>
          <a:p xmlns:a="http://schemas.openxmlformats.org/drawingml/2006/main">
            <a:pPr>
              <a:defRPr sz="2100" b="0">
                <a:solidFill>
                  <a:srgbClr val="15383A"/>
                </a:solidFill>
                <a:latin typeface="Arial"/>
                <a:ea typeface="Arial"/>
                <a:cs typeface="Arial"/>
              </a:defRPr>
            </a:pPr>
            <a:r>
              <a:rPr sz="2100" b="0">
                <a:solidFill>
                  <a:srgbClr val="15383A"/>
                </a:solidFill>
                <a:latin typeface="Arial"/>
                <a:ea typeface="Arial"/>
                <a:cs typeface="Arial"/>
              </a:rPr>
              <a:t>three declared variants</a:t>
            </a:r>
          </a:p>
        </p:txBody>
      </p:sp>
    </p:spTree>
    <p:extLst>
      <p:ext uri="{BB962C8B-B14F-4D97-AF65-F5344CB8AC3E}">
        <p14:creationId xmlns:p14="http://schemas.microsoft.com/office/powerpoint/2010/main" val="9072677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A12EEC2-F41D-4ED7-8DEB-9E46AC6452EE}"/>
              </a:ext>
            </a:extLst>
          </p:cNvPr>
          <p:cNvSpPr>
            <a:spLocks xmlns:a="http://schemas.openxmlformats.org/drawingml/2006/main" noGrp="1"/>
          </p:cNvSpPr>
          <p:nvPr/>
        </p:nvSpPr>
        <p:spPr>
          <a:xfrm xmlns:a="http://schemas.openxmlformats.org/drawingml/2006/main">
            <a:off x="609600" y="4000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383A"/>
                </a:solidFill>
                <a:latin typeface="Arial"/>
                <a:ea typeface="Arial"/>
                <a:cs typeface="Arial"/>
              </a:defRPr>
            </a:defPPr>
            <a:lvl1pPr>
              <a:defRPr sz="3225" b="1">
                <a:solidFill>
                  <a:srgbClr val="15383A"/>
                </a:solidFill>
                <a:latin typeface="Arial"/>
                <a:ea typeface="Arial"/>
                <a:cs typeface="Arial"/>
              </a:defRPr>
            </a:lvl1pPr>
            <a:lvl2pPr>
              <a:defRPr sz="3225" b="1">
                <a:solidFill>
                  <a:srgbClr val="15383A"/>
                </a:solidFill>
                <a:latin typeface="Arial"/>
                <a:ea typeface="Arial"/>
                <a:cs typeface="Arial"/>
              </a:defRPr>
            </a:lvl2pPr>
            <a:lvl3pPr>
              <a:defRPr sz="3225" b="1">
                <a:solidFill>
                  <a:srgbClr val="15383A"/>
                </a:solidFill>
                <a:latin typeface="Arial"/>
                <a:ea typeface="Arial"/>
                <a:cs typeface="Arial"/>
              </a:defRPr>
            </a:lvl3pPr>
            <a:lvl4pPr>
              <a:defRPr sz="3225" b="1">
                <a:solidFill>
                  <a:srgbClr val="15383A"/>
                </a:solidFill>
                <a:latin typeface="Arial"/>
                <a:ea typeface="Arial"/>
                <a:cs typeface="Arial"/>
              </a:defRPr>
            </a:lvl4pPr>
            <a:lvl5pPr>
              <a:defRPr sz="3225" b="1">
                <a:solidFill>
                  <a:srgbClr val="15383A"/>
                </a:solidFill>
                <a:latin typeface="Arial"/>
                <a:ea typeface="Arial"/>
                <a:cs typeface="Arial"/>
              </a:defRPr>
            </a:lvl5pPr>
            <a:lvl6pPr>
              <a:defRPr sz="3225" b="1">
                <a:solidFill>
                  <a:srgbClr val="15383A"/>
                </a:solidFill>
                <a:latin typeface="Arial"/>
                <a:ea typeface="Arial"/>
                <a:cs typeface="Arial"/>
              </a:defRPr>
            </a:lvl6pPr>
            <a:lvl7pPr>
              <a:defRPr sz="3225" b="1">
                <a:solidFill>
                  <a:srgbClr val="15383A"/>
                </a:solidFill>
                <a:latin typeface="Arial"/>
                <a:ea typeface="Arial"/>
                <a:cs typeface="Arial"/>
              </a:defRPr>
            </a:lvl7pPr>
            <a:lvl8pPr>
              <a:defRPr sz="3225" b="1">
                <a:solidFill>
                  <a:srgbClr val="15383A"/>
                </a:solidFill>
                <a:latin typeface="Arial"/>
                <a:ea typeface="Arial"/>
                <a:cs typeface="Arial"/>
              </a:defRPr>
            </a:lvl8pPr>
            <a:lvl9pPr>
              <a:defRPr sz="3225" b="1">
                <a:solidFill>
                  <a:srgbClr val="15383A"/>
                </a:solidFill>
                <a:latin typeface="Arial"/>
                <a:ea typeface="Arial"/>
                <a:cs typeface="Arial"/>
              </a:defRPr>
            </a:lvl9pPr>
          </a:lstStyle>
          <a:p xmlns:a="http://schemas.openxmlformats.org/drawingml/2006/main">
            <a:pPr>
              <a:defRPr sz="3225" b="1">
                <a:solidFill>
                  <a:srgbClr val="15383A"/>
                </a:solidFill>
                <a:latin typeface="Arial"/>
                <a:ea typeface="Arial"/>
                <a:cs typeface="Arial"/>
              </a:defRPr>
            </a:pPr>
            <a:r>
              <a:rPr sz="3225" b="1">
                <a:solidFill>
                  <a:srgbClr val="15383A"/>
                </a:solidFill>
                <a:latin typeface="Arial"/>
                <a:ea typeface="Arial"/>
                <a:cs typeface="Arial"/>
              </a:rPr>
              <a:t>Conclusions and limits of inference</a:t>
            </a:r>
          </a:p>
        </p:txBody>
      </p:sp>
      <p:sp>
        <p:nvSpPr>
          <p:cNvPr id="2" name="footer">
            <a:extLst xmlns:a="http://schemas.openxmlformats.org/drawingml/2006/main">
              <a:ext uri="{FF2B5EF4-FFF2-40B4-BE49-F238E27FC236}">
                <a16:creationId xmlns:a16="http://schemas.microsoft.com/office/drawing/2014/main" id="{8E8D03D4-0ED9-4B9D-AB2C-41A358E28FAC}"/>
              </a:ext>
            </a:extLst>
          </p:cNvPr>
          <p:cNvSpPr>
            <a:spLocks xmlns:a="http://schemas.openxmlformats.org/drawingml/2006/main" noGrp="1"/>
          </p:cNvSpPr>
          <p:nvPr/>
        </p:nvSpPr>
        <p:spPr>
          <a:xfrm xmlns:a="http://schemas.openxmlformats.org/drawingml/2006/main">
            <a:off x="609600" y="635317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4D6263"/>
                </a:solidFill>
                <a:latin typeface="Arial"/>
                <a:ea typeface="Arial"/>
                <a:cs typeface="Arial"/>
              </a:defRPr>
            </a:defPPr>
            <a:lvl1pPr>
              <a:defRPr sz="1350" b="0">
                <a:solidFill>
                  <a:srgbClr val="4D6263"/>
                </a:solidFill>
                <a:latin typeface="Arial"/>
                <a:ea typeface="Arial"/>
                <a:cs typeface="Arial"/>
              </a:defRPr>
            </a:lvl1pPr>
            <a:lvl2pPr>
              <a:defRPr sz="1350" b="0">
                <a:solidFill>
                  <a:srgbClr val="4D6263"/>
                </a:solidFill>
                <a:latin typeface="Arial"/>
                <a:ea typeface="Arial"/>
                <a:cs typeface="Arial"/>
              </a:defRPr>
            </a:lvl2pPr>
            <a:lvl3pPr>
              <a:defRPr sz="1350" b="0">
                <a:solidFill>
                  <a:srgbClr val="4D6263"/>
                </a:solidFill>
                <a:latin typeface="Arial"/>
                <a:ea typeface="Arial"/>
                <a:cs typeface="Arial"/>
              </a:defRPr>
            </a:lvl3pPr>
            <a:lvl4pPr>
              <a:defRPr sz="1350" b="0">
                <a:solidFill>
                  <a:srgbClr val="4D6263"/>
                </a:solidFill>
                <a:latin typeface="Arial"/>
                <a:ea typeface="Arial"/>
                <a:cs typeface="Arial"/>
              </a:defRPr>
            </a:lvl4pPr>
            <a:lvl5pPr>
              <a:defRPr sz="1350" b="0">
                <a:solidFill>
                  <a:srgbClr val="4D6263"/>
                </a:solidFill>
                <a:latin typeface="Arial"/>
                <a:ea typeface="Arial"/>
                <a:cs typeface="Arial"/>
              </a:defRPr>
            </a:lvl5pPr>
            <a:lvl6pPr>
              <a:defRPr sz="1350" b="0">
                <a:solidFill>
                  <a:srgbClr val="4D6263"/>
                </a:solidFill>
                <a:latin typeface="Arial"/>
                <a:ea typeface="Arial"/>
                <a:cs typeface="Arial"/>
              </a:defRPr>
            </a:lvl6pPr>
            <a:lvl7pPr>
              <a:defRPr sz="1350" b="0">
                <a:solidFill>
                  <a:srgbClr val="4D6263"/>
                </a:solidFill>
                <a:latin typeface="Arial"/>
                <a:ea typeface="Arial"/>
                <a:cs typeface="Arial"/>
              </a:defRPr>
            </a:lvl7pPr>
            <a:lvl8pPr>
              <a:defRPr sz="1350" b="0">
                <a:solidFill>
                  <a:srgbClr val="4D6263"/>
                </a:solidFill>
                <a:latin typeface="Arial"/>
                <a:ea typeface="Arial"/>
                <a:cs typeface="Arial"/>
              </a:defRPr>
            </a:lvl8pPr>
            <a:lvl9pPr>
              <a:defRPr sz="1350" b="0">
                <a:solidFill>
                  <a:srgbClr val="4D6263"/>
                </a:solidFill>
                <a:latin typeface="Arial"/>
                <a:ea typeface="Arial"/>
                <a:cs typeface="Arial"/>
              </a:defRPr>
            </a:lvl9pPr>
          </a:lstStyle>
          <a:p xmlns:a="http://schemas.openxmlformats.org/drawingml/2006/main">
            <a:pPr>
              <a:defRPr sz="1350" b="0">
                <a:solidFill>
                  <a:srgbClr val="4D6263"/>
                </a:solidFill>
                <a:latin typeface="Arial"/>
                <a:ea typeface="Arial"/>
                <a:cs typeface="Arial"/>
              </a:defRPr>
            </a:pPr>
            <a:r>
              <a:rPr sz="1350" b="0">
                <a:solidFill>
                  <a:srgbClr val="4D6263"/>
                </a:solidFill>
                <a:latin typeface="Arial"/>
                <a:ea typeface="Arial"/>
                <a:cs typeface="Arial"/>
              </a:rPr>
              <a:t>Advay, MAC F314     10</a:t>
            </a:r>
          </a:p>
        </p:txBody>
      </p:sp>
      <p:sp>
        <p:nvSpPr>
          <p:cNvPr id="3" name="result">
            <a:extLst xmlns:a="http://schemas.openxmlformats.org/drawingml/2006/main">
              <a:ext uri="{FF2B5EF4-FFF2-40B4-BE49-F238E27FC236}">
                <a16:creationId xmlns:a16="http://schemas.microsoft.com/office/drawing/2014/main" id="{0B2D9A30-3321-4913-9892-F5AD546B8D85}"/>
              </a:ext>
            </a:extLst>
          </p:cNvPr>
          <p:cNvSpPr>
            <a:spLocks xmlns:a="http://schemas.openxmlformats.org/drawingml/2006/main" noGrp="1"/>
          </p:cNvSpPr>
          <p:nvPr/>
        </p:nvSpPr>
        <p:spPr>
          <a:xfrm xmlns:a="http://schemas.openxmlformats.org/drawingml/2006/main">
            <a:off x="609600" y="14763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97278"/>
                </a:solidFill>
                <a:latin typeface="Arial"/>
                <a:ea typeface="Arial"/>
                <a:cs typeface="Arial"/>
              </a:defRPr>
            </a:defPPr>
            <a:lvl1pPr>
              <a:defRPr sz="2625" b="1">
                <a:solidFill>
                  <a:srgbClr val="197278"/>
                </a:solidFill>
                <a:latin typeface="Arial"/>
                <a:ea typeface="Arial"/>
                <a:cs typeface="Arial"/>
              </a:defRPr>
            </a:lvl1pPr>
            <a:lvl2pPr>
              <a:defRPr sz="2625" b="1">
                <a:solidFill>
                  <a:srgbClr val="197278"/>
                </a:solidFill>
                <a:latin typeface="Arial"/>
                <a:ea typeface="Arial"/>
                <a:cs typeface="Arial"/>
              </a:defRPr>
            </a:lvl2pPr>
            <a:lvl3pPr>
              <a:defRPr sz="2625" b="1">
                <a:solidFill>
                  <a:srgbClr val="197278"/>
                </a:solidFill>
                <a:latin typeface="Arial"/>
                <a:ea typeface="Arial"/>
                <a:cs typeface="Arial"/>
              </a:defRPr>
            </a:lvl3pPr>
            <a:lvl4pPr>
              <a:defRPr sz="2625" b="1">
                <a:solidFill>
                  <a:srgbClr val="197278"/>
                </a:solidFill>
                <a:latin typeface="Arial"/>
                <a:ea typeface="Arial"/>
                <a:cs typeface="Arial"/>
              </a:defRPr>
            </a:lvl4pPr>
            <a:lvl5pPr>
              <a:defRPr sz="2625" b="1">
                <a:solidFill>
                  <a:srgbClr val="197278"/>
                </a:solidFill>
                <a:latin typeface="Arial"/>
                <a:ea typeface="Arial"/>
                <a:cs typeface="Arial"/>
              </a:defRPr>
            </a:lvl5pPr>
            <a:lvl6pPr>
              <a:defRPr sz="2625" b="1">
                <a:solidFill>
                  <a:srgbClr val="197278"/>
                </a:solidFill>
                <a:latin typeface="Arial"/>
                <a:ea typeface="Arial"/>
                <a:cs typeface="Arial"/>
              </a:defRPr>
            </a:lvl6pPr>
            <a:lvl7pPr>
              <a:defRPr sz="2625" b="1">
                <a:solidFill>
                  <a:srgbClr val="197278"/>
                </a:solidFill>
                <a:latin typeface="Arial"/>
                <a:ea typeface="Arial"/>
                <a:cs typeface="Arial"/>
              </a:defRPr>
            </a:lvl7pPr>
            <a:lvl8pPr>
              <a:defRPr sz="2625" b="1">
                <a:solidFill>
                  <a:srgbClr val="197278"/>
                </a:solidFill>
                <a:latin typeface="Arial"/>
                <a:ea typeface="Arial"/>
                <a:cs typeface="Arial"/>
              </a:defRPr>
            </a:lvl8pPr>
            <a:lvl9pPr>
              <a:defRPr sz="2625" b="1">
                <a:solidFill>
                  <a:srgbClr val="197278"/>
                </a:solidFill>
                <a:latin typeface="Arial"/>
                <a:ea typeface="Arial"/>
                <a:cs typeface="Arial"/>
              </a:defRPr>
            </a:lvl9pPr>
          </a:lstStyle>
          <a:p xmlns:a="http://schemas.openxmlformats.org/drawingml/2006/main">
            <a:pPr>
              <a:defRPr sz="2625" b="1">
                <a:solidFill>
                  <a:srgbClr val="197278"/>
                </a:solidFill>
                <a:latin typeface="Arial"/>
                <a:ea typeface="Arial"/>
                <a:cs typeface="Arial"/>
              </a:defRPr>
            </a:pPr>
            <a:r>
              <a:rPr sz="2625" b="1">
                <a:solidFill>
                  <a:srgbClr val="197278"/>
                </a:solidFill>
                <a:latin typeface="Arial"/>
                <a:ea typeface="Arial"/>
                <a:cs typeface="Arial"/>
              </a:rPr>
              <a:t>The model forecasts one crash and recovery with useful short-term accuracy</a:t>
            </a:r>
          </a:p>
        </p:txBody>
      </p:sp>
      <p:sp>
        <p:nvSpPr>
          <p:cNvPr id="4" name="limits">
            <a:extLst xmlns:a="http://schemas.openxmlformats.org/drawingml/2006/main">
              <a:ext uri="{FF2B5EF4-FFF2-40B4-BE49-F238E27FC236}">
                <a16:creationId xmlns:a16="http://schemas.microsoft.com/office/drawing/2014/main" id="{E771ECD3-2A05-4D38-9C86-6446DA0D71E0}"/>
              </a:ext>
            </a:extLst>
          </p:cNvPr>
          <p:cNvSpPr>
            <a:spLocks xmlns:a="http://schemas.openxmlformats.org/drawingml/2006/main" noGrp="1"/>
          </p:cNvSpPr>
          <p:nvPr/>
        </p:nvSpPr>
        <p:spPr>
          <a:xfrm xmlns:a="http://schemas.openxmlformats.org/drawingml/2006/main">
            <a:off x="609600" y="300037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383A"/>
                </a:solidFill>
                <a:latin typeface="Arial"/>
                <a:ea typeface="Arial"/>
                <a:cs typeface="Arial"/>
              </a:defRPr>
            </a:defPPr>
            <a:lvl1pPr>
              <a:defRPr sz="2250" b="0">
                <a:solidFill>
                  <a:srgbClr val="15383A"/>
                </a:solidFill>
                <a:latin typeface="Arial"/>
                <a:ea typeface="Arial"/>
                <a:cs typeface="Arial"/>
              </a:defRPr>
            </a:lvl1pPr>
            <a:lvl2pPr>
              <a:defRPr sz="2250" b="0">
                <a:solidFill>
                  <a:srgbClr val="15383A"/>
                </a:solidFill>
                <a:latin typeface="Arial"/>
                <a:ea typeface="Arial"/>
                <a:cs typeface="Arial"/>
              </a:defRPr>
            </a:lvl2pPr>
            <a:lvl3pPr>
              <a:defRPr sz="2250" b="0">
                <a:solidFill>
                  <a:srgbClr val="15383A"/>
                </a:solidFill>
                <a:latin typeface="Arial"/>
                <a:ea typeface="Arial"/>
                <a:cs typeface="Arial"/>
              </a:defRPr>
            </a:lvl3pPr>
            <a:lvl4pPr>
              <a:defRPr sz="2250" b="0">
                <a:solidFill>
                  <a:srgbClr val="15383A"/>
                </a:solidFill>
                <a:latin typeface="Arial"/>
                <a:ea typeface="Arial"/>
                <a:cs typeface="Arial"/>
              </a:defRPr>
            </a:lvl4pPr>
            <a:lvl5pPr>
              <a:defRPr sz="2250" b="0">
                <a:solidFill>
                  <a:srgbClr val="15383A"/>
                </a:solidFill>
                <a:latin typeface="Arial"/>
                <a:ea typeface="Arial"/>
                <a:cs typeface="Arial"/>
              </a:defRPr>
            </a:lvl5pPr>
            <a:lvl6pPr>
              <a:defRPr sz="2250" b="0">
                <a:solidFill>
                  <a:srgbClr val="15383A"/>
                </a:solidFill>
                <a:latin typeface="Arial"/>
                <a:ea typeface="Arial"/>
                <a:cs typeface="Arial"/>
              </a:defRPr>
            </a:lvl6pPr>
            <a:lvl7pPr>
              <a:defRPr sz="2250" b="0">
                <a:solidFill>
                  <a:srgbClr val="15383A"/>
                </a:solidFill>
                <a:latin typeface="Arial"/>
                <a:ea typeface="Arial"/>
                <a:cs typeface="Arial"/>
              </a:defRPr>
            </a:lvl7pPr>
            <a:lvl8pPr>
              <a:defRPr sz="2250" b="0">
                <a:solidFill>
                  <a:srgbClr val="15383A"/>
                </a:solidFill>
                <a:latin typeface="Arial"/>
                <a:ea typeface="Arial"/>
                <a:cs typeface="Arial"/>
              </a:defRPr>
            </a:lvl8pPr>
            <a:lvl9pPr>
              <a:defRPr sz="2250" b="0">
                <a:solidFill>
                  <a:srgbClr val="15383A"/>
                </a:solidFill>
                <a:latin typeface="Arial"/>
                <a:ea typeface="Arial"/>
                <a:cs typeface="Arial"/>
              </a:defRPr>
            </a:lvl9pPr>
          </a:lstStyle>
          <a:p xmlns:a="http://schemas.openxmlformats.org/drawingml/2006/main">
            <a:pPr>
              <a:defRPr sz="2250" b="0">
                <a:solidFill>
                  <a:srgbClr val="15383A"/>
                </a:solidFill>
                <a:latin typeface="Arial"/>
                <a:ea typeface="Arial"/>
                <a:cs typeface="Arial"/>
              </a:defRPr>
            </a:pPr>
            <a:r>
              <a:rPr sz="2250" b="0">
                <a:solidFill>
                  <a:srgbClr val="15383A"/>
                </a:solidFill>
                <a:latin typeface="Arial"/>
                <a:ea typeface="Arial"/>
                <a:cs typeface="Arial"/>
              </a:rPr>
              <a:t>Five held-out years provide a small test</a:t>
            </a:r>
          </a:p>
          <a:p xmlns:a="http://schemas.openxmlformats.org/drawingml/2006/main">
            <a:pPr>
              <a:defRPr sz="2250" b="0">
                <a:solidFill>
                  <a:srgbClr val="15383A"/>
                </a:solidFill>
                <a:latin typeface="Arial"/>
                <a:ea typeface="Arial"/>
                <a:cs typeface="Arial"/>
              </a:defRPr>
            </a:pPr>
            <a:r>
              <a:rPr sz="2250" b="0">
                <a:solidFill>
                  <a:srgbClr val="15383A"/>
                </a:solidFill>
                <a:latin typeface="Arial"/>
                <a:ea typeface="Arial"/>
                <a:cs typeface="Arial"/>
              </a:rPr>
              <a:t>Pelt returns depend on catchability and source compilation</a:t>
            </a:r>
          </a:p>
          <a:p xmlns:a="http://schemas.openxmlformats.org/drawingml/2006/main">
            <a:pPr>
              <a:defRPr sz="2250" b="0">
                <a:solidFill>
                  <a:srgbClr val="15383A"/>
                </a:solidFill>
                <a:latin typeface="Arial"/>
                <a:ea typeface="Arial"/>
                <a:cs typeface="Arial"/>
              </a:defRPr>
            </a:pPr>
            <a:r>
              <a:rPr sz="2250" b="0">
                <a:solidFill>
                  <a:srgbClr val="15383A"/>
                </a:solidFill>
                <a:latin typeface="Arial"/>
                <a:ea typeface="Arial"/>
                <a:cs typeface="Arial"/>
              </a:rPr>
              <a:t>Several coefficients track numerical bounds</a:t>
            </a:r>
          </a:p>
          <a:p xmlns:a="http://schemas.openxmlformats.org/drawingml/2006/main">
            <a:pPr>
              <a:defRPr sz="2250" b="0">
                <a:solidFill>
                  <a:srgbClr val="15383A"/>
                </a:solidFill>
                <a:latin typeface="Arial"/>
                <a:ea typeface="Arial"/>
                <a:cs typeface="Arial"/>
              </a:defRPr>
            </a:pPr>
            <a:r>
              <a:rPr sz="2250" b="0">
                <a:solidFill>
                  <a:srgbClr val="15383A"/>
                </a:solidFill>
                <a:latin typeface="Arial"/>
                <a:ea typeface="Arial"/>
                <a:cs typeface="Arial"/>
              </a:rPr>
              <a:t>Observation assumptions change the inferred stability regime</a:t>
            </a:r>
          </a:p>
        </p:txBody>
      </p:sp>
      <p:sp>
        <p:nvSpPr>
          <p:cNvPr id="5" name="ending">
            <a:extLst xmlns:a="http://schemas.openxmlformats.org/drawingml/2006/main">
              <a:ext uri="{FF2B5EF4-FFF2-40B4-BE49-F238E27FC236}">
                <a16:creationId xmlns:a16="http://schemas.microsoft.com/office/drawing/2014/main" id="{D807DA43-E736-438E-8101-94BF0E3175EC}"/>
              </a:ext>
            </a:extLst>
          </p:cNvPr>
          <p:cNvSpPr>
            <a:spLocks xmlns:a="http://schemas.openxmlformats.org/drawingml/2006/main" noGrp="1"/>
          </p:cNvSpPr>
          <p:nvPr/>
        </p:nvSpPr>
        <p:spPr>
          <a:xfrm xmlns:a="http://schemas.openxmlformats.org/drawingml/2006/main">
            <a:off x="609600" y="54768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5383A"/>
                </a:solidFill>
                <a:latin typeface="Arial"/>
                <a:ea typeface="Arial"/>
                <a:cs typeface="Arial"/>
              </a:defRPr>
            </a:defPPr>
            <a:lvl1pPr>
              <a:defRPr sz="2325" b="1">
                <a:solidFill>
                  <a:srgbClr val="15383A"/>
                </a:solidFill>
                <a:latin typeface="Arial"/>
                <a:ea typeface="Arial"/>
                <a:cs typeface="Arial"/>
              </a:defRPr>
            </a:lvl1pPr>
            <a:lvl2pPr>
              <a:defRPr sz="2325" b="1">
                <a:solidFill>
                  <a:srgbClr val="15383A"/>
                </a:solidFill>
                <a:latin typeface="Arial"/>
                <a:ea typeface="Arial"/>
                <a:cs typeface="Arial"/>
              </a:defRPr>
            </a:lvl2pPr>
            <a:lvl3pPr>
              <a:defRPr sz="2325" b="1">
                <a:solidFill>
                  <a:srgbClr val="15383A"/>
                </a:solidFill>
                <a:latin typeface="Arial"/>
                <a:ea typeface="Arial"/>
                <a:cs typeface="Arial"/>
              </a:defRPr>
            </a:lvl3pPr>
            <a:lvl4pPr>
              <a:defRPr sz="2325" b="1">
                <a:solidFill>
                  <a:srgbClr val="15383A"/>
                </a:solidFill>
                <a:latin typeface="Arial"/>
                <a:ea typeface="Arial"/>
                <a:cs typeface="Arial"/>
              </a:defRPr>
            </a:lvl4pPr>
            <a:lvl5pPr>
              <a:defRPr sz="2325" b="1">
                <a:solidFill>
                  <a:srgbClr val="15383A"/>
                </a:solidFill>
                <a:latin typeface="Arial"/>
                <a:ea typeface="Arial"/>
                <a:cs typeface="Arial"/>
              </a:defRPr>
            </a:lvl5pPr>
            <a:lvl6pPr>
              <a:defRPr sz="2325" b="1">
                <a:solidFill>
                  <a:srgbClr val="15383A"/>
                </a:solidFill>
                <a:latin typeface="Arial"/>
                <a:ea typeface="Arial"/>
                <a:cs typeface="Arial"/>
              </a:defRPr>
            </a:lvl6pPr>
            <a:lvl7pPr>
              <a:defRPr sz="2325" b="1">
                <a:solidFill>
                  <a:srgbClr val="15383A"/>
                </a:solidFill>
                <a:latin typeface="Arial"/>
                <a:ea typeface="Arial"/>
                <a:cs typeface="Arial"/>
              </a:defRPr>
            </a:lvl7pPr>
            <a:lvl8pPr>
              <a:defRPr sz="2325" b="1">
                <a:solidFill>
                  <a:srgbClr val="15383A"/>
                </a:solidFill>
                <a:latin typeface="Arial"/>
                <a:ea typeface="Arial"/>
                <a:cs typeface="Arial"/>
              </a:defRPr>
            </a:lvl8pPr>
            <a:lvl9pPr>
              <a:defRPr sz="2325" b="1">
                <a:solidFill>
                  <a:srgbClr val="15383A"/>
                </a:solidFill>
                <a:latin typeface="Arial"/>
                <a:ea typeface="Arial"/>
                <a:cs typeface="Arial"/>
              </a:defRPr>
            </a:lvl9pPr>
          </a:lstStyle>
          <a:p xmlns:a="http://schemas.openxmlformats.org/drawingml/2006/main">
            <a:pPr>
              <a:defRPr sz="2325" b="1">
                <a:solidFill>
                  <a:srgbClr val="15383A"/>
                </a:solidFill>
                <a:latin typeface="Arial"/>
                <a:ea typeface="Arial"/>
                <a:cs typeface="Arial"/>
              </a:defRPr>
            </a:pPr>
            <a:r>
              <a:rPr sz="2325" b="1">
                <a:solidFill>
                  <a:srgbClr val="15383A"/>
                </a:solidFill>
                <a:latin typeface="Arial"/>
                <a:ea typeface="Arial"/>
                <a:cs typeface="Arial"/>
              </a:rPr>
              <a:t>A good trajectory fit gives conditional evidence about this model</a:t>
            </a:r>
          </a:p>
        </p:txBody>
      </p:sp>
    </p:spTree>
    <p:extLst>
      <p:ext uri="{BB962C8B-B14F-4D97-AF65-F5344CB8AC3E}">
        <p14:creationId xmlns:p14="http://schemas.microsoft.com/office/powerpoint/2010/main" val="346050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2026-10-28T17:47:57.7730000Z</dcterms:created>
  <dcterms:modified xsi:type="dcterms:W3CDTF">2026-10-28T17:47:57.7730000Z</dcterms:modified>
</coreProperties>
</file>